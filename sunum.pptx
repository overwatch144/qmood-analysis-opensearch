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ACILIS (15 sn):</a:t>
            </a:r>
          </a:p>
          <a:p>
            <a:r>
              <a:t>Merhaba, bugunku sunumumda OpenSearch Anomaly Detection projesinin yazilim tasarim kalitesini QMOOD modeli ile analiz ettigimiz ve 3 farkli LLM ile degerlendirdigimiz calismayi sunacagim.</a:t>
            </a:r>
          </a:p>
          <a:p/>
          <a:p>
            <a:r>
              <a:t>Proje, Java dilinde yazilmis acik kaynak bir anomali tespit eklentisidir. 12 farkli surumunu inceledik.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 OZETI (45 sn):</a:t>
            </a:r>
          </a:p>
          <a:p>
            <a:r>
              <a:t>Bu calismada OpenSearch Anomaly Detection projesini sectik. Java dilinde yazilmis, Amazon tarafindan desteklenen bir acik kaynak proje.</a:t>
            </a:r>
          </a:p>
          <a:p/>
          <a:p>
            <a:r>
              <a:t>Neden bu proje? Cunku yeterli buyuklukte — 288'den 609 sinifa buyuyen bir sistem. 70'ten fazla release tag'i var, yani zengin bir evrim sureci mevcut.</a:t>
            </a:r>
          </a:p>
          <a:p/>
          <a:p>
            <a:r>
              <a:t>12 surum sectik, buyuk sicramalar yaparak — 1.0'dan 3.0'a kadar. Amacimiz QMOOD modeli ile kalite evrimini izlemek ve ardindan ChatGPT, Gemini ve Claude'a bu verileri verip degerlendirmelerini karsilastirmak.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YONTEM (50 sn):</a:t>
            </a:r>
          </a:p>
          <a:p>
            <a:r>
              <a:t>Analiz surecimiz su sekilde isledi:</a:t>
            </a:r>
          </a:p>
          <a:p>
            <a:r>
              <a:t>1. Oncelikle repoyu klonladik ve 12 surumu sectik</a:t>
            </a:r>
          </a:p>
          <a:p>
            <a:r>
              <a:t>2. Her surum icin git checkout yapip CK Tool calistirdik — sinif bazli CSV ciktilari elde ettik</a:t>
            </a:r>
          </a:p>
          <a:p>
            <a:r>
              <a:t>3. Bu ham metriklerden (CBO, DIT, WMC, LCOM gibi) QMOOD tasarim ozelliklerini hesapladik</a:t>
            </a:r>
          </a:p>
          <a:p>
            <a:r>
              <a:t>4. Bansiya-Davis formullerini uygulayarak 6 kalite niteligini elde ettik</a:t>
            </a:r>
          </a:p>
          <a:p>
            <a:r>
              <a:t>5. Son olarak tum verileri 3 LLM'e gonderdik</a:t>
            </a:r>
          </a:p>
          <a:p/>
          <a:p>
            <a:r>
              <a:t>QMOOD modeli uc katmanli: Ham metrikler -&gt; 10 tasarim ozelligi -&gt; 6 kalite niteligini verir. Biz Bansiya ve Davis 2002 formullerini kullandik. Ornegin Reusability, coupling'i negatif, cohesion ve interface boyutunu pozitif agirlikla hesaplaniyor.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HAM METRIKLER (50 sn):</a:t>
            </a:r>
          </a:p>
          <a:p>
            <a:r>
              <a:t>Soldaki grafiklerde 12 surumun metrik evrimini goruyorsunuz. Uc belirgin donem tespit ettik:</a:t>
            </a:r>
          </a:p>
          <a:p/>
          <a:p>
            <a:r>
              <a:t>DONEM 1 — Hizli buyume: v1.0'dan v1.3'e sinif sayisi yuzde 22 artti. Ama LCOM — yani kohezyon eksikligi — neredeyse 2 katina cikti. 13.89'dan 26.50'ye. Bu, hizli ozellik eklemenin sinif ici butunlugu bozdugunun net gostergesi.</a:t>
            </a:r>
          </a:p>
          <a:p/>
          <a:p>
            <a:r>
              <a:t>DONEM 2 — Stabil evrim: v2.0'dan v2.13'e sadece yuzde 3.7 buyume. Metrikler dar bir bantta kalmis. Olgun bir gelistirme donemi.</a:t>
            </a:r>
          </a:p>
          <a:p/>
          <a:p>
            <a:r>
              <a:t>DONEM 3 — v2.16 kirilma noktasi! Sinif sayisi 364'ten 591'e, yuzde 62 artis. Ilginc olan, ortalama WMC ve LCOM DUSTU. Bu, yeni eklenen 227 sinifin daha basit ve odakli oldugunu gosteriyor. Ancak Max CBO 140'tan 214'e firladi — yani entegrasyon noktalarinda bagimliliklari yogunlasti.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KALITE NITELIKLERI (50 sn):</a:t>
            </a:r>
          </a:p>
          <a:p>
            <a:r>
              <a:t>Soldaki grafikte 6 kalite niteliginin 12 surumdeki seyrini goruyorsunuz.</a:t>
            </a:r>
          </a:p>
          <a:p/>
          <a:p>
            <a:r>
              <a:t>REUSABILITY nispeten stabil — yuzde 1.3 dusus.</a:t>
            </a:r>
          </a:p>
          <a:p/>
          <a:p>
            <a:r>
              <a:t>FLEXIBILITY en dramatik degisimi gosterdi: v1.0'da pozitif olan tek nitelikti, 0.040. Ama v3.0'da eksi 0.617'ye dustu. Yani sistem esnekligini tamamen kaybetti.</a:t>
            </a:r>
          </a:p>
          <a:p/>
          <a:p>
            <a:r>
              <a:t>UNDERSTANDABILITY hep negatif — buyuk bir sisteme beklenen bir durum. Ama ilginc bir paradoks var: v2.16'da IYILESTI! Cunku yeni eklenen basit siniflar ortalama karmasikligi dusurdu.</a:t>
            </a:r>
          </a:p>
          <a:p/>
          <a:p>
            <a:r>
              <a:t>FUNCTIONALITY en stabil nitelik — dar bantta kaldi.</a:t>
            </a:r>
          </a:p>
          <a:p/>
          <a:p>
            <a:r>
              <a:t>EXTENDIBILITY en kritik sorun — surekli kotulesen trend, yuzde 26.6 dusus. Coupling artisi buna dogrudan neden oluyor.</a:t>
            </a:r>
          </a:p>
          <a:p/>
          <a:p>
            <a:r>
              <a:t>EFFECTIVENESS nispeten stabil kaldi.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MIMARI BOZULMA (40 sn):</a:t>
            </a:r>
          </a:p>
          <a:p>
            <a:r>
              <a:t>Sol grafik coupling-cohesion iliskisini gosteriyor. Daire boyutu sinif sayisi. Gordugunuz gibi surumlerde saga kayma var — coupling artiyor ama cohesion degismiyor. Bu klasik mimari bozulma kalıbı.</a:t>
            </a:r>
          </a:p>
          <a:p/>
          <a:p>
            <a:r>
              <a:t>v2.16 belirgin bir sicrama — buyuk daire, saga kayma.</a:t>
            </a:r>
          </a:p>
          <a:p/>
          <a:p>
            <a:r>
              <a:t>Sag tarafta radar grafiginde v1.0, v2.7 ve v3.0'in karsilastirmasi var. Flexibility ve Extendibility eksenleri belirgin sekilde kuculmus.</a:t>
            </a:r>
          </a:p>
          <a:p/>
          <a:p>
            <a:r>
              <a:t>Alt panelde teknik borc gostergeleri: Max CBO 217 — bir sinif 217 farkli sinifa bagli, bu God Class anti-pattern'i. Max WMC 318 — bazi siniflar asiri karmasik. Bunlar acil refactoring gerektiriyor.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KARSILASTIRMASI (60 sn):</a:t>
            </a:r>
          </a:p>
          <a:p>
            <a:r>
              <a:t>Uc LLM'e ayni prompt ve metrik verilerini gonderdik.</a:t>
            </a:r>
          </a:p>
          <a:p/>
          <a:p>
            <a:r>
              <a:t>CHATGPT en dengeli yaklasimi sergiledi. v2.16'yi 'teknik borcun turunun degistigi' bir surum olarak yorumladi — monolitik karmasiklik azalirken entegrasyon borcu artmis. DDD ve Facade pattern onermis.</a:t>
            </a:r>
          </a:p>
          <a:p/>
          <a:p>
            <a:r>
              <a:t>GEMINI en elestirel tondu. Projenin 'katilastigini' soyledi. En carpici tespiti: mimariyi 'Big Ball of Mud'dan Distributed Spaghetti'ye gecis' olarak tanimladi. v3.0'i 'pazarlama odakli, inovasyon kaybi' seklinde elestirdi. Hexagonal Architecture onerdi.</a:t>
            </a:r>
          </a:p>
          <a:p/>
          <a:p>
            <a:r>
              <a:t>CLAUDE en sistematik analizi yapti. v2.16'daki LCOM dususunun gercek bir iyilesme degil, yeni eklenen basit siniflarin ortalamaya cekme etkisi oldugunu tespit etti. v3.0'i 'mimari donma noktasi' olarak degerlendirdi.</a:t>
            </a:r>
          </a:p>
          <a:p/>
          <a:p>
            <a:r>
              <a:t>ORTAK BULGULAR: Uc model de coupling artisini en kritik risk olarak tanimladi, v2.16'yi kirilma noktasi olarak gordu ve God Class ayristirmasini oncelikli buldu.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SONUC (40 sn):</a:t>
            </a:r>
          </a:p>
          <a:p>
            <a:r>
              <a:t>Ozetlemek gerekirse, 5 temel bulgu:</a:t>
            </a:r>
          </a:p>
          <a:p/>
          <a:p>
            <a:r>
              <a:t>1. Yazilim buyudukce kalite etkileniyor — proje 2 kattan fazla buyudu, extendibility yuzde 26.6 dustu.</a:t>
            </a:r>
          </a:p>
          <a:p/>
          <a:p>
            <a:r>
              <a:t>2. Coupling en kritik sorun — CBO monoton artis gosterdi ve Max CBO 217'ye ulasti, bu God Class anti-pattern'i.</a:t>
            </a:r>
          </a:p>
          <a:p/>
          <a:p>
            <a:r>
              <a:t>3. v2.16 yapisal bir kirilma noktasi — 227 yeni sinif eklendi, WMC dusmus ama kapsulleme bozulmus. ChatGPT'nin dedigi gibi 'teknik borcun turu degismis'.</a:t>
            </a:r>
          </a:p>
          <a:p/>
          <a:p>
            <a:r>
              <a:t>4. LLM'ler bu tur metrik tabanli analizde gercekten kullanisli — uc model de trendleri dogru tespit etti. Ama projeye ozgu baglam olmadan oneriler genel kaliyor.</a:t>
            </a:r>
          </a:p>
          <a:p/>
          <a:p>
            <a:r>
              <a:t>5. Prompt muhendisligi cok onemli — ham metrikler, delta verileri ve spesifik sorular ekleyince cikti kalitesi onemli olcude artti.</a:t>
            </a:r>
          </a:p>
          <a:p/>
          <a:p>
            <a:r>
              <a:t>Gelecekte capraz dogrulama, daha fazla surum analizi ve LLM'lere kaynak kod vererek spesifik refactoring onerileri alinabilir.</a:t>
            </a:r>
          </a:p>
          <a:p/>
          <a:p>
            <a:r>
              <a:t>Tesekkur ederim, sorularinizi bekliyorum.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32720" cy="1371600"/>
          </a:xfrm>
          <a:prstGeom prst="rect">
            <a:avLst/>
          </a:prstGeom>
          <a:noFill/>
        </p:spPr>
        <p:txBody>
          <a:bodyPr wrap="square">
            <a:spAutoFit/>
          </a:bodyPr>
          <a:lstStyle/>
          <a:p>
            <a:pPr algn="ctr">
              <a:defRPr sz="3600" b="1">
                <a:solidFill>
                  <a:srgbClr val="FFFFFF"/>
                </a:solidFill>
                <a:latin typeface="Calibri"/>
              </a:defRPr>
            </a:pPr>
            <a:r>
              <a:t>QMOOD Tabanli Yazilim Kalitesi Analizi</a:t>
            </a:r>
            <a:br/>
            <a:r>
              <a:t>ve LLM Destekli Degerlendirme</a:t>
            </a:r>
          </a:p>
        </p:txBody>
      </p:sp>
      <p:sp>
        <p:nvSpPr>
          <p:cNvPr id="4" name="TextBox 3"/>
          <p:cNvSpPr txBox="1"/>
          <p:nvPr/>
        </p:nvSpPr>
        <p:spPr>
          <a:xfrm>
            <a:off x="914400" y="3017520"/>
            <a:ext cx="10332720" cy="731520"/>
          </a:xfrm>
          <a:prstGeom prst="rect">
            <a:avLst/>
          </a:prstGeom>
          <a:noFill/>
        </p:spPr>
        <p:txBody>
          <a:bodyPr wrap="square">
            <a:spAutoFit/>
          </a:bodyPr>
          <a:lstStyle/>
          <a:p>
            <a:pPr algn="ctr">
              <a:defRPr sz="2200" b="0">
                <a:solidFill>
                  <a:srgbClr val="0096D6"/>
                </a:solidFill>
                <a:latin typeface="Calibri"/>
              </a:defRPr>
            </a:pPr>
            <a:r>
              <a:t>OpenSearch Anomaly Detection Uzerine Ampirik Bir Calisma</a:t>
            </a:r>
          </a:p>
        </p:txBody>
      </p:sp>
      <p:sp>
        <p:nvSpPr>
          <p:cNvPr id="5" name="TextBox 4"/>
          <p:cNvSpPr txBox="1"/>
          <p:nvPr/>
        </p:nvSpPr>
        <p:spPr>
          <a:xfrm>
            <a:off x="914400" y="4114800"/>
            <a:ext cx="10332720" cy="548640"/>
          </a:xfrm>
          <a:prstGeom prst="rect">
            <a:avLst/>
          </a:prstGeom>
          <a:noFill/>
        </p:spPr>
        <p:txBody>
          <a:bodyPr wrap="square">
            <a:spAutoFit/>
          </a:bodyPr>
          <a:lstStyle/>
          <a:p>
            <a:pPr algn="ctr">
              <a:defRPr sz="1600" b="0">
                <a:solidFill>
                  <a:srgbClr val="CCCCCC"/>
                </a:solidFill>
                <a:latin typeface="Calibri"/>
              </a:defRPr>
            </a:pPr>
            <a:r>
              <a:t>Yazilim Mimarileri ve Tasarim Yontemleri  |  Donem Projesi</a:t>
            </a:r>
          </a:p>
        </p:txBody>
      </p:sp>
      <p:sp>
        <p:nvSpPr>
          <p:cNvPr id="6" name="Rectangle 5"/>
          <p:cNvSpPr/>
          <p:nvPr/>
        </p:nvSpPr>
        <p:spPr>
          <a:xfrm>
            <a:off x="3657600" y="3840480"/>
            <a:ext cx="4846320" cy="36576"/>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Proje Ozeti ve Amac</a:t>
            </a:r>
          </a:p>
        </p:txBody>
      </p:sp>
      <p:sp>
        <p:nvSpPr>
          <p:cNvPr id="4" name="Rectangle 3"/>
          <p:cNvSpPr/>
          <p:nvPr/>
        </p:nvSpPr>
        <p:spPr>
          <a:xfrm>
            <a:off x="457200" y="1280160"/>
            <a:ext cx="5303520" cy="502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4754880" cy="457200"/>
          </a:xfrm>
          <a:prstGeom prst="rect">
            <a:avLst/>
          </a:prstGeom>
          <a:noFill/>
        </p:spPr>
        <p:txBody>
          <a:bodyPr wrap="square">
            <a:spAutoFit/>
          </a:bodyPr>
          <a:lstStyle/>
          <a:p>
            <a:pPr algn="l">
              <a:defRPr sz="2000" b="1">
                <a:solidFill>
                  <a:srgbClr val="00528A"/>
                </a:solidFill>
                <a:latin typeface="Calibri"/>
              </a:defRPr>
            </a:pPr>
            <a:r>
              <a:t>Calismanin Amaci</a:t>
            </a:r>
          </a:p>
        </p:txBody>
      </p:sp>
      <p:sp>
        <p:nvSpPr>
          <p:cNvPr id="6" name="TextBox 5"/>
          <p:cNvSpPr txBox="1"/>
          <p:nvPr/>
        </p:nvSpPr>
        <p:spPr>
          <a:xfrm>
            <a:off x="731520" y="1920240"/>
            <a:ext cx="4754880" cy="4114800"/>
          </a:xfrm>
          <a:prstGeom prst="rect">
            <a:avLst/>
          </a:prstGeom>
          <a:noFill/>
        </p:spPr>
        <p:txBody>
          <a:bodyPr wrap="square">
            <a:spAutoFit/>
          </a:bodyPr>
          <a:lstStyle/>
          <a:p>
            <a:pPr>
              <a:spcAft>
                <a:spcPts val="800"/>
              </a:spcAft>
              <a:defRPr sz="1600">
                <a:solidFill>
                  <a:srgbClr val="333333"/>
                </a:solidFill>
                <a:latin typeface="Calibri"/>
              </a:defRPr>
            </a:pPr>
            <a:r>
              <a:t>-&gt; Nesne yonelimli yazilim kalitesini olculebilir metriklerle analiz etmek</a:t>
            </a:r>
          </a:p>
          <a:p>
            <a:pPr>
              <a:spcAft>
                <a:spcPts val="800"/>
              </a:spcAft>
              <a:defRPr sz="1600">
                <a:solidFill>
                  <a:srgbClr val="333333"/>
                </a:solidFill>
                <a:latin typeface="Calibri"/>
              </a:defRPr>
            </a:pPr>
            <a:r>
              <a:t>-&gt; QMOOD modeli ile 12 surumun kalite evrimini izlemek</a:t>
            </a:r>
          </a:p>
          <a:p>
            <a:pPr>
              <a:spcAft>
                <a:spcPts val="800"/>
              </a:spcAft>
              <a:defRPr sz="1600">
                <a:solidFill>
                  <a:srgbClr val="333333"/>
                </a:solidFill>
                <a:latin typeface="Calibri"/>
              </a:defRPr>
            </a:pPr>
            <a:r>
              <a:t>-&gt; 3 farkli LLM'in kalite degerlendirme yeteneklerini karsilastirmak</a:t>
            </a:r>
          </a:p>
          <a:p>
            <a:pPr>
              <a:spcAft>
                <a:spcPts val="800"/>
              </a:spcAft>
              <a:defRPr sz="1600">
                <a:solidFill>
                  <a:srgbClr val="333333"/>
                </a:solidFill>
                <a:latin typeface="Calibri"/>
              </a:defRPr>
            </a:pPr>
            <a:r>
              <a:t>-&gt; Prompt muhendisliginin LLM cikti kalitesine etkisini incelemek</a:t>
            </a:r>
          </a:p>
        </p:txBody>
      </p:sp>
      <p:sp>
        <p:nvSpPr>
          <p:cNvPr id="7" name="Rectangle 6"/>
          <p:cNvSpPr/>
          <p:nvPr/>
        </p:nvSpPr>
        <p:spPr>
          <a:xfrm>
            <a:off x="6217920" y="1280160"/>
            <a:ext cx="5486400" cy="502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029200" cy="457200"/>
          </a:xfrm>
          <a:prstGeom prst="rect">
            <a:avLst/>
          </a:prstGeom>
          <a:noFill/>
        </p:spPr>
        <p:txBody>
          <a:bodyPr wrap="square">
            <a:spAutoFit/>
          </a:bodyPr>
          <a:lstStyle/>
          <a:p>
            <a:pPr algn="l">
              <a:defRPr sz="1800" b="1">
                <a:solidFill>
                  <a:srgbClr val="00528A"/>
                </a:solidFill>
                <a:latin typeface="Calibri"/>
              </a:defRPr>
            </a:pPr>
            <a:r>
              <a:t>Secilen Sistem: OpenSearch Anomaly Detection</a:t>
            </a:r>
          </a:p>
        </p:txBody>
      </p:sp>
      <p:sp>
        <p:nvSpPr>
          <p:cNvPr id="9" name="TextBox 8"/>
          <p:cNvSpPr txBox="1"/>
          <p:nvPr/>
        </p:nvSpPr>
        <p:spPr>
          <a:xfrm>
            <a:off x="6492240" y="1920240"/>
            <a:ext cx="5029200" cy="4114800"/>
          </a:xfrm>
          <a:prstGeom prst="rect">
            <a:avLst/>
          </a:prstGeom>
          <a:noFill/>
        </p:spPr>
        <p:txBody>
          <a:bodyPr wrap="square">
            <a:spAutoFit/>
          </a:bodyPr>
          <a:lstStyle/>
          <a:p>
            <a:pPr>
              <a:spcAft>
                <a:spcPts val="800"/>
              </a:spcAft>
              <a:defRPr sz="1500">
                <a:solidFill>
                  <a:srgbClr val="333333"/>
                </a:solidFill>
                <a:latin typeface="Calibri"/>
              </a:defRPr>
            </a:pPr>
            <a:r>
              <a:t>-&gt; Java dilinde, Amazon/AWS destekli</a:t>
            </a:r>
          </a:p>
          <a:p>
            <a:pPr>
              <a:spcAft>
                <a:spcPts val="800"/>
              </a:spcAft>
              <a:defRPr sz="1500">
                <a:solidFill>
                  <a:srgbClr val="333333"/>
                </a:solidFill>
                <a:latin typeface="Calibri"/>
              </a:defRPr>
            </a:pPr>
            <a:r>
              <a:t>-&gt; 288 - 609 sinif arasi (12 surumde)</a:t>
            </a:r>
          </a:p>
          <a:p>
            <a:pPr>
              <a:spcAft>
                <a:spcPts val="800"/>
              </a:spcAft>
              <a:defRPr sz="1500">
                <a:solidFill>
                  <a:srgbClr val="333333"/>
                </a:solidFill>
                <a:latin typeface="Calibri"/>
              </a:defRPr>
            </a:pPr>
            <a:r>
              <a:t>-&gt; 16,903 - 35,612 LOC</a:t>
            </a:r>
          </a:p>
          <a:p>
            <a:pPr>
              <a:spcAft>
                <a:spcPts val="800"/>
              </a:spcAft>
              <a:defRPr sz="1500">
                <a:solidFill>
                  <a:srgbClr val="333333"/>
                </a:solidFill>
                <a:latin typeface="Calibri"/>
              </a:defRPr>
            </a:pPr>
            <a:r>
              <a:t>-&gt; 70+ release tag'i</a:t>
            </a:r>
          </a:p>
          <a:p>
            <a:pPr>
              <a:spcAft>
                <a:spcPts val="800"/>
              </a:spcAft>
              <a:defRPr sz="1500">
                <a:solidFill>
                  <a:srgbClr val="333333"/>
                </a:solidFill>
                <a:latin typeface="Calibri"/>
              </a:defRPr>
            </a:pPr>
            <a:r>
              <a:t>-&gt; Endustriyel kalitede, uretimde kullanilan</a:t>
            </a:r>
          </a:p>
          <a:p>
            <a:pPr>
              <a:spcAft>
                <a:spcPts val="800"/>
              </a:spcAft>
              <a:defRPr sz="1500">
                <a:solidFill>
                  <a:srgbClr val="333333"/>
                </a:solidFill>
                <a:latin typeface="Calibri"/>
              </a:defRPr>
            </a:pPr>
          </a:p>
          <a:p>
            <a:pPr>
              <a:spcAft>
                <a:spcPts val="800"/>
              </a:spcAft>
              <a:defRPr sz="1500">
                <a:solidFill>
                  <a:srgbClr val="333333"/>
                </a:solidFill>
                <a:latin typeface="Calibri"/>
              </a:defRPr>
            </a:pPr>
            <a:r>
              <a:t>Secilen 12 Surum (buyuk sicramalarla):</a:t>
            </a:r>
          </a:p>
          <a:p>
            <a:pPr>
              <a:spcAft>
                <a:spcPts val="800"/>
              </a:spcAft>
              <a:defRPr sz="1500">
                <a:solidFill>
                  <a:srgbClr val="333333"/>
                </a:solidFill>
                <a:latin typeface="Calibri"/>
              </a:defRPr>
            </a:pPr>
            <a:r>
              <a:t>v1.0  -&gt;  v1.1  -&gt;  v1.3  -&gt;  v2.0  -&gt;  v2.2</a:t>
            </a:r>
          </a:p>
          <a:p>
            <a:pPr>
              <a:spcAft>
                <a:spcPts val="800"/>
              </a:spcAft>
              <a:defRPr sz="1500">
                <a:solidFill>
                  <a:srgbClr val="333333"/>
                </a:solidFill>
                <a:latin typeface="Calibri"/>
              </a:defRPr>
            </a:pPr>
            <a:r>
              <a:t>v2.4  -&gt;  v2.7  -&gt;  v2.10  -&gt;  v2.13</a:t>
            </a:r>
          </a:p>
          <a:p>
            <a:pPr>
              <a:spcAft>
                <a:spcPts val="800"/>
              </a:spcAft>
              <a:defRPr sz="1500">
                <a:solidFill>
                  <a:srgbClr val="333333"/>
                </a:solidFill>
                <a:latin typeface="Calibri"/>
              </a:defRPr>
            </a:pPr>
            <a:r>
              <a:t>v2.16  -&gt;  v2.19  -&gt;  v3.0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Yontem: Analiz Sureci</a:t>
            </a:r>
          </a:p>
        </p:txBody>
      </p:sp>
      <p:sp>
        <p:nvSpPr>
          <p:cNvPr id="4" name="Rectangle 3"/>
          <p:cNvSpPr/>
          <p:nvPr/>
        </p:nvSpPr>
        <p:spPr>
          <a:xfrm>
            <a:off x="274320" y="1371600"/>
            <a:ext cx="2011680" cy="100584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Kaynak Kod</a:t>
            </a:r>
            <a:br/>
            <a:r>
              <a:t>(12 Surum)</a:t>
            </a:r>
          </a:p>
        </p:txBody>
      </p:sp>
      <p:sp>
        <p:nvSpPr>
          <p:cNvPr id="5" name="Rectangle 4"/>
          <p:cNvSpPr/>
          <p:nvPr/>
        </p:nvSpPr>
        <p:spPr>
          <a:xfrm>
            <a:off x="2606040" y="1371600"/>
            <a:ext cx="2011680" cy="100584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CK Tool</a:t>
            </a:r>
            <a:br/>
            <a:r>
              <a:t>(v0.7.0)</a:t>
            </a:r>
          </a:p>
        </p:txBody>
      </p:sp>
      <p:sp>
        <p:nvSpPr>
          <p:cNvPr id="6" name="Rectangle 5"/>
          <p:cNvSpPr/>
          <p:nvPr/>
        </p:nvSpPr>
        <p:spPr>
          <a:xfrm>
            <a:off x="4937760" y="1371600"/>
            <a:ext cx="2011680" cy="100584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Ham Metrikler</a:t>
            </a:r>
            <a:br/>
            <a:r>
              <a:t>(CBO,DIT,WMC...)</a:t>
            </a:r>
          </a:p>
        </p:txBody>
      </p:sp>
      <p:sp>
        <p:nvSpPr>
          <p:cNvPr id="7" name="Rectangle 6"/>
          <p:cNvSpPr/>
          <p:nvPr/>
        </p:nvSpPr>
        <p:spPr>
          <a:xfrm>
            <a:off x="7269480" y="1371600"/>
            <a:ext cx="2011680" cy="100584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QMOOD</a:t>
            </a:r>
            <a:br/>
            <a:r>
              <a:t>Tasarim Oz.</a:t>
            </a:r>
          </a:p>
        </p:txBody>
      </p:sp>
      <p:sp>
        <p:nvSpPr>
          <p:cNvPr id="8" name="Rectangle 7"/>
          <p:cNvSpPr/>
          <p:nvPr/>
        </p:nvSpPr>
        <p:spPr>
          <a:xfrm>
            <a:off x="9601200" y="1371600"/>
            <a:ext cx="2011680" cy="100584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Kalite</a:t>
            </a:r>
            <a:br/>
            <a:r>
              <a:t>Nitelikleri</a:t>
            </a:r>
          </a:p>
        </p:txBody>
      </p:sp>
      <p:sp>
        <p:nvSpPr>
          <p:cNvPr id="9" name="TextBox 8"/>
          <p:cNvSpPr txBox="1"/>
          <p:nvPr/>
        </p:nvSpPr>
        <p:spPr>
          <a:xfrm>
            <a:off x="228600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0" name="TextBox 9"/>
          <p:cNvSpPr txBox="1"/>
          <p:nvPr/>
        </p:nvSpPr>
        <p:spPr>
          <a:xfrm>
            <a:off x="461772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1" name="TextBox 10"/>
          <p:cNvSpPr txBox="1"/>
          <p:nvPr/>
        </p:nvSpPr>
        <p:spPr>
          <a:xfrm>
            <a:off x="694944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2" name="TextBox 11"/>
          <p:cNvSpPr txBox="1"/>
          <p:nvPr/>
        </p:nvSpPr>
        <p:spPr>
          <a:xfrm>
            <a:off x="928116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3" name="Rectangle 12"/>
          <p:cNvSpPr/>
          <p:nvPr/>
        </p:nvSpPr>
        <p:spPr>
          <a:xfrm>
            <a:off x="4114800" y="2743200"/>
            <a:ext cx="3931920" cy="82296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LLM Degerlendirme: ChatGPT  |  Gemini  |  Claude</a:t>
            </a:r>
          </a:p>
        </p:txBody>
      </p:sp>
      <p:sp>
        <p:nvSpPr>
          <p:cNvPr id="14" name="Rectangle 13"/>
          <p:cNvSpPr/>
          <p:nvPr/>
        </p:nvSpPr>
        <p:spPr>
          <a:xfrm>
            <a:off x="457200" y="3840480"/>
            <a:ext cx="548640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931920"/>
            <a:ext cx="5120640" cy="365760"/>
          </a:xfrm>
          <a:prstGeom prst="rect">
            <a:avLst/>
          </a:prstGeom>
          <a:noFill/>
        </p:spPr>
        <p:txBody>
          <a:bodyPr wrap="square">
            <a:spAutoFit/>
          </a:bodyPr>
          <a:lstStyle/>
          <a:p>
            <a:pPr algn="l">
              <a:defRPr sz="1600" b="1">
                <a:solidFill>
                  <a:srgbClr val="00528A"/>
                </a:solidFill>
                <a:latin typeface="Calibri"/>
              </a:defRPr>
            </a:pPr>
            <a:r>
              <a:t>QMOOD Kalite Nitelikleri (Bansiya &amp; Davis, 2002)</a:t>
            </a:r>
          </a:p>
        </p:txBody>
      </p:sp>
      <p:sp>
        <p:nvSpPr>
          <p:cNvPr id="16" name="TextBox 15"/>
          <p:cNvSpPr txBox="1"/>
          <p:nvPr/>
        </p:nvSpPr>
        <p:spPr>
          <a:xfrm>
            <a:off x="640080" y="4389120"/>
            <a:ext cx="5120640" cy="2286000"/>
          </a:xfrm>
          <a:prstGeom prst="rect">
            <a:avLst/>
          </a:prstGeom>
          <a:noFill/>
        </p:spPr>
        <p:txBody>
          <a:bodyPr wrap="square">
            <a:spAutoFit/>
          </a:bodyPr>
          <a:lstStyle/>
          <a:p>
            <a:pPr>
              <a:spcAft>
                <a:spcPts val="800"/>
              </a:spcAft>
              <a:defRPr sz="1300">
                <a:solidFill>
                  <a:srgbClr val="333333"/>
                </a:solidFill>
                <a:latin typeface="Calibri"/>
              </a:defRPr>
            </a:pPr>
            <a:r>
              <a:t>Reusability  = -0.25*DCC + 0.25*CAM + 0.5*CIS + 0.5*DSC</a:t>
            </a:r>
          </a:p>
          <a:p>
            <a:pPr>
              <a:spcAft>
                <a:spcPts val="800"/>
              </a:spcAft>
              <a:defRPr sz="1300">
                <a:solidFill>
                  <a:srgbClr val="333333"/>
                </a:solidFill>
                <a:latin typeface="Calibri"/>
              </a:defRPr>
            </a:pPr>
            <a:r>
              <a:t>Flexibility  = 0.25*DAM - 0.25*DCC + 0.5*MOA + 0.5*NOP</a:t>
            </a:r>
          </a:p>
          <a:p>
            <a:pPr>
              <a:spcAft>
                <a:spcPts val="800"/>
              </a:spcAft>
              <a:defRPr sz="1300">
                <a:solidFill>
                  <a:srgbClr val="333333"/>
                </a:solidFill>
                <a:latin typeface="Calibri"/>
              </a:defRPr>
            </a:pPr>
            <a:r>
              <a:t>Understandability = -0.33*(ANA+DCC+NOP+NOM+DSC) + 0.33*(DAM+CAM)</a:t>
            </a:r>
          </a:p>
          <a:p>
            <a:pPr>
              <a:spcAft>
                <a:spcPts val="800"/>
              </a:spcAft>
              <a:defRPr sz="1300">
                <a:solidFill>
                  <a:srgbClr val="333333"/>
                </a:solidFill>
                <a:latin typeface="Calibri"/>
              </a:defRPr>
            </a:pPr>
            <a:r>
              <a:t>Functionality = 0.12*CAM + 0.22*(NOP+CIS+DSC+ANA)</a:t>
            </a:r>
          </a:p>
          <a:p>
            <a:pPr>
              <a:spcAft>
                <a:spcPts val="800"/>
              </a:spcAft>
              <a:defRPr sz="1300">
                <a:solidFill>
                  <a:srgbClr val="333333"/>
                </a:solidFill>
                <a:latin typeface="Calibri"/>
              </a:defRPr>
            </a:pPr>
            <a:r>
              <a:t>Extendibility = 0.5*(ANA+MFA+NOP) - 0.5*DCC</a:t>
            </a:r>
          </a:p>
          <a:p>
            <a:pPr>
              <a:spcAft>
                <a:spcPts val="800"/>
              </a:spcAft>
              <a:defRPr sz="1300">
                <a:solidFill>
                  <a:srgbClr val="333333"/>
                </a:solidFill>
                <a:latin typeface="Calibri"/>
              </a:defRPr>
            </a:pPr>
            <a:r>
              <a:t>Effectiveness = 0.2*(ANA+DAM+MOA+MFA+NOP)</a:t>
            </a:r>
          </a:p>
        </p:txBody>
      </p:sp>
      <p:sp>
        <p:nvSpPr>
          <p:cNvPr id="17" name="Rectangle 16"/>
          <p:cNvSpPr/>
          <p:nvPr/>
        </p:nvSpPr>
        <p:spPr>
          <a:xfrm>
            <a:off x="6217920" y="3840480"/>
            <a:ext cx="548640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3931920"/>
            <a:ext cx="5029200" cy="365760"/>
          </a:xfrm>
          <a:prstGeom prst="rect">
            <a:avLst/>
          </a:prstGeom>
          <a:noFill/>
        </p:spPr>
        <p:txBody>
          <a:bodyPr wrap="square">
            <a:spAutoFit/>
          </a:bodyPr>
          <a:lstStyle/>
          <a:p>
            <a:pPr algn="l">
              <a:defRPr sz="1600" b="1">
                <a:solidFill>
                  <a:srgbClr val="00528A"/>
                </a:solidFill>
                <a:latin typeface="Calibri"/>
              </a:defRPr>
            </a:pPr>
            <a:r>
              <a:t>Kullanilan Araclar</a:t>
            </a:r>
          </a:p>
        </p:txBody>
      </p:sp>
      <p:sp>
        <p:nvSpPr>
          <p:cNvPr id="19" name="TextBox 18"/>
          <p:cNvSpPr txBox="1"/>
          <p:nvPr/>
        </p:nvSpPr>
        <p:spPr>
          <a:xfrm>
            <a:off x="6492240" y="4389120"/>
            <a:ext cx="5029200" cy="2286000"/>
          </a:xfrm>
          <a:prstGeom prst="rect">
            <a:avLst/>
          </a:prstGeom>
          <a:noFill/>
        </p:spPr>
        <p:txBody>
          <a:bodyPr wrap="square">
            <a:spAutoFit/>
          </a:bodyPr>
          <a:lstStyle/>
          <a:p>
            <a:pPr>
              <a:spcAft>
                <a:spcPts val="800"/>
              </a:spcAft>
              <a:defRPr sz="1400">
                <a:solidFill>
                  <a:srgbClr val="333333"/>
                </a:solidFill>
                <a:latin typeface="Calibri"/>
              </a:defRPr>
            </a:pPr>
            <a:r>
              <a:t>-&gt; CK Tool v0.7.0 — Java metrik cikarimi (CSV)</a:t>
            </a:r>
          </a:p>
          <a:p>
            <a:pPr>
              <a:spcAft>
                <a:spcPts val="800"/>
              </a:spcAft>
              <a:defRPr sz="1400">
                <a:solidFill>
                  <a:srgbClr val="333333"/>
                </a:solidFill>
                <a:latin typeface="Calibri"/>
              </a:defRPr>
            </a:pPr>
            <a:r>
              <a:t>-&gt; Python 3.12 + Pandas — QMOOD hesaplama</a:t>
            </a:r>
          </a:p>
          <a:p>
            <a:pPr>
              <a:spcAft>
                <a:spcPts val="800"/>
              </a:spcAft>
              <a:defRPr sz="1400">
                <a:solidFill>
                  <a:srgbClr val="333333"/>
                </a:solidFill>
                <a:latin typeface="Calibri"/>
              </a:defRPr>
            </a:pPr>
            <a:r>
              <a:t>-&gt; Matplotlib — Gorsellesstirme (6 grafik)</a:t>
            </a:r>
          </a:p>
          <a:p>
            <a:pPr>
              <a:spcAft>
                <a:spcPts val="800"/>
              </a:spcAft>
              <a:defRPr sz="1400">
                <a:solidFill>
                  <a:srgbClr val="333333"/>
                </a:solidFill>
                <a:latin typeface="Calibri"/>
              </a:defRPr>
            </a:pPr>
            <a:r>
              <a:t>-&gt; Git — Surum yonetimi (git checkout &lt;tag&gt;)</a:t>
            </a:r>
          </a:p>
          <a:p>
            <a:pPr>
              <a:spcAft>
                <a:spcPts val="800"/>
              </a:spcAft>
              <a:defRPr sz="1400">
                <a:solidFill>
                  <a:srgbClr val="333333"/>
                </a:solidFill>
                <a:latin typeface="Calibri"/>
              </a:defRPr>
            </a:pPr>
          </a:p>
          <a:p>
            <a:pPr>
              <a:spcAft>
                <a:spcPts val="800"/>
              </a:spcAft>
              <a:defRPr sz="1400">
                <a:solidFill>
                  <a:srgbClr val="333333"/>
                </a:solidFill>
                <a:latin typeface="Calibri"/>
              </a:defRPr>
            </a:pPr>
            <a:r>
              <a:t>Metrikler: CBO, DIT, WMC, RFC, LCOM, NOM, NOA</a:t>
            </a:r>
          </a:p>
          <a:p>
            <a:pPr>
              <a:spcAft>
                <a:spcPts val="800"/>
              </a:spcAft>
              <a:defRPr sz="1400">
                <a:solidFill>
                  <a:srgbClr val="333333"/>
                </a:solidFill>
                <a:latin typeface="Calibri"/>
              </a:defRPr>
            </a:pPr>
            <a:r>
              <a:t>Tasarim Oz: DSC, ANA, DAM, DCC, CAM, MOA, MFA, NOP, CIS, NOM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Ham Metrik Sonuclari ve Uc Donem</a:t>
            </a:r>
          </a:p>
        </p:txBody>
      </p:sp>
      <p:pic>
        <p:nvPicPr>
          <p:cNvPr id="4" name="Picture 3" descr="raw_metrics_evolution.png"/>
          <p:cNvPicPr>
            <a:picLocks noChangeAspect="1"/>
          </p:cNvPicPr>
          <p:nvPr/>
        </p:nvPicPr>
        <p:blipFill>
          <a:blip r:embed="rId2"/>
          <a:stretch>
            <a:fillRect/>
          </a:stretch>
        </p:blipFill>
        <p:spPr>
          <a:xfrm>
            <a:off x="274320" y="1188720"/>
            <a:ext cx="6858000" cy="5029200"/>
          </a:xfrm>
          <a:prstGeom prst="rect">
            <a:avLst/>
          </a:prstGeom>
        </p:spPr>
      </p:pic>
      <p:sp>
        <p:nvSpPr>
          <p:cNvPr id="5" name="Rectangle 4"/>
          <p:cNvSpPr/>
          <p:nvPr/>
        </p:nvSpPr>
        <p:spPr>
          <a:xfrm>
            <a:off x="7315200" y="1188720"/>
            <a:ext cx="4572000" cy="13716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79" y="1280160"/>
            <a:ext cx="4206240" cy="274320"/>
          </a:xfrm>
          <a:prstGeom prst="rect">
            <a:avLst/>
          </a:prstGeom>
          <a:noFill/>
        </p:spPr>
        <p:txBody>
          <a:bodyPr wrap="square">
            <a:spAutoFit/>
          </a:bodyPr>
          <a:lstStyle/>
          <a:p>
            <a:pPr algn="l">
              <a:defRPr sz="1500" b="1">
                <a:solidFill>
                  <a:srgbClr val="FFFFFF"/>
                </a:solidFill>
                <a:latin typeface="Calibri"/>
              </a:defRPr>
            </a:pPr>
            <a:r>
              <a:t>Donem 1: Hizli Buyume (v1.0 - v1.3)</a:t>
            </a:r>
          </a:p>
        </p:txBody>
      </p:sp>
      <p:sp>
        <p:nvSpPr>
          <p:cNvPr id="7" name="TextBox 6"/>
          <p:cNvSpPr txBox="1"/>
          <p:nvPr/>
        </p:nvSpPr>
        <p:spPr>
          <a:xfrm>
            <a:off x="7498079" y="1645920"/>
            <a:ext cx="4206240" cy="822960"/>
          </a:xfrm>
          <a:prstGeom prst="rect">
            <a:avLst/>
          </a:prstGeom>
          <a:noFill/>
        </p:spPr>
        <p:txBody>
          <a:bodyPr wrap="square">
            <a:spAutoFit/>
          </a:bodyPr>
          <a:lstStyle/>
          <a:p>
            <a:pPr algn="l">
              <a:defRPr sz="1300" b="0">
                <a:solidFill>
                  <a:srgbClr val="FFFFFF"/>
                </a:solidFill>
                <a:latin typeface="Calibri"/>
              </a:defRPr>
            </a:pPr>
            <a:r>
              <a:t>Sinif: 288 -&gt; 351 (+%22)</a:t>
            </a:r>
            <a:br/>
            <a:r>
              <a:t>LCOM: 13.89 -&gt; 26.50 (2 kat!)</a:t>
            </a:r>
            <a:br/>
            <a:r>
              <a:t>Hizli ozellik ekleme, kohezyon kaybi</a:t>
            </a:r>
          </a:p>
        </p:txBody>
      </p:sp>
      <p:sp>
        <p:nvSpPr>
          <p:cNvPr id="8" name="Rectangle 7"/>
          <p:cNvSpPr/>
          <p:nvPr/>
        </p:nvSpPr>
        <p:spPr>
          <a:xfrm>
            <a:off x="7315200" y="2743200"/>
            <a:ext cx="4572000" cy="13716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79" y="2834640"/>
            <a:ext cx="4206240" cy="274320"/>
          </a:xfrm>
          <a:prstGeom prst="rect">
            <a:avLst/>
          </a:prstGeom>
          <a:noFill/>
        </p:spPr>
        <p:txBody>
          <a:bodyPr wrap="square">
            <a:spAutoFit/>
          </a:bodyPr>
          <a:lstStyle/>
          <a:p>
            <a:pPr algn="l">
              <a:defRPr sz="1500" b="1">
                <a:solidFill>
                  <a:srgbClr val="FFFFFF"/>
                </a:solidFill>
                <a:latin typeface="Calibri"/>
              </a:defRPr>
            </a:pPr>
            <a:r>
              <a:t>Donem 2: Stabil Evrim (v2.0 - v2.13)</a:t>
            </a:r>
          </a:p>
        </p:txBody>
      </p:sp>
      <p:sp>
        <p:nvSpPr>
          <p:cNvPr id="10" name="TextBox 9"/>
          <p:cNvSpPr txBox="1"/>
          <p:nvPr/>
        </p:nvSpPr>
        <p:spPr>
          <a:xfrm>
            <a:off x="7498079" y="3200400"/>
            <a:ext cx="4206240" cy="822960"/>
          </a:xfrm>
          <a:prstGeom prst="rect">
            <a:avLst/>
          </a:prstGeom>
          <a:noFill/>
        </p:spPr>
        <p:txBody>
          <a:bodyPr wrap="square">
            <a:spAutoFit/>
          </a:bodyPr>
          <a:lstStyle/>
          <a:p>
            <a:pPr algn="l">
              <a:defRPr sz="1300" b="0">
                <a:solidFill>
                  <a:srgbClr val="FFFFFF"/>
                </a:solidFill>
                <a:latin typeface="Calibri"/>
              </a:defRPr>
            </a:pPr>
            <a:r>
              <a:t>Sinif: 351 -&gt; 364 (+%3.7)</a:t>
            </a:r>
            <a:br/>
            <a:r>
              <a:t>Metrikler dar bantta</a:t>
            </a:r>
            <a:br/>
            <a:r>
              <a:t>Olgun gelistirme donemi</a:t>
            </a:r>
          </a:p>
        </p:txBody>
      </p:sp>
      <p:sp>
        <p:nvSpPr>
          <p:cNvPr id="11" name="Rectangle 10"/>
          <p:cNvSpPr/>
          <p:nvPr/>
        </p:nvSpPr>
        <p:spPr>
          <a:xfrm>
            <a:off x="7315200" y="4297680"/>
            <a:ext cx="4572000" cy="1645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4389120"/>
            <a:ext cx="4206240" cy="274320"/>
          </a:xfrm>
          <a:prstGeom prst="rect">
            <a:avLst/>
          </a:prstGeom>
          <a:noFill/>
        </p:spPr>
        <p:txBody>
          <a:bodyPr wrap="square">
            <a:spAutoFit/>
          </a:bodyPr>
          <a:lstStyle/>
          <a:p>
            <a:pPr algn="l">
              <a:defRPr sz="1500" b="1">
                <a:solidFill>
                  <a:srgbClr val="FFFFFF"/>
                </a:solidFill>
                <a:latin typeface="Calibri"/>
              </a:defRPr>
            </a:pPr>
            <a:r>
              <a:t>Donem 3: Yapisal Donusum (v2.16 - v3.0)</a:t>
            </a:r>
          </a:p>
        </p:txBody>
      </p:sp>
      <p:sp>
        <p:nvSpPr>
          <p:cNvPr id="13" name="TextBox 12"/>
          <p:cNvSpPr txBox="1"/>
          <p:nvPr/>
        </p:nvSpPr>
        <p:spPr>
          <a:xfrm>
            <a:off x="7498079" y="4754880"/>
            <a:ext cx="4206240" cy="1097280"/>
          </a:xfrm>
          <a:prstGeom prst="rect">
            <a:avLst/>
          </a:prstGeom>
          <a:noFill/>
        </p:spPr>
        <p:txBody>
          <a:bodyPr wrap="square">
            <a:spAutoFit/>
          </a:bodyPr>
          <a:lstStyle/>
          <a:p>
            <a:pPr algn="l">
              <a:defRPr sz="1300" b="0">
                <a:solidFill>
                  <a:srgbClr val="FFFFFF"/>
                </a:solidFill>
                <a:latin typeface="Calibri"/>
              </a:defRPr>
            </a:pPr>
            <a:r>
              <a:t>Sinif: 364 -&gt; 591 (+%62!)</a:t>
            </a:r>
            <a:br/>
            <a:r>
              <a:t>WMC: 15.30 -&gt; 12.02 (dusus)</a:t>
            </a:r>
            <a:br/>
            <a:r>
              <a:t>Max CBO: 140 -&gt; 214 (artis)</a:t>
            </a:r>
            <a:br/>
            <a:r>
              <a:t>Buyuk modul entegrasyonu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QMOOD Kalite Nitelikleri Evrimi</a:t>
            </a:r>
          </a:p>
        </p:txBody>
      </p:sp>
      <p:pic>
        <p:nvPicPr>
          <p:cNvPr id="4" name="Picture 3" descr="quality_attributes_evolution.png"/>
          <p:cNvPicPr>
            <a:picLocks noChangeAspect="1"/>
          </p:cNvPicPr>
          <p:nvPr/>
        </p:nvPicPr>
        <p:blipFill>
          <a:blip r:embed="rId2"/>
          <a:stretch>
            <a:fillRect/>
          </a:stretch>
        </p:blipFill>
        <p:spPr>
          <a:xfrm>
            <a:off x="274320" y="1188720"/>
            <a:ext cx="7132320" cy="5303520"/>
          </a:xfrm>
          <a:prstGeom prst="rect">
            <a:avLst/>
          </a:prstGeom>
        </p:spPr>
      </p:pic>
      <p:sp>
        <p:nvSpPr>
          <p:cNvPr id="5" name="Rectangle 4"/>
          <p:cNvSpPr/>
          <p:nvPr/>
        </p:nvSpPr>
        <p:spPr>
          <a:xfrm>
            <a:off x="7589520" y="1188720"/>
            <a:ext cx="4297680" cy="5303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0" y="1280160"/>
            <a:ext cx="3931920" cy="365760"/>
          </a:xfrm>
          <a:prstGeom prst="rect">
            <a:avLst/>
          </a:prstGeom>
          <a:noFill/>
        </p:spPr>
        <p:txBody>
          <a:bodyPr wrap="square">
            <a:spAutoFit/>
          </a:bodyPr>
          <a:lstStyle/>
          <a:p>
            <a:pPr algn="l">
              <a:defRPr sz="1800" b="1">
                <a:solidFill>
                  <a:srgbClr val="00528A"/>
                </a:solidFill>
                <a:latin typeface="Calibri"/>
              </a:defRPr>
            </a:pPr>
            <a:r>
              <a:t>Temel Bulgular</a:t>
            </a:r>
          </a:p>
        </p:txBody>
      </p:sp>
      <p:sp>
        <p:nvSpPr>
          <p:cNvPr id="7" name="Rectangle 6"/>
          <p:cNvSpPr/>
          <p:nvPr/>
        </p:nvSpPr>
        <p:spPr>
          <a:xfrm>
            <a:off x="7680960" y="1737360"/>
            <a:ext cx="137160" cy="50292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79" y="1737360"/>
            <a:ext cx="3657600" cy="228600"/>
          </a:xfrm>
          <a:prstGeom prst="rect">
            <a:avLst/>
          </a:prstGeom>
          <a:noFill/>
        </p:spPr>
        <p:txBody>
          <a:bodyPr wrap="square">
            <a:spAutoFit/>
          </a:bodyPr>
          <a:lstStyle/>
          <a:p>
            <a:pPr algn="l">
              <a:defRPr sz="1300" b="1">
                <a:solidFill>
                  <a:srgbClr val="0096D6"/>
                </a:solidFill>
                <a:latin typeface="Calibri"/>
              </a:defRPr>
            </a:pPr>
            <a:r>
              <a:t>Reusability</a:t>
            </a:r>
          </a:p>
        </p:txBody>
      </p:sp>
      <p:sp>
        <p:nvSpPr>
          <p:cNvPr id="9" name="TextBox 8"/>
          <p:cNvSpPr txBox="1"/>
          <p:nvPr/>
        </p:nvSpPr>
        <p:spPr>
          <a:xfrm>
            <a:off x="7955279" y="1938528"/>
            <a:ext cx="3657600" cy="320040"/>
          </a:xfrm>
          <a:prstGeom prst="rect">
            <a:avLst/>
          </a:prstGeom>
          <a:noFill/>
        </p:spPr>
        <p:txBody>
          <a:bodyPr wrap="square">
            <a:spAutoFit/>
          </a:bodyPr>
          <a:lstStyle/>
          <a:p>
            <a:pPr algn="l">
              <a:defRPr sz="1100" b="0">
                <a:solidFill>
                  <a:srgbClr val="333333"/>
                </a:solidFill>
                <a:latin typeface="Calibri"/>
              </a:defRPr>
            </a:pPr>
            <a:r>
              <a:t>4.147 -&gt; 4.093 (%1.3 dusus)</a:t>
            </a:r>
          </a:p>
        </p:txBody>
      </p:sp>
      <p:sp>
        <p:nvSpPr>
          <p:cNvPr id="10" name="Rectangle 9"/>
          <p:cNvSpPr/>
          <p:nvPr/>
        </p:nvSpPr>
        <p:spPr>
          <a:xfrm>
            <a:off x="7680960" y="2304288"/>
            <a:ext cx="13716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79" y="2304288"/>
            <a:ext cx="3657600" cy="228600"/>
          </a:xfrm>
          <a:prstGeom prst="rect">
            <a:avLst/>
          </a:prstGeom>
          <a:noFill/>
        </p:spPr>
        <p:txBody>
          <a:bodyPr wrap="square">
            <a:spAutoFit/>
          </a:bodyPr>
          <a:lstStyle/>
          <a:p>
            <a:pPr algn="l">
              <a:defRPr sz="1300" b="1">
                <a:solidFill>
                  <a:srgbClr val="E74C3C"/>
                </a:solidFill>
                <a:latin typeface="Calibri"/>
              </a:defRPr>
            </a:pPr>
            <a:r>
              <a:t>Flexibility</a:t>
            </a:r>
          </a:p>
        </p:txBody>
      </p:sp>
      <p:sp>
        <p:nvSpPr>
          <p:cNvPr id="12" name="TextBox 11"/>
          <p:cNvSpPr txBox="1"/>
          <p:nvPr/>
        </p:nvSpPr>
        <p:spPr>
          <a:xfrm>
            <a:off x="7955279" y="2505456"/>
            <a:ext cx="3657600" cy="320040"/>
          </a:xfrm>
          <a:prstGeom prst="rect">
            <a:avLst/>
          </a:prstGeom>
          <a:noFill/>
        </p:spPr>
        <p:txBody>
          <a:bodyPr wrap="square">
            <a:spAutoFit/>
          </a:bodyPr>
          <a:lstStyle/>
          <a:p>
            <a:pPr algn="l">
              <a:defRPr sz="1100" b="0">
                <a:solidFill>
                  <a:srgbClr val="333333"/>
                </a:solidFill>
                <a:latin typeface="Calibri"/>
              </a:defRPr>
            </a:pPr>
            <a:r>
              <a:t>0.040 -&gt; -0.617 (Pozitiften negatife!)</a:t>
            </a:r>
          </a:p>
        </p:txBody>
      </p:sp>
      <p:sp>
        <p:nvSpPr>
          <p:cNvPr id="13" name="Rectangle 12"/>
          <p:cNvSpPr/>
          <p:nvPr/>
        </p:nvSpPr>
        <p:spPr>
          <a:xfrm>
            <a:off x="7680960" y="2871216"/>
            <a:ext cx="137160" cy="50292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2871216"/>
            <a:ext cx="3657600" cy="228600"/>
          </a:xfrm>
          <a:prstGeom prst="rect">
            <a:avLst/>
          </a:prstGeom>
          <a:noFill/>
        </p:spPr>
        <p:txBody>
          <a:bodyPr wrap="square">
            <a:spAutoFit/>
          </a:bodyPr>
          <a:lstStyle/>
          <a:p>
            <a:pPr algn="l">
              <a:defRPr sz="1300" b="1">
                <a:solidFill>
                  <a:srgbClr val="FF8C00"/>
                </a:solidFill>
                <a:latin typeface="Calibri"/>
              </a:defRPr>
            </a:pPr>
            <a:r>
              <a:t>Understandability</a:t>
            </a:r>
          </a:p>
        </p:txBody>
      </p:sp>
      <p:sp>
        <p:nvSpPr>
          <p:cNvPr id="15" name="TextBox 14"/>
          <p:cNvSpPr txBox="1"/>
          <p:nvPr/>
        </p:nvSpPr>
        <p:spPr>
          <a:xfrm>
            <a:off x="7955279" y="3072384"/>
            <a:ext cx="3657600" cy="320040"/>
          </a:xfrm>
          <a:prstGeom prst="rect">
            <a:avLst/>
          </a:prstGeom>
          <a:noFill/>
        </p:spPr>
        <p:txBody>
          <a:bodyPr wrap="square">
            <a:spAutoFit/>
          </a:bodyPr>
          <a:lstStyle/>
          <a:p>
            <a:pPr algn="l">
              <a:defRPr sz="1100" b="0">
                <a:solidFill>
                  <a:srgbClr val="333333"/>
                </a:solidFill>
                <a:latin typeface="Calibri"/>
              </a:defRPr>
            </a:pPr>
            <a:r>
              <a:t>Tum surumlerde negatif</a:t>
            </a:r>
            <a:br/>
            <a:r>
              <a:t>v2.16'da paradoksal iyilesme</a:t>
            </a:r>
          </a:p>
        </p:txBody>
      </p:sp>
      <p:sp>
        <p:nvSpPr>
          <p:cNvPr id="16" name="Rectangle 15"/>
          <p:cNvSpPr/>
          <p:nvPr/>
        </p:nvSpPr>
        <p:spPr>
          <a:xfrm>
            <a:off x="7680960" y="3438144"/>
            <a:ext cx="137160" cy="5029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79" y="3438144"/>
            <a:ext cx="3657600" cy="228600"/>
          </a:xfrm>
          <a:prstGeom prst="rect">
            <a:avLst/>
          </a:prstGeom>
          <a:noFill/>
        </p:spPr>
        <p:txBody>
          <a:bodyPr wrap="square">
            <a:spAutoFit/>
          </a:bodyPr>
          <a:lstStyle/>
          <a:p>
            <a:pPr algn="l">
              <a:defRPr sz="1300" b="1">
                <a:solidFill>
                  <a:srgbClr val="2ECC71"/>
                </a:solidFill>
                <a:latin typeface="Calibri"/>
              </a:defRPr>
            </a:pPr>
            <a:r>
              <a:t>Functionality</a:t>
            </a:r>
          </a:p>
        </p:txBody>
      </p:sp>
      <p:sp>
        <p:nvSpPr>
          <p:cNvPr id="18" name="TextBox 17"/>
          <p:cNvSpPr txBox="1"/>
          <p:nvPr/>
        </p:nvSpPr>
        <p:spPr>
          <a:xfrm>
            <a:off x="7955279" y="3639312"/>
            <a:ext cx="3657600" cy="320040"/>
          </a:xfrm>
          <a:prstGeom prst="rect">
            <a:avLst/>
          </a:prstGeom>
          <a:noFill/>
        </p:spPr>
        <p:txBody>
          <a:bodyPr wrap="square">
            <a:spAutoFit/>
          </a:bodyPr>
          <a:lstStyle/>
          <a:p>
            <a:pPr algn="l">
              <a:defRPr sz="1100" b="0">
                <a:solidFill>
                  <a:srgbClr val="333333"/>
                </a:solidFill>
                <a:latin typeface="Calibri"/>
              </a:defRPr>
            </a:pPr>
            <a:r>
              <a:t>En stabil: 2.988-3.222</a:t>
            </a:r>
          </a:p>
        </p:txBody>
      </p:sp>
      <p:sp>
        <p:nvSpPr>
          <p:cNvPr id="19" name="Rectangle 18"/>
          <p:cNvSpPr/>
          <p:nvPr/>
        </p:nvSpPr>
        <p:spPr>
          <a:xfrm>
            <a:off x="7680960" y="4005072"/>
            <a:ext cx="13716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4005072"/>
            <a:ext cx="3657600" cy="228600"/>
          </a:xfrm>
          <a:prstGeom prst="rect">
            <a:avLst/>
          </a:prstGeom>
          <a:noFill/>
        </p:spPr>
        <p:txBody>
          <a:bodyPr wrap="square">
            <a:spAutoFit/>
          </a:bodyPr>
          <a:lstStyle/>
          <a:p>
            <a:pPr algn="l">
              <a:defRPr sz="1300" b="1">
                <a:solidFill>
                  <a:srgbClr val="E74C3C"/>
                </a:solidFill>
                <a:latin typeface="Calibri"/>
              </a:defRPr>
            </a:pPr>
            <a:r>
              <a:t>Extendibility</a:t>
            </a:r>
          </a:p>
        </p:txBody>
      </p:sp>
      <p:sp>
        <p:nvSpPr>
          <p:cNvPr id="21" name="TextBox 20"/>
          <p:cNvSpPr txBox="1"/>
          <p:nvPr/>
        </p:nvSpPr>
        <p:spPr>
          <a:xfrm>
            <a:off x="7955279" y="4206240"/>
            <a:ext cx="3657600" cy="320040"/>
          </a:xfrm>
          <a:prstGeom prst="rect">
            <a:avLst/>
          </a:prstGeom>
          <a:noFill/>
        </p:spPr>
        <p:txBody>
          <a:bodyPr wrap="square">
            <a:spAutoFit/>
          </a:bodyPr>
          <a:lstStyle/>
          <a:p>
            <a:pPr algn="l">
              <a:defRPr sz="1100" b="0">
                <a:solidFill>
                  <a:srgbClr val="333333"/>
                </a:solidFill>
                <a:latin typeface="Calibri"/>
              </a:defRPr>
            </a:pPr>
            <a:r>
              <a:t>-3.286 -&gt; -4.159 (%26.6 dusus)</a:t>
            </a:r>
            <a:br/>
            <a:r>
              <a:t>EN KRITIK SORUN</a:t>
            </a:r>
          </a:p>
        </p:txBody>
      </p:sp>
      <p:sp>
        <p:nvSpPr>
          <p:cNvPr id="22" name="Rectangle 21"/>
          <p:cNvSpPr/>
          <p:nvPr/>
        </p:nvSpPr>
        <p:spPr>
          <a:xfrm>
            <a:off x="7680960" y="4572000"/>
            <a:ext cx="137160" cy="5029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55279" y="4572000"/>
            <a:ext cx="3657600" cy="228600"/>
          </a:xfrm>
          <a:prstGeom prst="rect">
            <a:avLst/>
          </a:prstGeom>
          <a:noFill/>
        </p:spPr>
        <p:txBody>
          <a:bodyPr wrap="square">
            <a:spAutoFit/>
          </a:bodyPr>
          <a:lstStyle/>
          <a:p>
            <a:pPr algn="l">
              <a:defRPr sz="1300" b="1">
                <a:solidFill>
                  <a:srgbClr val="2ECC71"/>
                </a:solidFill>
                <a:latin typeface="Calibri"/>
              </a:defRPr>
            </a:pPr>
            <a:r>
              <a:t>Effectiveness</a:t>
            </a:r>
          </a:p>
        </p:txBody>
      </p:sp>
      <p:sp>
        <p:nvSpPr>
          <p:cNvPr id="24" name="TextBox 23"/>
          <p:cNvSpPr txBox="1"/>
          <p:nvPr/>
        </p:nvSpPr>
        <p:spPr>
          <a:xfrm>
            <a:off x="7955279" y="4773168"/>
            <a:ext cx="3657600" cy="320040"/>
          </a:xfrm>
          <a:prstGeom prst="rect">
            <a:avLst/>
          </a:prstGeom>
          <a:noFill/>
        </p:spPr>
        <p:txBody>
          <a:bodyPr wrap="square">
            <a:spAutoFit/>
          </a:bodyPr>
          <a:lstStyle/>
          <a:p>
            <a:pPr algn="l">
              <a:defRPr sz="1100" b="0">
                <a:solidFill>
                  <a:srgbClr val="333333"/>
                </a:solidFill>
                <a:latin typeface="Calibri"/>
              </a:defRPr>
            </a:pPr>
            <a:r>
              <a:t>Nispeten stabil: 1.047-1.190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Mimari Bozulma Analizi ve Teknik Borc</a:t>
            </a:r>
          </a:p>
        </p:txBody>
      </p:sp>
      <p:pic>
        <p:nvPicPr>
          <p:cNvPr id="4" name="Picture 3" descr="coupling_vs_cohesion.png"/>
          <p:cNvPicPr>
            <a:picLocks noChangeAspect="1"/>
          </p:cNvPicPr>
          <p:nvPr/>
        </p:nvPicPr>
        <p:blipFill>
          <a:blip r:embed="rId2"/>
          <a:stretch>
            <a:fillRect/>
          </a:stretch>
        </p:blipFill>
        <p:spPr>
          <a:xfrm>
            <a:off x="274320" y="1188720"/>
            <a:ext cx="5303520" cy="4114800"/>
          </a:xfrm>
          <a:prstGeom prst="rect">
            <a:avLst/>
          </a:prstGeom>
        </p:spPr>
      </p:pic>
      <p:pic>
        <p:nvPicPr>
          <p:cNvPr id="5" name="Picture 4" descr="quality_radar_comparison.png"/>
          <p:cNvPicPr>
            <a:picLocks noChangeAspect="1"/>
          </p:cNvPicPr>
          <p:nvPr/>
        </p:nvPicPr>
        <p:blipFill>
          <a:blip r:embed="rId3"/>
          <a:stretch>
            <a:fillRect/>
          </a:stretch>
        </p:blipFill>
        <p:spPr>
          <a:xfrm>
            <a:off x="5760720" y="1188720"/>
            <a:ext cx="4114800" cy="4114800"/>
          </a:xfrm>
          <a:prstGeom prst="rect">
            <a:avLst/>
          </a:prstGeom>
        </p:spPr>
      </p:pic>
      <p:sp>
        <p:nvSpPr>
          <p:cNvPr id="6" name="Rectangle 5"/>
          <p:cNvSpPr/>
          <p:nvPr/>
        </p:nvSpPr>
        <p:spPr>
          <a:xfrm>
            <a:off x="274320" y="5486400"/>
            <a:ext cx="11612880" cy="109728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5532120"/>
            <a:ext cx="2743200" cy="274320"/>
          </a:xfrm>
          <a:prstGeom prst="rect">
            <a:avLst/>
          </a:prstGeom>
          <a:noFill/>
        </p:spPr>
        <p:txBody>
          <a:bodyPr wrap="square">
            <a:spAutoFit/>
          </a:bodyPr>
          <a:lstStyle/>
          <a:p>
            <a:pPr algn="l">
              <a:defRPr sz="1500" b="1">
                <a:solidFill>
                  <a:srgbClr val="FF8C00"/>
                </a:solidFill>
                <a:latin typeface="Calibri"/>
              </a:defRPr>
            </a:pPr>
            <a:r>
              <a:t>Teknik Borc Gostergeleri:</a:t>
            </a:r>
          </a:p>
        </p:txBody>
      </p:sp>
      <p:sp>
        <p:nvSpPr>
          <p:cNvPr id="8" name="TextBox 7"/>
          <p:cNvSpPr txBox="1"/>
          <p:nvPr/>
        </p:nvSpPr>
        <p:spPr>
          <a:xfrm>
            <a:off x="457200" y="5852160"/>
            <a:ext cx="2743200" cy="457200"/>
          </a:xfrm>
          <a:prstGeom prst="rect">
            <a:avLst/>
          </a:prstGeom>
          <a:noFill/>
        </p:spPr>
        <p:txBody>
          <a:bodyPr wrap="square">
            <a:spAutoFit/>
          </a:bodyPr>
          <a:lstStyle/>
          <a:p>
            <a:pPr algn="l">
              <a:defRPr sz="1200" b="0">
                <a:solidFill>
                  <a:srgbClr val="333333"/>
                </a:solidFill>
                <a:latin typeface="Calibri"/>
              </a:defRPr>
            </a:pPr>
            <a:r>
              <a:t>  LCOM ort. 18-27: SRP ihlalleri</a:t>
            </a:r>
          </a:p>
        </p:txBody>
      </p:sp>
      <p:sp>
        <p:nvSpPr>
          <p:cNvPr id="9" name="TextBox 8"/>
          <p:cNvSpPr txBox="1"/>
          <p:nvPr/>
        </p:nvSpPr>
        <p:spPr>
          <a:xfrm>
            <a:off x="3383280" y="5852160"/>
            <a:ext cx="2743200" cy="457200"/>
          </a:xfrm>
          <a:prstGeom prst="rect">
            <a:avLst/>
          </a:prstGeom>
          <a:noFill/>
        </p:spPr>
        <p:txBody>
          <a:bodyPr wrap="square">
            <a:spAutoFit/>
          </a:bodyPr>
          <a:lstStyle/>
          <a:p>
            <a:pPr algn="l">
              <a:defRPr sz="1200" b="1">
                <a:solidFill>
                  <a:srgbClr val="E74C3C"/>
                </a:solidFill>
                <a:latin typeface="Calibri"/>
              </a:defRPr>
            </a:pPr>
            <a:r>
              <a:t>  Max CBO = 217: God Class</a:t>
            </a:r>
          </a:p>
        </p:txBody>
      </p:sp>
      <p:sp>
        <p:nvSpPr>
          <p:cNvPr id="10" name="TextBox 9"/>
          <p:cNvSpPr txBox="1"/>
          <p:nvPr/>
        </p:nvSpPr>
        <p:spPr>
          <a:xfrm>
            <a:off x="6309360" y="5852160"/>
            <a:ext cx="2743200" cy="457200"/>
          </a:xfrm>
          <a:prstGeom prst="rect">
            <a:avLst/>
          </a:prstGeom>
          <a:noFill/>
        </p:spPr>
        <p:txBody>
          <a:bodyPr wrap="square">
            <a:spAutoFit/>
          </a:bodyPr>
          <a:lstStyle/>
          <a:p>
            <a:pPr algn="l">
              <a:defRPr sz="1200" b="1">
                <a:solidFill>
                  <a:srgbClr val="E74C3C"/>
                </a:solidFill>
                <a:latin typeface="Calibri"/>
              </a:defRPr>
            </a:pPr>
            <a:r>
              <a:t>  Max WMC = 318: Asiri karmasiklik</a:t>
            </a:r>
          </a:p>
        </p:txBody>
      </p:sp>
      <p:sp>
        <p:nvSpPr>
          <p:cNvPr id="11" name="TextBox 10"/>
          <p:cNvSpPr txBox="1"/>
          <p:nvPr/>
        </p:nvSpPr>
        <p:spPr>
          <a:xfrm>
            <a:off x="9235440" y="5852160"/>
            <a:ext cx="2743200" cy="457200"/>
          </a:xfrm>
          <a:prstGeom prst="rect">
            <a:avLst/>
          </a:prstGeom>
          <a:noFill/>
        </p:spPr>
        <p:txBody>
          <a:bodyPr wrap="square">
            <a:spAutoFit/>
          </a:bodyPr>
          <a:lstStyle/>
          <a:p>
            <a:pPr algn="l">
              <a:defRPr sz="1200" b="0">
                <a:solidFill>
                  <a:srgbClr val="333333"/>
                </a:solidFill>
                <a:latin typeface="Calibri"/>
              </a:defRPr>
            </a:pPr>
            <a:r>
              <a:t>  Max DIT = 7 (sabit): Kontrol altinda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LLM Degerlendirme Karsilastirmasi</a:t>
            </a:r>
          </a:p>
        </p:txBody>
      </p:sp>
      <p:sp>
        <p:nvSpPr>
          <p:cNvPr id="4" name="Rectangle 3"/>
          <p:cNvSpPr/>
          <p:nvPr/>
        </p:nvSpPr>
        <p:spPr>
          <a:xfrm>
            <a:off x="274320" y="1188720"/>
            <a:ext cx="3749039" cy="54864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34440"/>
            <a:ext cx="3566160" cy="457200"/>
          </a:xfrm>
          <a:prstGeom prst="rect">
            <a:avLst/>
          </a:prstGeom>
          <a:noFill/>
        </p:spPr>
        <p:txBody>
          <a:bodyPr wrap="square">
            <a:spAutoFit/>
          </a:bodyPr>
          <a:lstStyle/>
          <a:p>
            <a:pPr algn="ctr">
              <a:defRPr sz="1800" b="1">
                <a:solidFill>
                  <a:srgbClr val="FFFFFF"/>
                </a:solidFill>
                <a:latin typeface="Calibri"/>
              </a:defRPr>
            </a:pPr>
            <a:r>
              <a:t>ChatGPT (GPT-4)</a:t>
            </a:r>
          </a:p>
        </p:txBody>
      </p:sp>
      <p:sp>
        <p:nvSpPr>
          <p:cNvPr id="6" name="Rectangle 5"/>
          <p:cNvSpPr/>
          <p:nvPr/>
        </p:nvSpPr>
        <p:spPr>
          <a:xfrm>
            <a:off x="274320" y="1737360"/>
            <a:ext cx="3749039" cy="320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79" y="1828800"/>
            <a:ext cx="3474720" cy="3017520"/>
          </a:xfrm>
          <a:prstGeom prst="rect">
            <a:avLst/>
          </a:prstGeom>
          <a:noFill/>
        </p:spPr>
        <p:txBody>
          <a:bodyPr wrap="square">
            <a:spAutoFit/>
          </a:bodyPr>
          <a:lstStyle/>
          <a:p>
            <a:pPr>
              <a:spcAft>
                <a:spcPts val="400"/>
              </a:spcAft>
              <a:defRPr sz="1300">
                <a:solidFill>
                  <a:srgbClr val="333333"/>
                </a:solidFill>
                <a:latin typeface="Calibri"/>
              </a:defRPr>
            </a:pPr>
            <a:r>
              <a:t>Yaklasim: Dengeli, pratik</a:t>
            </a:r>
          </a:p>
          <a:p>
            <a:pPr>
              <a:spcAft>
                <a:spcPts val="400"/>
              </a:spcAft>
              <a:defRPr sz="1300">
                <a:solidFill>
                  <a:srgbClr val="333333"/>
                </a:solidFill>
                <a:latin typeface="Calibri"/>
              </a:defRPr>
            </a:pPr>
            <a:r>
              <a:t>v2.16: 'Borcun turu degismis'</a:t>
            </a:r>
          </a:p>
          <a:p>
            <a:pPr>
              <a:spcAft>
                <a:spcPts val="400"/>
              </a:spcAft>
              <a:defRPr sz="1300">
                <a:solidFill>
                  <a:srgbClr val="333333"/>
                </a:solidFill>
                <a:latin typeface="Calibri"/>
              </a:defRPr>
            </a:pPr>
            <a:r>
              <a:t>Teknik borc: Orta</a:t>
            </a:r>
          </a:p>
          <a:p>
            <a:pPr>
              <a:spcAft>
                <a:spcPts val="400"/>
              </a:spcAft>
              <a:defRPr sz="1300">
                <a:solidFill>
                  <a:srgbClr val="333333"/>
                </a:solidFill>
                <a:latin typeface="Calibri"/>
              </a:defRPr>
            </a:pPr>
            <a:r>
              <a:t>v3.0: 'Kararli durum'</a:t>
            </a:r>
          </a:p>
          <a:p>
            <a:pPr>
              <a:spcAft>
                <a:spcPts val="400"/>
              </a:spcAft>
              <a:defRPr sz="1300">
                <a:solidFill>
                  <a:srgbClr val="333333"/>
                </a:solidFill>
                <a:latin typeface="Calibri"/>
              </a:defRPr>
            </a:pPr>
            <a:r>
              <a:t>Oneri: DDD, Facade, Event-Driven</a:t>
            </a:r>
          </a:p>
          <a:p>
            <a:pPr>
              <a:spcAft>
                <a:spcPts val="400"/>
              </a:spcAft>
              <a:defRPr sz="1300">
                <a:solidFill>
                  <a:srgbClr val="333333"/>
                </a:solidFill>
                <a:latin typeface="Calibri"/>
              </a:defRPr>
            </a:pPr>
            <a:r>
              <a:t>Mimari tani: 'Iyi ayristirmis</a:t>
            </a:r>
          </a:p>
          <a:p>
            <a:pPr>
              <a:spcAft>
                <a:spcPts val="400"/>
              </a:spcAft>
              <a:defRPr sz="1300">
                <a:solidFill>
                  <a:srgbClr val="333333"/>
                </a:solidFill>
                <a:latin typeface="Calibri"/>
              </a:defRPr>
            </a:pPr>
            <a:r>
              <a:t>ama siki entegre'</a:t>
            </a:r>
          </a:p>
        </p:txBody>
      </p:sp>
      <p:sp>
        <p:nvSpPr>
          <p:cNvPr id="8" name="Rectangle 7"/>
          <p:cNvSpPr/>
          <p:nvPr/>
        </p:nvSpPr>
        <p:spPr>
          <a:xfrm>
            <a:off x="4251959" y="1188720"/>
            <a:ext cx="3749039" cy="54864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399" y="1234440"/>
            <a:ext cx="3566160" cy="457200"/>
          </a:xfrm>
          <a:prstGeom prst="rect">
            <a:avLst/>
          </a:prstGeom>
          <a:noFill/>
        </p:spPr>
        <p:txBody>
          <a:bodyPr wrap="square">
            <a:spAutoFit/>
          </a:bodyPr>
          <a:lstStyle/>
          <a:p>
            <a:pPr algn="ctr">
              <a:defRPr sz="1800" b="1">
                <a:solidFill>
                  <a:srgbClr val="FFFFFF"/>
                </a:solidFill>
                <a:latin typeface="Calibri"/>
              </a:defRPr>
            </a:pPr>
            <a:r>
              <a:t>Google Gemini</a:t>
            </a:r>
          </a:p>
        </p:txBody>
      </p:sp>
      <p:sp>
        <p:nvSpPr>
          <p:cNvPr id="10" name="Rectangle 9"/>
          <p:cNvSpPr/>
          <p:nvPr/>
        </p:nvSpPr>
        <p:spPr>
          <a:xfrm>
            <a:off x="4251959" y="1737360"/>
            <a:ext cx="3749039" cy="320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828800"/>
            <a:ext cx="3474720" cy="3017520"/>
          </a:xfrm>
          <a:prstGeom prst="rect">
            <a:avLst/>
          </a:prstGeom>
          <a:noFill/>
        </p:spPr>
        <p:txBody>
          <a:bodyPr wrap="square">
            <a:spAutoFit/>
          </a:bodyPr>
          <a:lstStyle/>
          <a:p>
            <a:pPr>
              <a:spcAft>
                <a:spcPts val="400"/>
              </a:spcAft>
              <a:defRPr sz="1300">
                <a:solidFill>
                  <a:srgbClr val="333333"/>
                </a:solidFill>
                <a:latin typeface="Calibri"/>
              </a:defRPr>
            </a:pPr>
            <a:r>
              <a:t>Yaklasim: Elestirel, risk odakli</a:t>
            </a:r>
          </a:p>
          <a:p>
            <a:pPr>
              <a:spcAft>
                <a:spcPts val="400"/>
              </a:spcAft>
              <a:defRPr sz="1300">
                <a:solidFill>
                  <a:srgbClr val="333333"/>
                </a:solidFill>
                <a:latin typeface="Calibri"/>
              </a:defRPr>
            </a:pPr>
            <a:r>
              <a:t>v2.16: 'Katilasmis (rigid)'</a:t>
            </a:r>
          </a:p>
          <a:p>
            <a:pPr>
              <a:spcAft>
                <a:spcPts val="400"/>
              </a:spcAft>
              <a:defRPr sz="1300">
                <a:solidFill>
                  <a:srgbClr val="333333"/>
                </a:solidFill>
                <a:latin typeface="Calibri"/>
              </a:defRPr>
            </a:pPr>
            <a:r>
              <a:t>Teknik borc: Yuksek</a:t>
            </a:r>
          </a:p>
          <a:p>
            <a:pPr>
              <a:spcAft>
                <a:spcPts val="400"/>
              </a:spcAft>
              <a:defRPr sz="1300">
                <a:solidFill>
                  <a:srgbClr val="333333"/>
                </a:solidFill>
                <a:latin typeface="Calibri"/>
              </a:defRPr>
            </a:pPr>
            <a:r>
              <a:t>v3.0: 'Inovasyon kaybi'</a:t>
            </a:r>
          </a:p>
          <a:p>
            <a:pPr>
              <a:spcAft>
                <a:spcPts val="400"/>
              </a:spcAft>
              <a:defRPr sz="1300">
                <a:solidFill>
                  <a:srgbClr val="333333"/>
                </a:solidFill>
                <a:latin typeface="Calibri"/>
              </a:defRPr>
            </a:pPr>
            <a:r>
              <a:t>Oneri: Hexagonal Architecture</a:t>
            </a:r>
          </a:p>
          <a:p>
            <a:pPr>
              <a:spcAft>
                <a:spcPts val="400"/>
              </a:spcAft>
              <a:defRPr sz="1300">
                <a:solidFill>
                  <a:srgbClr val="333333"/>
                </a:solidFill>
                <a:latin typeface="Calibri"/>
              </a:defRPr>
            </a:pPr>
            <a:r>
              <a:t>Mimari tani: 'Big Ball of Mud</a:t>
            </a:r>
          </a:p>
          <a:p>
            <a:pPr>
              <a:spcAft>
                <a:spcPts val="400"/>
              </a:spcAft>
              <a:defRPr sz="1300">
                <a:solidFill>
                  <a:srgbClr val="333333"/>
                </a:solidFill>
                <a:latin typeface="Calibri"/>
              </a:defRPr>
            </a:pPr>
            <a:r>
              <a:t>-&gt; Distributed Spaghetti'</a:t>
            </a:r>
          </a:p>
        </p:txBody>
      </p:sp>
      <p:sp>
        <p:nvSpPr>
          <p:cNvPr id="12" name="Rectangle 11"/>
          <p:cNvSpPr/>
          <p:nvPr/>
        </p:nvSpPr>
        <p:spPr>
          <a:xfrm>
            <a:off x="8229600" y="1188720"/>
            <a:ext cx="3749039" cy="54864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234440"/>
            <a:ext cx="3566160" cy="457200"/>
          </a:xfrm>
          <a:prstGeom prst="rect">
            <a:avLst/>
          </a:prstGeom>
          <a:noFill/>
        </p:spPr>
        <p:txBody>
          <a:bodyPr wrap="square">
            <a:spAutoFit/>
          </a:bodyPr>
          <a:lstStyle/>
          <a:p>
            <a:pPr algn="ctr">
              <a:defRPr sz="1800" b="1">
                <a:solidFill>
                  <a:srgbClr val="FFFFFF"/>
                </a:solidFill>
                <a:latin typeface="Calibri"/>
              </a:defRPr>
            </a:pPr>
            <a:r>
              <a:t>Claude (Anthropic)</a:t>
            </a:r>
          </a:p>
        </p:txBody>
      </p:sp>
      <p:sp>
        <p:nvSpPr>
          <p:cNvPr id="14" name="Rectangle 13"/>
          <p:cNvSpPr/>
          <p:nvPr/>
        </p:nvSpPr>
        <p:spPr>
          <a:xfrm>
            <a:off x="8229600" y="1737360"/>
            <a:ext cx="3749039" cy="320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1828800"/>
            <a:ext cx="3474720" cy="3017520"/>
          </a:xfrm>
          <a:prstGeom prst="rect">
            <a:avLst/>
          </a:prstGeom>
          <a:noFill/>
        </p:spPr>
        <p:txBody>
          <a:bodyPr wrap="square">
            <a:spAutoFit/>
          </a:bodyPr>
          <a:lstStyle/>
          <a:p>
            <a:pPr>
              <a:spcAft>
                <a:spcPts val="400"/>
              </a:spcAft>
              <a:defRPr sz="1300">
                <a:solidFill>
                  <a:srgbClr val="333333"/>
                </a:solidFill>
                <a:latin typeface="Calibri"/>
              </a:defRPr>
            </a:pPr>
            <a:r>
              <a:t>Yaklasim: Sistematik, nicel</a:t>
            </a:r>
          </a:p>
          <a:p>
            <a:pPr>
              <a:spcAft>
                <a:spcPts val="400"/>
              </a:spcAft>
              <a:defRPr sz="1300">
                <a:solidFill>
                  <a:srgbClr val="333333"/>
                </a:solidFill>
                <a:latin typeface="Calibri"/>
              </a:defRPr>
            </a:pPr>
            <a:r>
              <a:t>v2.16: 'Paradoksal iyilesme'</a:t>
            </a:r>
          </a:p>
          <a:p>
            <a:pPr>
              <a:spcAft>
                <a:spcPts val="400"/>
              </a:spcAft>
              <a:defRPr sz="1300">
                <a:solidFill>
                  <a:srgbClr val="333333"/>
                </a:solidFill>
                <a:latin typeface="Calibri"/>
              </a:defRPr>
            </a:pPr>
            <a:r>
              <a:t>Teknik borc: Orta-Yuksek</a:t>
            </a:r>
          </a:p>
          <a:p>
            <a:pPr>
              <a:spcAft>
                <a:spcPts val="400"/>
              </a:spcAft>
              <a:defRPr sz="1300">
                <a:solidFill>
                  <a:srgbClr val="333333"/>
                </a:solidFill>
                <a:latin typeface="Calibri"/>
              </a:defRPr>
            </a:pPr>
            <a:r>
              <a:t>v3.0: 'Donma noktasi'</a:t>
            </a:r>
          </a:p>
          <a:p>
            <a:pPr>
              <a:spcAft>
                <a:spcPts val="400"/>
              </a:spcAft>
              <a:defRPr sz="1300">
                <a:solidFill>
                  <a:srgbClr val="333333"/>
                </a:solidFill>
                <a:latin typeface="Calibri"/>
              </a:defRPr>
            </a:pPr>
            <a:r>
              <a:t>Oneri: SRP, Composition &gt; Inheritance</a:t>
            </a:r>
          </a:p>
          <a:p>
            <a:pPr>
              <a:spcAft>
                <a:spcPts val="400"/>
              </a:spcAft>
              <a:defRPr sz="1300">
                <a:solidFill>
                  <a:srgbClr val="333333"/>
                </a:solidFill>
                <a:latin typeface="Calibri"/>
              </a:defRPr>
            </a:pPr>
            <a:r>
              <a:t>Mimari tani: 'Organik buyume</a:t>
            </a:r>
          </a:p>
          <a:p>
            <a:pPr>
              <a:spcAft>
                <a:spcPts val="400"/>
              </a:spcAft>
              <a:defRPr sz="1300">
                <a:solidFill>
                  <a:srgbClr val="333333"/>
                </a:solidFill>
                <a:latin typeface="Calibri"/>
              </a:defRPr>
            </a:pPr>
            <a:r>
              <a:t>-&gt; yapisal donusum'</a:t>
            </a:r>
          </a:p>
        </p:txBody>
      </p:sp>
      <p:sp>
        <p:nvSpPr>
          <p:cNvPr id="16" name="Rectangle 15"/>
          <p:cNvSpPr/>
          <p:nvPr/>
        </p:nvSpPr>
        <p:spPr>
          <a:xfrm>
            <a:off x="274320" y="5120640"/>
            <a:ext cx="11612880" cy="1554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5166360"/>
            <a:ext cx="3657600" cy="274320"/>
          </a:xfrm>
          <a:prstGeom prst="rect">
            <a:avLst/>
          </a:prstGeom>
          <a:noFill/>
        </p:spPr>
        <p:txBody>
          <a:bodyPr wrap="square">
            <a:spAutoFit/>
          </a:bodyPr>
          <a:lstStyle/>
          <a:p>
            <a:pPr algn="l">
              <a:defRPr sz="1500" b="1">
                <a:solidFill>
                  <a:srgbClr val="00528A"/>
                </a:solidFill>
                <a:latin typeface="Calibri"/>
              </a:defRPr>
            </a:pPr>
            <a:r>
              <a:t>Uc Modelin Hemfikir Oldugu Tespitler:</a:t>
            </a:r>
          </a:p>
        </p:txBody>
      </p:sp>
      <p:sp>
        <p:nvSpPr>
          <p:cNvPr id="18" name="TextBox 17"/>
          <p:cNvSpPr txBox="1"/>
          <p:nvPr/>
        </p:nvSpPr>
        <p:spPr>
          <a:xfrm>
            <a:off x="457200" y="5532120"/>
            <a:ext cx="11247120" cy="914400"/>
          </a:xfrm>
          <a:prstGeom prst="rect">
            <a:avLst/>
          </a:prstGeom>
          <a:noFill/>
        </p:spPr>
        <p:txBody>
          <a:bodyPr wrap="square">
            <a:spAutoFit/>
          </a:bodyPr>
          <a:lstStyle/>
          <a:p>
            <a:pPr>
              <a:spcAft>
                <a:spcPts val="600"/>
              </a:spcAft>
              <a:defRPr sz="1300">
                <a:solidFill>
                  <a:srgbClr val="333333"/>
                </a:solidFill>
                <a:latin typeface="Calibri"/>
              </a:defRPr>
            </a:pPr>
            <a:r>
              <a:t>1. Coupling artisi en kritik risk  |  2. v2.16 kirilma noktasi  |  3. LCOM artisi = SRP ihlali</a:t>
            </a:r>
          </a:p>
          <a:p>
            <a:pPr>
              <a:spcAft>
                <a:spcPts val="600"/>
              </a:spcAft>
              <a:defRPr sz="1300">
                <a:solidFill>
                  <a:srgbClr val="333333"/>
                </a:solidFill>
                <a:latin typeface="Calibri"/>
              </a:defRPr>
            </a:pPr>
            <a:r>
              <a:t>4. v2.16'da eklenen siniflar daha basit  |  5. God Class ayristirmasi oncelikli refactoring  |  6. v3.0 stabil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698480" cy="731520"/>
          </a:xfrm>
          <a:prstGeom prst="rect">
            <a:avLst/>
          </a:prstGeom>
          <a:noFill/>
        </p:spPr>
        <p:txBody>
          <a:bodyPr wrap="square">
            <a:spAutoFit/>
          </a:bodyPr>
          <a:lstStyle/>
          <a:p>
            <a:pPr algn="l">
              <a:defRPr sz="3200" b="1">
                <a:solidFill>
                  <a:srgbClr val="FFFFFF"/>
                </a:solidFill>
                <a:latin typeface="Calibri"/>
              </a:defRPr>
            </a:pPr>
            <a:r>
              <a:t>Sonuc ve Degerlendirme</a:t>
            </a:r>
          </a:p>
        </p:txBody>
      </p:sp>
      <p:sp>
        <p:nvSpPr>
          <p:cNvPr id="4" name="Rectangle 3"/>
          <p:cNvSpPr/>
          <p:nvPr/>
        </p:nvSpPr>
        <p:spPr>
          <a:xfrm>
            <a:off x="274320" y="1188720"/>
            <a:ext cx="2194560" cy="27432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0"/>
            <a:ext cx="2011680" cy="457200"/>
          </a:xfrm>
          <a:prstGeom prst="rect">
            <a:avLst/>
          </a:prstGeom>
          <a:noFill/>
        </p:spPr>
        <p:txBody>
          <a:bodyPr wrap="square">
            <a:spAutoFit/>
          </a:bodyPr>
          <a:lstStyle/>
          <a:p>
            <a:pPr algn="ctr">
              <a:defRPr sz="2800" b="1">
                <a:solidFill>
                  <a:srgbClr val="FFFFFF"/>
                </a:solidFill>
                <a:latin typeface="Calibri"/>
              </a:defRPr>
            </a:pPr>
            <a:r>
              <a:t>1</a:t>
            </a:r>
          </a:p>
        </p:txBody>
      </p:sp>
      <p:sp>
        <p:nvSpPr>
          <p:cNvPr id="6" name="TextBox 5"/>
          <p:cNvSpPr txBox="1"/>
          <p:nvPr/>
        </p:nvSpPr>
        <p:spPr>
          <a:xfrm>
            <a:off x="365760" y="1737360"/>
            <a:ext cx="2011680" cy="731520"/>
          </a:xfrm>
          <a:prstGeom prst="rect">
            <a:avLst/>
          </a:prstGeom>
          <a:noFill/>
        </p:spPr>
        <p:txBody>
          <a:bodyPr wrap="square">
            <a:spAutoFit/>
          </a:bodyPr>
          <a:lstStyle/>
          <a:p>
            <a:pPr algn="ctr">
              <a:defRPr sz="1400" b="1">
                <a:solidFill>
                  <a:srgbClr val="FFFFFF"/>
                </a:solidFill>
                <a:latin typeface="Calibri"/>
              </a:defRPr>
            </a:pPr>
            <a:r>
              <a:t>Yazilim buyumesi kaliteyi etkiler</a:t>
            </a:r>
          </a:p>
        </p:txBody>
      </p:sp>
      <p:sp>
        <p:nvSpPr>
          <p:cNvPr id="7" name="TextBox 6"/>
          <p:cNvSpPr txBox="1"/>
          <p:nvPr/>
        </p:nvSpPr>
        <p:spPr>
          <a:xfrm>
            <a:off x="365760" y="2560320"/>
            <a:ext cx="2011680" cy="1097280"/>
          </a:xfrm>
          <a:prstGeom prst="rect">
            <a:avLst/>
          </a:prstGeom>
          <a:noFill/>
        </p:spPr>
        <p:txBody>
          <a:bodyPr wrap="square">
            <a:spAutoFit/>
          </a:bodyPr>
          <a:lstStyle/>
          <a:p>
            <a:pPr algn="ctr">
              <a:defRPr sz="1100" b="0">
                <a:solidFill>
                  <a:srgbClr val="E0E0E0"/>
                </a:solidFill>
                <a:latin typeface="Calibri"/>
              </a:defRPr>
            </a:pPr>
            <a:r>
              <a:t>288 -&gt; 609 sinif (%111)</a:t>
            </a:r>
            <a:br/>
            <a:r>
              <a:t>Extendibility %26.6 dusus</a:t>
            </a:r>
          </a:p>
        </p:txBody>
      </p:sp>
      <p:sp>
        <p:nvSpPr>
          <p:cNvPr id="8" name="Rectangle 7"/>
          <p:cNvSpPr/>
          <p:nvPr/>
        </p:nvSpPr>
        <p:spPr>
          <a:xfrm>
            <a:off x="2651760" y="1188720"/>
            <a:ext cx="2194560" cy="274320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280160"/>
            <a:ext cx="2011680" cy="457200"/>
          </a:xfrm>
          <a:prstGeom prst="rect">
            <a:avLst/>
          </a:prstGeom>
          <a:noFill/>
        </p:spPr>
        <p:txBody>
          <a:bodyPr wrap="square">
            <a:spAutoFit/>
          </a:bodyPr>
          <a:lstStyle/>
          <a:p>
            <a:pPr algn="ctr">
              <a:defRPr sz="2800" b="1">
                <a:solidFill>
                  <a:srgbClr val="FFFFFF"/>
                </a:solidFill>
                <a:latin typeface="Calibri"/>
              </a:defRPr>
            </a:pPr>
            <a:r>
              <a:t>2</a:t>
            </a:r>
          </a:p>
        </p:txBody>
      </p:sp>
      <p:sp>
        <p:nvSpPr>
          <p:cNvPr id="10" name="TextBox 9"/>
          <p:cNvSpPr txBox="1"/>
          <p:nvPr/>
        </p:nvSpPr>
        <p:spPr>
          <a:xfrm>
            <a:off x="2743200" y="1737360"/>
            <a:ext cx="2011680" cy="731520"/>
          </a:xfrm>
          <a:prstGeom prst="rect">
            <a:avLst/>
          </a:prstGeom>
          <a:noFill/>
        </p:spPr>
        <p:txBody>
          <a:bodyPr wrap="square">
            <a:spAutoFit/>
          </a:bodyPr>
          <a:lstStyle/>
          <a:p>
            <a:pPr algn="ctr">
              <a:defRPr sz="1400" b="1">
                <a:solidFill>
                  <a:srgbClr val="FFFFFF"/>
                </a:solidFill>
                <a:latin typeface="Calibri"/>
              </a:defRPr>
            </a:pPr>
            <a:r>
              <a:t>Coupling en kritik sorun</a:t>
            </a:r>
          </a:p>
        </p:txBody>
      </p:sp>
      <p:sp>
        <p:nvSpPr>
          <p:cNvPr id="11" name="TextBox 10"/>
          <p:cNvSpPr txBox="1"/>
          <p:nvPr/>
        </p:nvSpPr>
        <p:spPr>
          <a:xfrm>
            <a:off x="2743200" y="2560320"/>
            <a:ext cx="2011680" cy="1097280"/>
          </a:xfrm>
          <a:prstGeom prst="rect">
            <a:avLst/>
          </a:prstGeom>
          <a:noFill/>
        </p:spPr>
        <p:txBody>
          <a:bodyPr wrap="square">
            <a:spAutoFit/>
          </a:bodyPr>
          <a:lstStyle/>
          <a:p>
            <a:pPr algn="ctr">
              <a:defRPr sz="1100" b="0">
                <a:solidFill>
                  <a:srgbClr val="E0E0E0"/>
                </a:solidFill>
                <a:latin typeface="Calibri"/>
              </a:defRPr>
            </a:pPr>
            <a:r>
              <a:t>CBO: 8.58 -&gt; 10.47 (%22.1)</a:t>
            </a:r>
            <a:br/>
            <a:r>
              <a:t>Max CBO = 217 (God Class)</a:t>
            </a:r>
          </a:p>
        </p:txBody>
      </p:sp>
      <p:sp>
        <p:nvSpPr>
          <p:cNvPr id="12" name="Rectangle 11"/>
          <p:cNvSpPr/>
          <p:nvPr/>
        </p:nvSpPr>
        <p:spPr>
          <a:xfrm>
            <a:off x="5029200" y="1188720"/>
            <a:ext cx="2194560" cy="274320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0640" y="1280160"/>
            <a:ext cx="2011680" cy="457200"/>
          </a:xfrm>
          <a:prstGeom prst="rect">
            <a:avLst/>
          </a:prstGeom>
          <a:noFill/>
        </p:spPr>
        <p:txBody>
          <a:bodyPr wrap="square">
            <a:spAutoFit/>
          </a:bodyPr>
          <a:lstStyle/>
          <a:p>
            <a:pPr algn="ctr">
              <a:defRPr sz="2800" b="1">
                <a:solidFill>
                  <a:srgbClr val="FFFFFF"/>
                </a:solidFill>
                <a:latin typeface="Calibri"/>
              </a:defRPr>
            </a:pPr>
            <a:r>
              <a:t>3</a:t>
            </a:r>
          </a:p>
        </p:txBody>
      </p:sp>
      <p:sp>
        <p:nvSpPr>
          <p:cNvPr id="14" name="TextBox 13"/>
          <p:cNvSpPr txBox="1"/>
          <p:nvPr/>
        </p:nvSpPr>
        <p:spPr>
          <a:xfrm>
            <a:off x="5120640" y="1737360"/>
            <a:ext cx="2011680" cy="731520"/>
          </a:xfrm>
          <a:prstGeom prst="rect">
            <a:avLst/>
          </a:prstGeom>
          <a:noFill/>
        </p:spPr>
        <p:txBody>
          <a:bodyPr wrap="square">
            <a:spAutoFit/>
          </a:bodyPr>
          <a:lstStyle/>
          <a:p>
            <a:pPr algn="ctr">
              <a:defRPr sz="1400" b="1">
                <a:solidFill>
                  <a:srgbClr val="FFFFFF"/>
                </a:solidFill>
                <a:latin typeface="Calibri"/>
              </a:defRPr>
            </a:pPr>
            <a:r>
              <a:t>v2.16 kirilma noktasi</a:t>
            </a:r>
          </a:p>
        </p:txBody>
      </p:sp>
      <p:sp>
        <p:nvSpPr>
          <p:cNvPr id="15" name="TextBox 14"/>
          <p:cNvSpPr txBox="1"/>
          <p:nvPr/>
        </p:nvSpPr>
        <p:spPr>
          <a:xfrm>
            <a:off x="5120640" y="2560320"/>
            <a:ext cx="2011680" cy="1097280"/>
          </a:xfrm>
          <a:prstGeom prst="rect">
            <a:avLst/>
          </a:prstGeom>
          <a:noFill/>
        </p:spPr>
        <p:txBody>
          <a:bodyPr wrap="square">
            <a:spAutoFit/>
          </a:bodyPr>
          <a:lstStyle/>
          <a:p>
            <a:pPr algn="ctr">
              <a:defRPr sz="1100" b="0">
                <a:solidFill>
                  <a:srgbClr val="E0E0E0"/>
                </a:solidFill>
                <a:latin typeface="Calibri"/>
              </a:defRPr>
            </a:pPr>
            <a:r>
              <a:t>227 yeni sinif, WMC dusus</a:t>
            </a:r>
            <a:br/>
            <a:r>
              <a:t>ama DAM %22 azalma</a:t>
            </a:r>
          </a:p>
        </p:txBody>
      </p:sp>
      <p:sp>
        <p:nvSpPr>
          <p:cNvPr id="16" name="Rectangle 15"/>
          <p:cNvSpPr/>
          <p:nvPr/>
        </p:nvSpPr>
        <p:spPr>
          <a:xfrm>
            <a:off x="7406640" y="1188720"/>
            <a:ext cx="2194560" cy="27432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0" y="1280160"/>
            <a:ext cx="2011680" cy="457200"/>
          </a:xfrm>
          <a:prstGeom prst="rect">
            <a:avLst/>
          </a:prstGeom>
          <a:noFill/>
        </p:spPr>
        <p:txBody>
          <a:bodyPr wrap="square">
            <a:spAutoFit/>
          </a:bodyPr>
          <a:lstStyle/>
          <a:p>
            <a:pPr algn="ctr">
              <a:defRPr sz="2800" b="1">
                <a:solidFill>
                  <a:srgbClr val="FFFFFF"/>
                </a:solidFill>
                <a:latin typeface="Calibri"/>
              </a:defRPr>
            </a:pPr>
            <a:r>
              <a:t>4</a:t>
            </a:r>
          </a:p>
        </p:txBody>
      </p:sp>
      <p:sp>
        <p:nvSpPr>
          <p:cNvPr id="18" name="TextBox 17"/>
          <p:cNvSpPr txBox="1"/>
          <p:nvPr/>
        </p:nvSpPr>
        <p:spPr>
          <a:xfrm>
            <a:off x="7498080" y="1737360"/>
            <a:ext cx="2011680" cy="731520"/>
          </a:xfrm>
          <a:prstGeom prst="rect">
            <a:avLst/>
          </a:prstGeom>
          <a:noFill/>
        </p:spPr>
        <p:txBody>
          <a:bodyPr wrap="square">
            <a:spAutoFit/>
          </a:bodyPr>
          <a:lstStyle/>
          <a:p>
            <a:pPr algn="ctr">
              <a:defRPr sz="1400" b="1">
                <a:solidFill>
                  <a:srgbClr val="FFFFFF"/>
                </a:solidFill>
                <a:latin typeface="Calibri"/>
              </a:defRPr>
            </a:pPr>
            <a:r>
              <a:t>LLM'ler metrik analizinde kullanisli</a:t>
            </a:r>
          </a:p>
        </p:txBody>
      </p:sp>
      <p:sp>
        <p:nvSpPr>
          <p:cNvPr id="19" name="TextBox 18"/>
          <p:cNvSpPr txBox="1"/>
          <p:nvPr/>
        </p:nvSpPr>
        <p:spPr>
          <a:xfrm>
            <a:off x="7498080" y="2560320"/>
            <a:ext cx="2011680" cy="1097280"/>
          </a:xfrm>
          <a:prstGeom prst="rect">
            <a:avLst/>
          </a:prstGeom>
          <a:noFill/>
        </p:spPr>
        <p:txBody>
          <a:bodyPr wrap="square">
            <a:spAutoFit/>
          </a:bodyPr>
          <a:lstStyle/>
          <a:p>
            <a:pPr algn="ctr">
              <a:defRPr sz="1100" b="0">
                <a:solidFill>
                  <a:srgbClr val="E0E0E0"/>
                </a:solidFill>
                <a:latin typeface="Calibri"/>
              </a:defRPr>
            </a:pPr>
            <a:r>
              <a:t>3 model trendleri dogru yorumladi</a:t>
            </a:r>
            <a:br/>
            <a:r>
              <a:t>Ancak baglam eksikligi sinirli</a:t>
            </a:r>
          </a:p>
        </p:txBody>
      </p:sp>
      <p:sp>
        <p:nvSpPr>
          <p:cNvPr id="20" name="Rectangle 19"/>
          <p:cNvSpPr/>
          <p:nvPr/>
        </p:nvSpPr>
        <p:spPr>
          <a:xfrm>
            <a:off x="9784080" y="1188720"/>
            <a:ext cx="2194560" cy="274320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0" y="1280160"/>
            <a:ext cx="2011680" cy="457200"/>
          </a:xfrm>
          <a:prstGeom prst="rect">
            <a:avLst/>
          </a:prstGeom>
          <a:noFill/>
        </p:spPr>
        <p:txBody>
          <a:bodyPr wrap="square">
            <a:spAutoFit/>
          </a:bodyPr>
          <a:lstStyle/>
          <a:p>
            <a:pPr algn="ctr">
              <a:defRPr sz="2800" b="1">
                <a:solidFill>
                  <a:srgbClr val="FFFFFF"/>
                </a:solidFill>
                <a:latin typeface="Calibri"/>
              </a:defRPr>
            </a:pPr>
            <a:r>
              <a:t>5</a:t>
            </a:r>
          </a:p>
        </p:txBody>
      </p:sp>
      <p:sp>
        <p:nvSpPr>
          <p:cNvPr id="22" name="TextBox 21"/>
          <p:cNvSpPr txBox="1"/>
          <p:nvPr/>
        </p:nvSpPr>
        <p:spPr>
          <a:xfrm>
            <a:off x="9875520" y="1737360"/>
            <a:ext cx="2011680" cy="731520"/>
          </a:xfrm>
          <a:prstGeom prst="rect">
            <a:avLst/>
          </a:prstGeom>
          <a:noFill/>
        </p:spPr>
        <p:txBody>
          <a:bodyPr wrap="square">
            <a:spAutoFit/>
          </a:bodyPr>
          <a:lstStyle/>
          <a:p>
            <a:pPr algn="ctr">
              <a:defRPr sz="1400" b="1">
                <a:solidFill>
                  <a:srgbClr val="FFFFFF"/>
                </a:solidFill>
                <a:latin typeface="Calibri"/>
              </a:defRPr>
            </a:pPr>
            <a:r>
              <a:t>Prompt muhendisligi kritik</a:t>
            </a:r>
          </a:p>
        </p:txBody>
      </p:sp>
      <p:sp>
        <p:nvSpPr>
          <p:cNvPr id="23" name="TextBox 22"/>
          <p:cNvSpPr txBox="1"/>
          <p:nvPr/>
        </p:nvSpPr>
        <p:spPr>
          <a:xfrm>
            <a:off x="9875520" y="2560320"/>
            <a:ext cx="2011680" cy="1097280"/>
          </a:xfrm>
          <a:prstGeom prst="rect">
            <a:avLst/>
          </a:prstGeom>
          <a:noFill/>
        </p:spPr>
        <p:txBody>
          <a:bodyPr wrap="square">
            <a:spAutoFit/>
          </a:bodyPr>
          <a:lstStyle/>
          <a:p>
            <a:pPr algn="ctr">
              <a:defRPr sz="1100" b="0">
                <a:solidFill>
                  <a:srgbClr val="E0E0E0"/>
                </a:solidFill>
                <a:latin typeface="Calibri"/>
              </a:defRPr>
            </a:pPr>
            <a:r>
              <a:t>Ham metrik + delta + spesifik soru</a:t>
            </a:r>
            <a:br/>
            <a:r>
              <a:t>= cikti derinligi artiyor</a:t>
            </a:r>
          </a:p>
        </p:txBody>
      </p:sp>
      <p:sp>
        <p:nvSpPr>
          <p:cNvPr id="24" name="Rectangle 23"/>
          <p:cNvSpPr/>
          <p:nvPr/>
        </p:nvSpPr>
        <p:spPr>
          <a:xfrm>
            <a:off x="274320" y="4206240"/>
            <a:ext cx="11612880" cy="2286000"/>
          </a:xfrm>
          <a:prstGeom prst="rect">
            <a:avLst/>
          </a:prstGeom>
          <a:solidFill>
            <a:srgbClr val="25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297680"/>
            <a:ext cx="11247120" cy="365760"/>
          </a:xfrm>
          <a:prstGeom prst="rect">
            <a:avLst/>
          </a:prstGeom>
          <a:noFill/>
        </p:spPr>
        <p:txBody>
          <a:bodyPr wrap="square">
            <a:spAutoFit/>
          </a:bodyPr>
          <a:lstStyle/>
          <a:p>
            <a:pPr algn="l">
              <a:defRPr sz="1800" b="1">
                <a:solidFill>
                  <a:srgbClr val="0096D6"/>
                </a:solidFill>
                <a:latin typeface="Calibri"/>
              </a:defRPr>
            </a:pPr>
            <a:r>
              <a:t>Gelecek Calismalar</a:t>
            </a:r>
          </a:p>
        </p:txBody>
      </p:sp>
      <p:sp>
        <p:nvSpPr>
          <p:cNvPr id="26" name="TextBox 25"/>
          <p:cNvSpPr txBox="1"/>
          <p:nvPr/>
        </p:nvSpPr>
        <p:spPr>
          <a:xfrm>
            <a:off x="457200" y="4754880"/>
            <a:ext cx="11247120" cy="1371600"/>
          </a:xfrm>
          <a:prstGeom prst="rect">
            <a:avLst/>
          </a:prstGeom>
          <a:noFill/>
        </p:spPr>
        <p:txBody>
          <a:bodyPr wrap="square">
            <a:spAutoFit/>
          </a:bodyPr>
          <a:lstStyle/>
          <a:p>
            <a:pPr>
              <a:spcAft>
                <a:spcPts val="800"/>
              </a:spcAft>
              <a:defRPr sz="1400">
                <a:solidFill>
                  <a:srgbClr val="CCCCCC"/>
                </a:solidFill>
                <a:latin typeface="Calibri"/>
              </a:defRPr>
            </a:pPr>
            <a:r>
              <a:t>-&gt; v3.1-v3.7 surumlerinin dahil edilmesi  |  En yuksek CBO/LCOM siniflarinin tekil analizi</a:t>
            </a:r>
          </a:p>
          <a:p>
            <a:pPr>
              <a:spcAft>
                <a:spcPts val="800"/>
              </a:spcAft>
              <a:defRPr sz="1400">
                <a:solidFill>
                  <a:srgbClr val="CCCCCC"/>
                </a:solidFill>
                <a:latin typeface="Calibri"/>
              </a:defRPr>
            </a:pPr>
            <a:r>
              <a:t>-&gt; Designite veya SonarQube ile capraz dogrulama  |  LLM'lere kaynak kod verilerek spesifik refactoring</a:t>
            </a:r>
          </a:p>
          <a:p>
            <a:pPr>
              <a:spcAft>
                <a:spcPts val="800"/>
              </a:spcAft>
              <a:defRPr sz="1400">
                <a:solidFill>
                  <a:srgbClr val="CCCCCC"/>
                </a:solidFill>
                <a:latin typeface="Calibri"/>
              </a:defRPr>
            </a:pPr>
            <a:r>
              <a:t>-&gt; Baska bir acik kaynak proje ile karsilastirma  |  SQALE modeli ile teknik borc maliyet tahmini</a:t>
            </a:r>
          </a:p>
        </p:txBody>
      </p:sp>
      <p:sp>
        <p:nvSpPr>
          <p:cNvPr id="27" name="TextBox 26"/>
          <p:cNvSpPr txBox="1"/>
          <p:nvPr/>
        </p:nvSpPr>
        <p:spPr>
          <a:xfrm>
            <a:off x="731520" y="6217920"/>
            <a:ext cx="10698480" cy="457200"/>
          </a:xfrm>
          <a:prstGeom prst="rect">
            <a:avLst/>
          </a:prstGeom>
          <a:noFill/>
        </p:spPr>
        <p:txBody>
          <a:bodyPr wrap="square">
            <a:spAutoFit/>
          </a:bodyPr>
          <a:lstStyle/>
          <a:p>
            <a:pPr algn="ctr">
              <a:defRPr sz="2200" b="1">
                <a:solidFill>
                  <a:srgbClr val="FFFFFF"/>
                </a:solidFill>
                <a:latin typeface="Calibri"/>
              </a:defRPr>
            </a:pPr>
            <a:r>
              <a:t>Tesekkurler  —  Sorularinizi bekliyorum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