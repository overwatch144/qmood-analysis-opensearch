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4" r:id="rId16"/>
    <p:sldId id="266" r:id="rId18"/>
    <p:sldId id="267" r:id="rId19"/>
    <p:sldId id="265" r:id="rId17"/>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5.xml"/><Relationship Id="rId17" Type="http://schemas.openxmlformats.org/officeDocument/2006/relationships/slide" Target="slides/slide8.xml"/><Relationship Id="rId18" Type="http://schemas.openxmlformats.org/officeDocument/2006/relationships/slide" Target="slides/slide6.xml"/><Relationship Id="rId1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ACILIS (15 sn):</a:t>
            </a:r>
          </a:p>
          <a:p>
            <a:r>
              <a:t>Merhaba, bugunku sunumumda OpenSearch Anomaly Detection projesinin yazilim tasarim kalitesini QMOOD modeli ile analiz ettigimiz ve 3 farkli LLM ile degerlendirdigimiz calismayi sunacagim.</a:t>
            </a:r>
          </a:p>
          <a:p/>
          <a:p>
            <a:r>
              <a:t>Proje, Java dilinde yazilmis acik kaynak bir anomali tespit eklentisidir. 12 farkli surumunu inceledik.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 OZETI (45 sn):</a:t>
            </a:r>
          </a:p>
          <a:p>
            <a:r>
              <a:t>Bu calismada OpenSearch Anomaly Detection projesini sectik. Java dilinde yazilmis, Amazon tarafindan desteklenen bir acik kaynak proje.</a:t>
            </a:r>
          </a:p>
          <a:p/>
          <a:p>
            <a:r>
              <a:t>Neden bu proje? Cunku yeterli buyuklukte — 288'den 609 sinifa buyuyen bir sistem. 70'ten fazla release tag'i var, yani zengin bir evrim sureci mevcut.</a:t>
            </a:r>
          </a:p>
          <a:p/>
          <a:p>
            <a:r>
              <a:t>12 surum sectik, buyuk sicramalar yaparak — 1.0'dan 3.0'a kadar. Amacimiz QMOOD modeli ile kalite evrimini izlemek ve ardindan ChatGPT, Gemini ve Claude'a bu verileri verip degerlendirmelerini karsilastirmak.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YONTEM (50 sn):</a:t>
            </a:r>
          </a:p>
          <a:p>
            <a:r>
              <a:t>Analiz surecimiz su sekilde isledi:</a:t>
            </a:r>
          </a:p>
          <a:p>
            <a:r>
              <a:t>1. Oncelikle repoyu klonladik ve 12 surumu sectik</a:t>
            </a:r>
          </a:p>
          <a:p>
            <a:r>
              <a:t>2. Her surum icin git checkout yapip CK Tool calistirdik — sinif bazli CSV ciktilari elde ettik</a:t>
            </a:r>
          </a:p>
          <a:p>
            <a:r>
              <a:t>3. Bu ham metriklerden (CBO, DIT, WMC, LCOM gibi) QMOOD tasarim ozelliklerini hesapladik</a:t>
            </a:r>
          </a:p>
          <a:p>
            <a:r>
              <a:t>4. Bansiya-Davis formullerini uygulayarak 6 kalite niteligini elde ettik</a:t>
            </a:r>
          </a:p>
          <a:p>
            <a:r>
              <a:t>5. Son olarak tum verileri 3 LLM'e gonderdik</a:t>
            </a:r>
          </a:p>
          <a:p/>
          <a:p>
            <a:r>
              <a:t>QMOOD modeli uc katmanli: Ham metrikler -&gt; 10 tasarim ozelligi -&gt; 6 kalite niteligini verir. Biz Bansiya ve Davis 2002 formullerini kullandik. Ornegin Reusability, coupling'i negatif, cohesion ve interface boyutunu pozitif agirlikla hesaplaniyor.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 METRIKLER (50 sn):</a:t>
            </a:r>
          </a:p>
          <a:p>
            <a:r>
              <a:t>Soldaki grafiklerde 12 surumun metrik evrimini goruyorsunuz. Uc belirgin donem tespit ettik:</a:t>
            </a:r>
          </a:p>
          <a:p/>
          <a:p>
            <a:r>
              <a:t>DONEM 1 — Hizli buyume: v1.0'dan v1.3'e sinif sayisi yuzde 22 artti. Ama LCOM — yani kohezyon eksikligi — neredeyse 2 katina cikti. 13.89'dan 26.50'ye. Bu, hizli ozellik eklemenin sinif ici butunlugu bozdugunun net gostergesi.</a:t>
            </a:r>
          </a:p>
          <a:p/>
          <a:p>
            <a:r>
              <a:t>DONEM 2 — Stabil evrim: v2.0'dan v2.13'e sadece yuzde 3.7 buyume. Metrikler dar bir bantta kalmis. Olgun bir gelistirme donemi.</a:t>
            </a:r>
          </a:p>
          <a:p/>
          <a:p>
            <a:r>
              <a:t>DONEM 3 — v2.16 kirilma noktasi! Sinif sayisi 364'ten 591'e, yuzde 62 artis. Ilginc olan, ortalama WMC ve LCOM DUSTU. Bu, yeni eklenen 227 sinifin daha basit ve odakli oldugunu gosteriyor. Ancak Max CBO 140'tan 214'e firladi — yani entegrasyon noktalarinda bagimliliklari yogunlasti.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KALITE NITELIKLERI (50 sn):</a:t>
            </a:r>
          </a:p>
          <a:p>
            <a:r>
              <a:t>Soldaki grafikte 6 kalite niteliginin 12 surumdeki seyrini goruyorsunuz.</a:t>
            </a:r>
          </a:p>
          <a:p/>
          <a:p>
            <a:r>
              <a:t>REUSABILITY nispeten stabil — yuzde 1.3 dusus.</a:t>
            </a:r>
          </a:p>
          <a:p/>
          <a:p>
            <a:r>
              <a:t>FLEXIBILITY en dramatik degisimi gosterdi: v1.0'da pozitif olan tek nitelikti, 0.040. Ama v3.0'da eksi 0.617'ye dustu. Yani sistem esnekligini tamamen kaybetti.</a:t>
            </a:r>
          </a:p>
          <a:p/>
          <a:p>
            <a:r>
              <a:t>UNDERSTANDABILITY hep negatif — buyuk bir sisteme beklenen bir durum. Ama ilginc bir paradoks var: v2.16'da IYILESTI! Cunku yeni eklenen basit siniflar ortalama karmasikligi dusurdu.</a:t>
            </a:r>
          </a:p>
          <a:p/>
          <a:p>
            <a:r>
              <a:t>FUNCTIONALITY en stabil nitelik — dar bantta kaldi.</a:t>
            </a:r>
          </a:p>
          <a:p/>
          <a:p>
            <a:r>
              <a:t>EXTENDIBILITY en kritik sorun — surekli kotulesen trend, yuzde 26.6 dusus. Coupling artisi buna dogrudan neden oluyor.</a:t>
            </a:r>
          </a:p>
          <a:p/>
          <a:p>
            <a:r>
              <a:t>EFFECTIVENESS nispeten stabil kaldi.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MIMARI BOZULMA (40 sn):</a:t>
            </a:r>
          </a:p>
          <a:p>
            <a:r>
              <a:t>Sol grafik coupling-cohesion iliskisini gosteriyor. Daire boyutu sinif sayisi. Gordugunuz gibi surumlerde saga kayma var — coupling artiyor ama cohesion degismiyor. Bu klasik mimari bozulma kalıbı.</a:t>
            </a:r>
          </a:p>
          <a:p/>
          <a:p>
            <a:r>
              <a:t>v2.16 belirgin bir sicrama — buyuk daire, saga kayma.</a:t>
            </a:r>
          </a:p>
          <a:p/>
          <a:p>
            <a:r>
              <a:t>Sag tarafta radar grafiginde v1.0, v2.7 ve v3.0'in karsilastirmasi var. Flexibility ve Extendibility eksenleri belirgin sekilde kuculmus.</a:t>
            </a:r>
          </a:p>
          <a:p/>
          <a:p>
            <a:r>
              <a:t>Alt panelde teknik borc gostergeleri: Max CBO 217 — bir sinif 217 farkli sinifa bagli, bu God Class anti-pattern'i. Max WMC 318 — bazi siniflar asiri karmasik. Bunlar acil refactoring gerektiriyor.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KARSILASTIRMASI (60 sn):</a:t>
            </a:r>
          </a:p>
          <a:p>
            <a:r>
              <a:t>Uc LLM'e ayni prompt ve metrik verilerini gonderdik.</a:t>
            </a:r>
          </a:p>
          <a:p/>
          <a:p>
            <a:r>
              <a:t>CHATGPT en dengeli yaklasimi sergiledi. v2.16'yi 'teknik borcun turunun degistigi' bir surum olarak yorumladi — monolitik karmasiklik azalirken entegrasyon borcu artmis. DDD ve Facade pattern onermis.</a:t>
            </a:r>
          </a:p>
          <a:p/>
          <a:p>
            <a:r>
              <a:t>GEMINI en elestirel tondu. Projenin 'katilastigini' soyledi. En carpici tespiti: mimariyi 'Big Ball of Mud'dan Distributed Spaghetti'ye gecis' olarak tanimladi. v3.0'i 'pazarlama odakli, inovasyon kaybi' seklinde elestirdi. Hexagonal Architecture onerdi.</a:t>
            </a:r>
          </a:p>
          <a:p/>
          <a:p>
            <a:r>
              <a:t>CLAUDE en sistematik analizi yapti. v2.16'daki LCOM dususunun gercek bir iyilesme degil, yeni eklenen basit siniflarin ortalamaya cekme etkisi oldugunu tespit etti. v3.0'i 'mimari donma noktasi' olarak degerlendirdi.</a:t>
            </a:r>
          </a:p>
          <a:p/>
          <a:p>
            <a:r>
              <a:t>ORTAK BULGULAR: Uc model de coupling artisini en kritik risk olarak tanimladi, v2.16'yi kirilma noktasi olarak gordu ve God Class ayristirmasini oncelikli buldu.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SONUC (40 sn):</a:t>
            </a:r>
          </a:p>
          <a:p>
            <a:r>
              <a:t>Ozetlemek gerekirse, 5 temel bulgu:</a:t>
            </a:r>
          </a:p>
          <a:p/>
          <a:p>
            <a:r>
              <a:t>1. Yazilim buyudukce kalite etkileniyor — proje 2 kattan fazla buyudu, extendibility yuzde 26.6 dustu.</a:t>
            </a:r>
          </a:p>
          <a:p/>
          <a:p>
            <a:r>
              <a:t>2. Coupling en kritik sorun — CBO monoton artis gosterdi ve Max CBO 217'ye ulasti, bu God Class anti-pattern'i.</a:t>
            </a:r>
          </a:p>
          <a:p/>
          <a:p>
            <a:r>
              <a:t>3. v2.16 yapisal bir kirilma noktasi — 227 yeni sinif eklendi, WMC dusmus ama kapsulleme bozulmus. ChatGPT'nin dedigi gibi 'teknik borcun turu degismis'.</a:t>
            </a:r>
          </a:p>
          <a:p/>
          <a:p>
            <a:r>
              <a:t>4. LLM'ler bu tur metrik tabanli analizde gercekten kullanisli — uc model de trendleri dogru tespit etti. Ama projeye ozgu baglam olmadan oneriler genel kaliyor.</a:t>
            </a:r>
          </a:p>
          <a:p/>
          <a:p>
            <a:r>
              <a:t>5. Prompt muhendisligi cok onemli — ham metrikler, delta verileri ve spesifik sorular ekleyince cikti kalitesi onemli olcude artti.</a:t>
            </a:r>
          </a:p>
          <a:p/>
          <a:p>
            <a:r>
              <a:t>Gelecekte capraz dogrulama, daha fazla surum analizi ve LLM'lere kaynak kod vererek spesifik refactoring onerileri alinabilir.</a:t>
            </a:r>
          </a:p>
          <a:p/>
          <a:p>
            <a:r>
              <a:t>Tesekkur ederim, sorularinizi bekliyorum.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CK TOOL NEDIR (40 sn):</a:t>
            </a:r>
          </a:p>
          <a:p>
            <a:r>
              <a:t>CK Tool, Mauricio Aniche tarafindan gelistirilen acik kaynak bir Java metrik analiz aracidir.</a:t>
            </a:r>
          </a:p>
          <a:p/>
          <a:p>
            <a:r>
              <a:t>En onemli ozelligi: Java kodunu DERLEMEDEN analiz eder. Yani projeyi build etmenize gerek yok. Dogrudan .java dosyalarini parse edip sinif bazinda CSV ciktisi uretir.</a:t>
            </a:r>
          </a:p>
          <a:p/>
          <a:p>
            <a:r>
              <a:t>Olctugu metrikler arasinda CBO, DIT, WMC, RFC, LCOM gibi Chidamber-Kemerer metrikleri var. Bunun yaninda TCC, publicMethodsQty, privateFieldsQty gibi ek metrikler de sagliyor ki bunlar QMOOD hesaplamalari icin kritik.</a:t>
            </a:r>
          </a:p>
          <a:p/>
          <a:p>
            <a:r>
              <a:t>Kurulumu cok basit — Maven Central'dan tek bir JAR dosyasi indiriyorsunuz. Sonra java -jar komutuyla calistiriyorsunuz. Analiz edilecek dizini, cikti dizinini parametre olarak veriyorsunuz.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OTOMASYON VE CIKTILAR (40 sn):</a:t>
            </a:r>
          </a:p>
          <a:p>
            <a:r>
              <a:t>12 surumu tek tek elle calistirmak yerine bir bash scripti yazdik — extract_metrics.sh. Bu script bir dongu icinde her surum icin git checkout yapip CK Tool'u calistiriyor ve ciktilari metrics klasorune kaydediyor.</a:t>
            </a:r>
          </a:p>
          <a:p/>
          <a:p>
            <a:r>
              <a:t>Cikti olarak her surum icin bir class.csv dosyasi elde ettik. Ornegin 1.0.0.0 surumunde 288 sinif, 2.16.0.0 surumunde 591 sinif analiz edildi.</a:t>
            </a:r>
          </a:p>
          <a:p/>
          <a:p>
            <a:r>
              <a:t>CSV dosyasinin her satiri bir Java sinifi. Sutunlarda CBO, WMC, DIT, LCOM gibi metrikler var. Ornegin bir sinifin cbo degeri 15 ise, 15 farkli sinifa bagimli demek. wmc 42 ise karmasiklik yuksek.</a:t>
            </a:r>
          </a:p>
          <a:p/>
          <a:p>
            <a:r>
              <a:t>Bu ham CSV verilerini sonra Python ile okuyup QMOOD tasarim ozelliklerine donusturduk. Ornegin privateFieldsQty bolü totalFieldsQty bize DAM yani Encapsulation degerini veriyor. tcc degeri dogrudan CAM yani Cohesion olarak kullaniliyor.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 METRIKLER ACIKLAMASI (60 sn):</a:t>
            </a:r>
          </a:p>
          <a:p>
            <a:r>
              <a:t>Projede kullandigimiz 8 ham metrigi aciklayalim:</a:t>
            </a:r>
          </a:p>
          <a:p/>
          <a:p>
            <a:r>
              <a:t>CBO — Coupling Between Objects: Bir sinifin kac farkli sinifa bagli oldugu. Projemizde ortalama CBO 8.58'den 10.47'ye yukseldi, yuzde 22 artis.</a:t>
            </a:r>
          </a:p>
          <a:p/>
          <a:p>
            <a:r>
              <a:t>DIT — Depth of Inheritance Tree: Kalitim derinligi. Max DIT tum surumlerde 7'de sabit kaldi, bu olumlu.</a:t>
            </a:r>
          </a:p>
          <a:p/>
          <a:p>
            <a:r>
              <a:t>WMC — Weighted Methods per Class: Metotlarin toplam karmasikligi. Nispeten stabil kaldi.</a:t>
            </a:r>
          </a:p>
          <a:p/>
          <a:p>
            <a:r>
              <a:t>RFC — Response for a Class: Mesaj gelince calisabilecek metot sayisi.</a:t>
            </a:r>
          </a:p>
          <a:p/>
          <a:p>
            <a:r>
              <a:t>LCOM — Lack of Cohesion of Methods: Metotlar arasi uyumsuzluk. 13.89'dan 18.57'ye yukseldi, yuzde 34 artis — siniflar giderek daha fazla sorumluluk tasiyor.</a:t>
            </a:r>
          </a:p>
          <a:p/>
          <a:p>
            <a:r>
              <a:t>NOM — Number of Methods: Siniftaki toplam metot sayisi. Ortalama 6 civarinda stabil.</a:t>
            </a:r>
          </a:p>
          <a:p/>
          <a:p>
            <a:r>
              <a:t>NOA — Number of Attributes: Siniftaki alan sayisi. Ortalama 5 civarinda.</a:t>
            </a:r>
          </a:p>
          <a:p/>
          <a:p>
            <a:r>
              <a:t>NOC — Number of Children: Alt sinif sayisi. Cok dusuk degerler — kalitim az kullanilmis.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TASARIM OZELLIGI (60 sn):</a:t>
            </a:r>
          </a:p>
          <a:p>
            <a:r>
              <a:t>QMOOD modelinde ham metriklerden hesaplanan 10 tasarim ozelligi var. Bunlar kalite niteliklerinin girdileridir.</a:t>
            </a:r>
          </a:p>
          <a:p/>
          <a:p>
            <a:r>
              <a:t>DSC — Design Size: Toplam sinif sayisi. Projemizde 288'den 609'a yuzde 111 buyume.</a:t>
            </a:r>
          </a:p>
          <a:p/>
          <a:p>
            <a:r>
              <a:t>ANA — Abstraction: Soyut metot orani. Cok dusuk degerler — proje somut sinif agirlikli.</a:t>
            </a:r>
          </a:p>
          <a:p/>
          <a:p>
            <a:r>
              <a:t>DAM — Encapsulation: Private alan orani, yani kapsulleme. 0.579'dan 0.449'a dustu — yuzde 22 azalma! Bu ciddi bir kapsulleme kaybi.</a:t>
            </a:r>
          </a:p>
          <a:p/>
          <a:p>
            <a:r>
              <a:t>DCC — Coupling: Ortalama CBO degeri. 8.58'den 10.47'ye yukseldi — bagimliliklar artti.</a:t>
            </a:r>
          </a:p>
          <a:p/>
          <a:p>
            <a:r>
              <a:t>CAM — Cohesion: TCC ortalamasi. Tum surumlerde negatif — dusuk kohezyon.</a:t>
            </a:r>
          </a:p>
          <a:p/>
          <a:p>
            <a:r>
              <a:t>MOA — Composition: Statik olmayan alan sayisi ortalamasi.</a:t>
            </a:r>
          </a:p>
          <a:p/>
          <a:p>
            <a:r>
              <a:t>MFA — Inheritance: DIT buyuk sifir olan siniflarin orani. Sabit kaldi.</a:t>
            </a:r>
          </a:p>
          <a:p/>
          <a:p>
            <a:r>
              <a:t>NOP — Polymorphism: Soyut metot ortalamasi + kalitim orani. Hafif artis.</a:t>
            </a:r>
          </a:p>
          <a:p/>
          <a:p>
            <a:r>
              <a:t>CIS — Messaging: Ortalama public metot sayisi. Sinif arayuz buyuklugu.</a:t>
            </a:r>
          </a:p>
          <a:p/>
          <a:p>
            <a:r>
              <a:t>NOM — Complexity: Ortalama WMC. Metot karmasikligi.</a:t>
            </a:r>
          </a:p>
          <a:p/>
          <a:p>
            <a:r>
              <a:t>En kritik degisimler: DAM yuzde 22 dustu (kapsulleme kaybi) ve DCC yuzde 22 artti (bagimlilik artisi). Bu ikisi birlikte Flexibility ve Extendibility'nin cokmesine neden oldu.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1371600"/>
          </a:xfrm>
          <a:prstGeom prst="rect">
            <a:avLst/>
          </a:prstGeom>
          <a:noFill/>
        </p:spPr>
        <p:txBody>
          <a:bodyPr wrap="square">
            <a:spAutoFit/>
          </a:bodyPr>
          <a:lstStyle/>
          <a:p>
            <a:pPr algn="ctr">
              <a:defRPr sz="3600" b="1">
                <a:solidFill>
                  <a:srgbClr val="FFFFFF"/>
                </a:solidFill>
                <a:latin typeface="Calibri"/>
              </a:defRPr>
            </a:pPr>
            <a:r>
              <a:t>QMOOD Tabanli Yazilim Kalitesi Analizi</a:t>
            </a:r>
            <a:br/>
            <a:r>
              <a:t>ve LLM Destekli Degerlendirme</a:t>
            </a:r>
          </a:p>
        </p:txBody>
      </p:sp>
      <p:sp>
        <p:nvSpPr>
          <p:cNvPr id="4" name="TextBox 3"/>
          <p:cNvSpPr txBox="1"/>
          <p:nvPr/>
        </p:nvSpPr>
        <p:spPr>
          <a:xfrm>
            <a:off x="914400" y="3017520"/>
            <a:ext cx="10332720" cy="731520"/>
          </a:xfrm>
          <a:prstGeom prst="rect">
            <a:avLst/>
          </a:prstGeom>
          <a:noFill/>
        </p:spPr>
        <p:txBody>
          <a:bodyPr wrap="square">
            <a:spAutoFit/>
          </a:bodyPr>
          <a:lstStyle/>
          <a:p>
            <a:pPr algn="ctr">
              <a:defRPr sz="2200" b="0">
                <a:solidFill>
                  <a:srgbClr val="0096D6"/>
                </a:solidFill>
                <a:latin typeface="Calibri"/>
              </a:defRPr>
            </a:pPr>
            <a:r>
              <a:t>OpenSearch Anomaly Detection Uzerine Ampirik Bir Calisma</a:t>
            </a:r>
          </a:p>
        </p:txBody>
      </p:sp>
      <p:sp>
        <p:nvSpPr>
          <p:cNvPr id="5" name="TextBox 4"/>
          <p:cNvSpPr txBox="1"/>
          <p:nvPr/>
        </p:nvSpPr>
        <p:spPr>
          <a:xfrm>
            <a:off x="914400" y="4114800"/>
            <a:ext cx="10332720" cy="548640"/>
          </a:xfrm>
          <a:prstGeom prst="rect">
            <a:avLst/>
          </a:prstGeom>
          <a:noFill/>
        </p:spPr>
        <p:txBody>
          <a:bodyPr wrap="square">
            <a:spAutoFit/>
          </a:bodyPr>
          <a:lstStyle/>
          <a:p>
            <a:pPr algn="ctr">
              <a:defRPr sz="1600" b="0">
                <a:solidFill>
                  <a:srgbClr val="CCCCCC"/>
                </a:solidFill>
                <a:latin typeface="Calibri"/>
              </a:defRPr>
            </a:pPr>
            <a:r>
              <a:t>Yazilim Mimarileri ve Tasarim Yontemleri  |  Donem Projesi</a:t>
            </a:r>
          </a:p>
        </p:txBody>
      </p:sp>
      <p:sp>
        <p:nvSpPr>
          <p:cNvPr id="6" name="Rectangle 5"/>
          <p:cNvSpPr/>
          <p:nvPr/>
        </p:nvSpPr>
        <p:spPr>
          <a:xfrm>
            <a:off x="3657600" y="3840480"/>
            <a:ext cx="4846320" cy="36576"/>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3000" b="1">
                <a:solidFill>
                  <a:srgbClr val="FFFFFF"/>
                </a:solidFill>
                <a:latin typeface="Calibri"/>
              </a:defRPr>
            </a:pPr>
            <a:r>
              <a:t>Proje Ozeti ve Amac</a:t>
            </a:r>
          </a:p>
        </p:txBody>
      </p:sp>
      <p:sp>
        <p:nvSpPr>
          <p:cNvPr id="4" name="Rectangle 3"/>
          <p:cNvSpPr/>
          <p:nvPr/>
        </p:nvSpPr>
        <p:spPr>
          <a:xfrm>
            <a:off x="457200" y="1280160"/>
            <a:ext cx="530352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4754880" cy="457200"/>
          </a:xfrm>
          <a:prstGeom prst="rect">
            <a:avLst/>
          </a:prstGeom>
          <a:noFill/>
        </p:spPr>
        <p:txBody>
          <a:bodyPr wrap="square">
            <a:spAutoFit/>
          </a:bodyPr>
          <a:lstStyle/>
          <a:p>
            <a:pPr algn="l">
              <a:defRPr sz="2000" b="1">
                <a:solidFill>
                  <a:srgbClr val="00528A"/>
                </a:solidFill>
                <a:latin typeface="Calibri"/>
              </a:defRPr>
            </a:pPr>
            <a:r>
              <a:t>Calismanin Amaci</a:t>
            </a:r>
          </a:p>
        </p:txBody>
      </p:sp>
      <p:sp>
        <p:nvSpPr>
          <p:cNvPr id="6" name="TextBox 5"/>
          <p:cNvSpPr txBox="1"/>
          <p:nvPr/>
        </p:nvSpPr>
        <p:spPr>
          <a:xfrm>
            <a:off x="731520" y="1920240"/>
            <a:ext cx="4754880" cy="4114800"/>
          </a:xfrm>
          <a:prstGeom prst="rect">
            <a:avLst/>
          </a:prstGeom>
          <a:noFill/>
        </p:spPr>
        <p:txBody>
          <a:bodyPr wrap="square">
            <a:spAutoFit/>
          </a:bodyPr>
          <a:lstStyle/>
          <a:p>
            <a:pPr>
              <a:spcAft>
                <a:spcPts val="800"/>
              </a:spcAft>
              <a:defRPr sz="1600">
                <a:solidFill>
                  <a:srgbClr val="333333"/>
                </a:solidFill>
                <a:latin typeface="Calibri"/>
              </a:defRPr>
            </a:pPr>
            <a:r>
              <a:t>-&gt; Nesne yonelimli yazilim kalitesini olculebilir metriklerle analiz etmek</a:t>
            </a:r>
          </a:p>
          <a:p>
            <a:pPr>
              <a:spcAft>
                <a:spcPts val="800"/>
              </a:spcAft>
              <a:defRPr sz="1600">
                <a:solidFill>
                  <a:srgbClr val="333333"/>
                </a:solidFill>
                <a:latin typeface="Calibri"/>
              </a:defRPr>
            </a:pPr>
            <a:r>
              <a:t>-&gt; QMOOD modeli ile 12 surumun kalite evrimini izlemek</a:t>
            </a:r>
          </a:p>
          <a:p>
            <a:pPr>
              <a:spcAft>
                <a:spcPts val="800"/>
              </a:spcAft>
              <a:defRPr sz="1600">
                <a:solidFill>
                  <a:srgbClr val="333333"/>
                </a:solidFill>
                <a:latin typeface="Calibri"/>
              </a:defRPr>
            </a:pPr>
            <a:r>
              <a:t>-&gt; 3 farkli LLM'in kalite degerlendirme yeteneklerini karsilastirmak</a:t>
            </a:r>
          </a:p>
          <a:p>
            <a:pPr>
              <a:spcAft>
                <a:spcPts val="800"/>
              </a:spcAft>
              <a:defRPr sz="1600">
                <a:solidFill>
                  <a:srgbClr val="333333"/>
                </a:solidFill>
                <a:latin typeface="Calibri"/>
              </a:defRPr>
            </a:pPr>
            <a:r>
              <a:t>-&gt; Prompt muhendisliginin LLM cikti kalitesine etkisini incelemek</a:t>
            </a:r>
          </a:p>
        </p:txBody>
      </p:sp>
      <p:sp>
        <p:nvSpPr>
          <p:cNvPr id="7" name="Rectangle 6"/>
          <p:cNvSpPr/>
          <p:nvPr/>
        </p:nvSpPr>
        <p:spPr>
          <a:xfrm>
            <a:off x="6217920" y="1280160"/>
            <a:ext cx="548640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371600"/>
            <a:ext cx="5029200" cy="457200"/>
          </a:xfrm>
          <a:prstGeom prst="rect">
            <a:avLst/>
          </a:prstGeom>
          <a:noFill/>
        </p:spPr>
        <p:txBody>
          <a:bodyPr wrap="square">
            <a:spAutoFit/>
          </a:bodyPr>
          <a:lstStyle/>
          <a:p>
            <a:pPr algn="l">
              <a:defRPr sz="1800" b="1">
                <a:solidFill>
                  <a:srgbClr val="00528A"/>
                </a:solidFill>
                <a:latin typeface="Calibri"/>
              </a:defRPr>
            </a:pPr>
            <a:r>
              <a:t>Secilen Sistem: OpenSearch Anomaly Detection</a:t>
            </a:r>
          </a:p>
        </p:txBody>
      </p:sp>
      <p:sp>
        <p:nvSpPr>
          <p:cNvPr id="9" name="TextBox 8"/>
          <p:cNvSpPr txBox="1"/>
          <p:nvPr/>
        </p:nvSpPr>
        <p:spPr>
          <a:xfrm>
            <a:off x="6492240" y="1920240"/>
            <a:ext cx="5029200" cy="4114800"/>
          </a:xfrm>
          <a:prstGeom prst="rect">
            <a:avLst/>
          </a:prstGeom>
          <a:noFill/>
        </p:spPr>
        <p:txBody>
          <a:bodyPr wrap="square">
            <a:spAutoFit/>
          </a:bodyPr>
          <a:lstStyle/>
          <a:p>
            <a:pPr>
              <a:spcAft>
                <a:spcPts val="800"/>
              </a:spcAft>
              <a:defRPr sz="1500">
                <a:solidFill>
                  <a:srgbClr val="333333"/>
                </a:solidFill>
                <a:latin typeface="Calibri"/>
              </a:defRPr>
            </a:pPr>
            <a:r>
              <a:t>-&gt; Java dilinde, Amazon/AWS destekli</a:t>
            </a:r>
          </a:p>
          <a:p>
            <a:pPr>
              <a:spcAft>
                <a:spcPts val="800"/>
              </a:spcAft>
              <a:defRPr sz="1500">
                <a:solidFill>
                  <a:srgbClr val="333333"/>
                </a:solidFill>
                <a:latin typeface="Calibri"/>
              </a:defRPr>
            </a:pPr>
            <a:r>
              <a:t>-&gt; 288 - 609 sinif arasi (12 surumde)</a:t>
            </a:r>
          </a:p>
          <a:p>
            <a:pPr>
              <a:spcAft>
                <a:spcPts val="800"/>
              </a:spcAft>
              <a:defRPr sz="1500">
                <a:solidFill>
                  <a:srgbClr val="333333"/>
                </a:solidFill>
                <a:latin typeface="Calibri"/>
              </a:defRPr>
            </a:pPr>
            <a:r>
              <a:t>-&gt; 16,903 - 35,612 LOC</a:t>
            </a:r>
          </a:p>
          <a:p>
            <a:pPr>
              <a:spcAft>
                <a:spcPts val="800"/>
              </a:spcAft>
              <a:defRPr sz="1500">
                <a:solidFill>
                  <a:srgbClr val="333333"/>
                </a:solidFill>
                <a:latin typeface="Calibri"/>
              </a:defRPr>
            </a:pPr>
            <a:r>
              <a:t>-&gt; 70+ release tag'i</a:t>
            </a:r>
          </a:p>
          <a:p>
            <a:pPr>
              <a:spcAft>
                <a:spcPts val="800"/>
              </a:spcAft>
              <a:defRPr sz="1500">
                <a:solidFill>
                  <a:srgbClr val="333333"/>
                </a:solidFill>
                <a:latin typeface="Calibri"/>
              </a:defRPr>
            </a:pPr>
            <a:r>
              <a:t>-&gt; Endustriyel kalitede, uretimde kullanilan</a:t>
            </a:r>
          </a:p>
          <a:p>
            <a:pPr>
              <a:spcAft>
                <a:spcPts val="800"/>
              </a:spcAft>
              <a:defRPr sz="1500">
                <a:solidFill>
                  <a:srgbClr val="333333"/>
                </a:solidFill>
                <a:latin typeface="Calibri"/>
              </a:defRPr>
            </a:pPr>
          </a:p>
          <a:p>
            <a:pPr>
              <a:spcAft>
                <a:spcPts val="800"/>
              </a:spcAft>
              <a:defRPr sz="1500">
                <a:solidFill>
                  <a:srgbClr val="333333"/>
                </a:solidFill>
                <a:latin typeface="Calibri"/>
              </a:defRPr>
            </a:pPr>
            <a:r>
              <a:t>Secilen 12 Surum (buyuk sicramalarla):</a:t>
            </a:r>
          </a:p>
          <a:p>
            <a:pPr>
              <a:spcAft>
                <a:spcPts val="800"/>
              </a:spcAft>
              <a:defRPr sz="1500">
                <a:solidFill>
                  <a:srgbClr val="333333"/>
                </a:solidFill>
                <a:latin typeface="Calibri"/>
              </a:defRPr>
            </a:pPr>
            <a:r>
              <a:t>v1.0  -&gt;  v1.1  -&gt;  v1.3  -&gt;  v2.0  -&gt;  v2.2</a:t>
            </a:r>
          </a:p>
          <a:p>
            <a:pPr>
              <a:spcAft>
                <a:spcPts val="800"/>
              </a:spcAft>
              <a:defRPr sz="1500">
                <a:solidFill>
                  <a:srgbClr val="333333"/>
                </a:solidFill>
                <a:latin typeface="Calibri"/>
              </a:defRPr>
            </a:pPr>
            <a:r>
              <a:t>v2.4  -&gt;  v2.7  -&gt;  v2.10  -&gt;  v2.13</a:t>
            </a:r>
          </a:p>
          <a:p>
            <a:pPr>
              <a:spcAft>
                <a:spcPts val="800"/>
              </a:spcAft>
              <a:defRPr sz="1500">
                <a:solidFill>
                  <a:srgbClr val="333333"/>
                </a:solidFill>
                <a:latin typeface="Calibri"/>
              </a:defRPr>
            </a:pPr>
            <a:r>
              <a:t>v2.16  -&gt;  v2.19  -&gt;  v3.0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3000" b="1">
                <a:solidFill>
                  <a:srgbClr val="FFFFFF"/>
                </a:solidFill>
                <a:latin typeface="Calibri"/>
              </a:defRPr>
            </a:pPr>
            <a:r>
              <a:t>Yontem: Analiz Sureci</a:t>
            </a:r>
          </a:p>
        </p:txBody>
      </p:sp>
      <p:sp>
        <p:nvSpPr>
          <p:cNvPr id="4" name="Rectangle 3"/>
          <p:cNvSpPr/>
          <p:nvPr/>
        </p:nvSpPr>
        <p:spPr>
          <a:xfrm>
            <a:off x="274320" y="1371600"/>
            <a:ext cx="2011680" cy="100584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Kaynak Kod</a:t>
            </a:r>
            <a:br/>
            <a:r>
              <a:t>(12 Surum)</a:t>
            </a:r>
          </a:p>
        </p:txBody>
      </p:sp>
      <p:sp>
        <p:nvSpPr>
          <p:cNvPr id="5" name="Rectangle 4"/>
          <p:cNvSpPr/>
          <p:nvPr/>
        </p:nvSpPr>
        <p:spPr>
          <a:xfrm>
            <a:off x="2606040" y="1371600"/>
            <a:ext cx="2011680" cy="10058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CK Tool</a:t>
            </a:r>
            <a:br/>
            <a:r>
              <a:t>(v0.7.0)</a:t>
            </a:r>
          </a:p>
        </p:txBody>
      </p:sp>
      <p:sp>
        <p:nvSpPr>
          <p:cNvPr id="6" name="Rectangle 5"/>
          <p:cNvSpPr/>
          <p:nvPr/>
        </p:nvSpPr>
        <p:spPr>
          <a:xfrm>
            <a:off x="4937760" y="1371600"/>
            <a:ext cx="2011680" cy="10058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Ham Metrikler</a:t>
            </a:r>
            <a:br/>
            <a:r>
              <a:t>(CBO,DIT,WMC...)</a:t>
            </a:r>
          </a:p>
        </p:txBody>
      </p:sp>
      <p:sp>
        <p:nvSpPr>
          <p:cNvPr id="7" name="Rectangle 6"/>
          <p:cNvSpPr/>
          <p:nvPr/>
        </p:nvSpPr>
        <p:spPr>
          <a:xfrm>
            <a:off x="7269480" y="1371600"/>
            <a:ext cx="2011680" cy="100584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QMOOD</a:t>
            </a:r>
            <a:br/>
            <a:r>
              <a:t>Tasarim Oz.</a:t>
            </a:r>
          </a:p>
        </p:txBody>
      </p:sp>
      <p:sp>
        <p:nvSpPr>
          <p:cNvPr id="8" name="Rectangle 7"/>
          <p:cNvSpPr/>
          <p:nvPr/>
        </p:nvSpPr>
        <p:spPr>
          <a:xfrm>
            <a:off x="9601200" y="1371600"/>
            <a:ext cx="2011680" cy="100584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Kalite</a:t>
            </a:r>
            <a:br/>
            <a:r>
              <a:t>Nitelikleri</a:t>
            </a:r>
          </a:p>
        </p:txBody>
      </p:sp>
      <p:sp>
        <p:nvSpPr>
          <p:cNvPr id="9" name="TextBox 8"/>
          <p:cNvSpPr txBox="1"/>
          <p:nvPr/>
        </p:nvSpPr>
        <p:spPr>
          <a:xfrm>
            <a:off x="2286000" y="1554480"/>
            <a:ext cx="365760" cy="457200"/>
          </a:xfrm>
          <a:prstGeom prst="rect">
            <a:avLst/>
          </a:prstGeom>
          <a:noFill/>
        </p:spPr>
        <p:txBody>
          <a:bodyPr wrap="square">
            <a:spAutoFit/>
          </a:bodyPr>
          <a:lstStyle/>
          <a:p>
            <a:pPr algn="ctr">
              <a:defRPr sz="2200" b="1">
                <a:solidFill>
                  <a:srgbClr val="333333"/>
                </a:solidFill>
                <a:latin typeface="Calibri"/>
              </a:defRPr>
            </a:pPr>
            <a:r>
              <a:t>=&gt;</a:t>
            </a:r>
          </a:p>
        </p:txBody>
      </p:sp>
      <p:sp>
        <p:nvSpPr>
          <p:cNvPr id="10" name="TextBox 9"/>
          <p:cNvSpPr txBox="1"/>
          <p:nvPr/>
        </p:nvSpPr>
        <p:spPr>
          <a:xfrm>
            <a:off x="4617720" y="1554480"/>
            <a:ext cx="365760" cy="457200"/>
          </a:xfrm>
          <a:prstGeom prst="rect">
            <a:avLst/>
          </a:prstGeom>
          <a:noFill/>
        </p:spPr>
        <p:txBody>
          <a:bodyPr wrap="square">
            <a:spAutoFit/>
          </a:bodyPr>
          <a:lstStyle/>
          <a:p>
            <a:pPr algn="ctr">
              <a:defRPr sz="2200" b="1">
                <a:solidFill>
                  <a:srgbClr val="333333"/>
                </a:solidFill>
                <a:latin typeface="Calibri"/>
              </a:defRPr>
            </a:pPr>
            <a:r>
              <a:t>=&gt;</a:t>
            </a:r>
          </a:p>
        </p:txBody>
      </p:sp>
      <p:sp>
        <p:nvSpPr>
          <p:cNvPr id="11" name="TextBox 10"/>
          <p:cNvSpPr txBox="1"/>
          <p:nvPr/>
        </p:nvSpPr>
        <p:spPr>
          <a:xfrm>
            <a:off x="6949440" y="1554480"/>
            <a:ext cx="365760" cy="457200"/>
          </a:xfrm>
          <a:prstGeom prst="rect">
            <a:avLst/>
          </a:prstGeom>
          <a:noFill/>
        </p:spPr>
        <p:txBody>
          <a:bodyPr wrap="square">
            <a:spAutoFit/>
          </a:bodyPr>
          <a:lstStyle/>
          <a:p>
            <a:pPr algn="ctr">
              <a:defRPr sz="2200" b="1">
                <a:solidFill>
                  <a:srgbClr val="333333"/>
                </a:solidFill>
                <a:latin typeface="Calibri"/>
              </a:defRPr>
            </a:pPr>
            <a:r>
              <a:t>=&gt;</a:t>
            </a:r>
          </a:p>
        </p:txBody>
      </p:sp>
      <p:sp>
        <p:nvSpPr>
          <p:cNvPr id="12" name="TextBox 11"/>
          <p:cNvSpPr txBox="1"/>
          <p:nvPr/>
        </p:nvSpPr>
        <p:spPr>
          <a:xfrm>
            <a:off x="9281160" y="1554480"/>
            <a:ext cx="365760" cy="457200"/>
          </a:xfrm>
          <a:prstGeom prst="rect">
            <a:avLst/>
          </a:prstGeom>
          <a:noFill/>
        </p:spPr>
        <p:txBody>
          <a:bodyPr wrap="square">
            <a:spAutoFit/>
          </a:bodyPr>
          <a:lstStyle/>
          <a:p>
            <a:pPr algn="ctr">
              <a:defRPr sz="2200" b="1">
                <a:solidFill>
                  <a:srgbClr val="333333"/>
                </a:solidFill>
                <a:latin typeface="Calibri"/>
              </a:defRPr>
            </a:pPr>
            <a:r>
              <a:t>=&gt;</a:t>
            </a:r>
          </a:p>
        </p:txBody>
      </p:sp>
      <p:sp>
        <p:nvSpPr>
          <p:cNvPr id="13" name="Rectangle 12"/>
          <p:cNvSpPr/>
          <p:nvPr/>
        </p:nvSpPr>
        <p:spPr>
          <a:xfrm>
            <a:off x="4114800" y="2743200"/>
            <a:ext cx="3931920" cy="82296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LLM Degerlendirme: ChatGPT  |  Gemini  |  Claude</a:t>
            </a:r>
          </a:p>
        </p:txBody>
      </p:sp>
      <p:sp>
        <p:nvSpPr>
          <p:cNvPr id="14" name="Rectangle 13"/>
          <p:cNvSpPr/>
          <p:nvPr/>
        </p:nvSpPr>
        <p:spPr>
          <a:xfrm>
            <a:off x="457200" y="3840480"/>
            <a:ext cx="548640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931920"/>
            <a:ext cx="5120640" cy="365760"/>
          </a:xfrm>
          <a:prstGeom prst="rect">
            <a:avLst/>
          </a:prstGeom>
          <a:noFill/>
        </p:spPr>
        <p:txBody>
          <a:bodyPr wrap="square">
            <a:spAutoFit/>
          </a:bodyPr>
          <a:lstStyle/>
          <a:p>
            <a:pPr algn="l">
              <a:defRPr sz="1600" b="1">
                <a:solidFill>
                  <a:srgbClr val="00528A"/>
                </a:solidFill>
                <a:latin typeface="Calibri"/>
              </a:defRPr>
            </a:pPr>
            <a:r>
              <a:t>QMOOD Kalite Nitelikleri (Bansiya &amp; Davis, 2002)</a:t>
            </a:r>
          </a:p>
        </p:txBody>
      </p:sp>
      <p:sp>
        <p:nvSpPr>
          <p:cNvPr id="16" name="TextBox 15"/>
          <p:cNvSpPr txBox="1"/>
          <p:nvPr/>
        </p:nvSpPr>
        <p:spPr>
          <a:xfrm>
            <a:off x="640080" y="4389120"/>
            <a:ext cx="5120640" cy="2286000"/>
          </a:xfrm>
          <a:prstGeom prst="rect">
            <a:avLst/>
          </a:prstGeom>
          <a:noFill/>
        </p:spPr>
        <p:txBody>
          <a:bodyPr wrap="square">
            <a:spAutoFit/>
          </a:bodyPr>
          <a:lstStyle/>
          <a:p>
            <a:pPr>
              <a:spcAft>
                <a:spcPts val="800"/>
              </a:spcAft>
              <a:defRPr sz="1300">
                <a:solidFill>
                  <a:srgbClr val="333333"/>
                </a:solidFill>
                <a:latin typeface="Calibri"/>
              </a:defRPr>
            </a:pPr>
            <a:r>
              <a:t>Reusability  = -0.25*DCC + 0.25*CAM + 0.5*CIS + 0.5*DSC</a:t>
            </a:r>
          </a:p>
          <a:p>
            <a:pPr>
              <a:spcAft>
                <a:spcPts val="800"/>
              </a:spcAft>
              <a:defRPr sz="1300">
                <a:solidFill>
                  <a:srgbClr val="333333"/>
                </a:solidFill>
                <a:latin typeface="Calibri"/>
              </a:defRPr>
            </a:pPr>
            <a:r>
              <a:t>Flexibility  = 0.25*DAM - 0.25*DCC + 0.5*MOA + 0.5*NOP</a:t>
            </a:r>
          </a:p>
          <a:p>
            <a:pPr>
              <a:spcAft>
                <a:spcPts val="800"/>
              </a:spcAft>
              <a:defRPr sz="1300">
                <a:solidFill>
                  <a:srgbClr val="333333"/>
                </a:solidFill>
                <a:latin typeface="Calibri"/>
              </a:defRPr>
            </a:pPr>
            <a:r>
              <a:t>Understandability = -0.33*(ANA+DCC+NOP+NOM+DSC) + 0.33*(DAM+CAM)</a:t>
            </a:r>
          </a:p>
          <a:p>
            <a:pPr>
              <a:spcAft>
                <a:spcPts val="800"/>
              </a:spcAft>
              <a:defRPr sz="1300">
                <a:solidFill>
                  <a:srgbClr val="333333"/>
                </a:solidFill>
                <a:latin typeface="Calibri"/>
              </a:defRPr>
            </a:pPr>
            <a:r>
              <a:t>Functionality = 0.12*CAM + 0.22*(NOP+CIS+DSC+ANA)</a:t>
            </a:r>
          </a:p>
          <a:p>
            <a:pPr>
              <a:spcAft>
                <a:spcPts val="800"/>
              </a:spcAft>
              <a:defRPr sz="1300">
                <a:solidFill>
                  <a:srgbClr val="333333"/>
                </a:solidFill>
                <a:latin typeface="Calibri"/>
              </a:defRPr>
            </a:pPr>
            <a:r>
              <a:t>Extendibility = 0.5*(ANA+MFA+NOP) - 0.5*DCC</a:t>
            </a:r>
          </a:p>
          <a:p>
            <a:pPr>
              <a:spcAft>
                <a:spcPts val="800"/>
              </a:spcAft>
              <a:defRPr sz="1300">
                <a:solidFill>
                  <a:srgbClr val="333333"/>
                </a:solidFill>
                <a:latin typeface="Calibri"/>
              </a:defRPr>
            </a:pPr>
            <a:r>
              <a:t>Effectiveness = 0.2*(ANA+DAM+MOA+MFA+NOP)</a:t>
            </a:r>
          </a:p>
        </p:txBody>
      </p:sp>
      <p:sp>
        <p:nvSpPr>
          <p:cNvPr id="17" name="Rectangle 16"/>
          <p:cNvSpPr/>
          <p:nvPr/>
        </p:nvSpPr>
        <p:spPr>
          <a:xfrm>
            <a:off x="6217920" y="3840480"/>
            <a:ext cx="548640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3931920"/>
            <a:ext cx="5029200" cy="365760"/>
          </a:xfrm>
          <a:prstGeom prst="rect">
            <a:avLst/>
          </a:prstGeom>
          <a:noFill/>
        </p:spPr>
        <p:txBody>
          <a:bodyPr wrap="square">
            <a:spAutoFit/>
          </a:bodyPr>
          <a:lstStyle/>
          <a:p>
            <a:pPr algn="l">
              <a:defRPr sz="1600" b="1">
                <a:solidFill>
                  <a:srgbClr val="00528A"/>
                </a:solidFill>
                <a:latin typeface="Calibri"/>
              </a:defRPr>
            </a:pPr>
            <a:r>
              <a:t>Kullanilan Araclar</a:t>
            </a:r>
          </a:p>
        </p:txBody>
      </p:sp>
      <p:sp>
        <p:nvSpPr>
          <p:cNvPr id="19" name="TextBox 18"/>
          <p:cNvSpPr txBox="1"/>
          <p:nvPr/>
        </p:nvSpPr>
        <p:spPr>
          <a:xfrm>
            <a:off x="6492240" y="4389120"/>
            <a:ext cx="5029200" cy="2286000"/>
          </a:xfrm>
          <a:prstGeom prst="rect">
            <a:avLst/>
          </a:prstGeom>
          <a:noFill/>
        </p:spPr>
        <p:txBody>
          <a:bodyPr wrap="square">
            <a:spAutoFit/>
          </a:bodyPr>
          <a:lstStyle/>
          <a:p>
            <a:pPr>
              <a:spcAft>
                <a:spcPts val="800"/>
              </a:spcAft>
              <a:defRPr sz="1400">
                <a:solidFill>
                  <a:srgbClr val="333333"/>
                </a:solidFill>
                <a:latin typeface="Calibri"/>
              </a:defRPr>
            </a:pPr>
            <a:r>
              <a:t>-&gt; CK Tool v0.7.0 — Java metrik cikarimi (CSV)</a:t>
            </a:r>
          </a:p>
          <a:p>
            <a:pPr>
              <a:spcAft>
                <a:spcPts val="800"/>
              </a:spcAft>
              <a:defRPr sz="1400">
                <a:solidFill>
                  <a:srgbClr val="333333"/>
                </a:solidFill>
                <a:latin typeface="Calibri"/>
              </a:defRPr>
            </a:pPr>
            <a:r>
              <a:t>-&gt; Python 3.12 + Pandas — QMOOD hesaplama</a:t>
            </a:r>
          </a:p>
          <a:p>
            <a:pPr>
              <a:spcAft>
                <a:spcPts val="800"/>
              </a:spcAft>
              <a:defRPr sz="1400">
                <a:solidFill>
                  <a:srgbClr val="333333"/>
                </a:solidFill>
                <a:latin typeface="Calibri"/>
              </a:defRPr>
            </a:pPr>
            <a:r>
              <a:t>-&gt; Matplotlib — Gorsellesstirme (6 grafik)</a:t>
            </a:r>
          </a:p>
          <a:p>
            <a:pPr>
              <a:spcAft>
                <a:spcPts val="800"/>
              </a:spcAft>
              <a:defRPr sz="1400">
                <a:solidFill>
                  <a:srgbClr val="333333"/>
                </a:solidFill>
                <a:latin typeface="Calibri"/>
              </a:defRPr>
            </a:pPr>
            <a:r>
              <a:t>-&gt; Git — Surum yonetimi (git checkout &lt;tag&gt;)</a:t>
            </a:r>
          </a:p>
          <a:p>
            <a:pPr>
              <a:spcAft>
                <a:spcPts val="800"/>
              </a:spcAft>
              <a:defRPr sz="1400">
                <a:solidFill>
                  <a:srgbClr val="333333"/>
                </a:solidFill>
                <a:latin typeface="Calibri"/>
              </a:defRPr>
            </a:pPr>
          </a:p>
          <a:p>
            <a:pPr>
              <a:spcAft>
                <a:spcPts val="800"/>
              </a:spcAft>
              <a:defRPr sz="1400">
                <a:solidFill>
                  <a:srgbClr val="333333"/>
                </a:solidFill>
                <a:latin typeface="Calibri"/>
              </a:defRPr>
            </a:pPr>
            <a:r>
              <a:t>Metrikler: CBO, DIT, WMC, RFC, LCOM, NOM, NOA</a:t>
            </a:r>
          </a:p>
          <a:p>
            <a:pPr>
              <a:spcAft>
                <a:spcPts val="800"/>
              </a:spcAft>
              <a:defRPr sz="1400">
                <a:solidFill>
                  <a:srgbClr val="333333"/>
                </a:solidFill>
                <a:latin typeface="Calibri"/>
              </a:defRPr>
            </a:pPr>
            <a:r>
              <a:t>Tasarim Oz: DSC, ANA, DAM, DCC, CAM, MOA, MFA, NOP, CIS, NOM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3000" b="1">
                <a:solidFill>
                  <a:srgbClr val="FFFFFF"/>
                </a:solidFill>
                <a:latin typeface="Calibri"/>
              </a:defRPr>
            </a:pPr>
            <a:r>
              <a:t>Ham Metrik Sonuclari ve Uc Donem</a:t>
            </a:r>
          </a:p>
        </p:txBody>
      </p:sp>
      <p:pic>
        <p:nvPicPr>
          <p:cNvPr id="4" name="Picture 3" descr="raw_metrics_evolution.png"/>
          <p:cNvPicPr>
            <a:picLocks noChangeAspect="1"/>
          </p:cNvPicPr>
          <p:nvPr/>
        </p:nvPicPr>
        <p:blipFill>
          <a:blip r:embed="rId2"/>
          <a:stretch>
            <a:fillRect/>
          </a:stretch>
        </p:blipFill>
        <p:spPr>
          <a:xfrm>
            <a:off x="274320" y="1188720"/>
            <a:ext cx="6858000" cy="5029200"/>
          </a:xfrm>
          <a:prstGeom prst="rect">
            <a:avLst/>
          </a:prstGeom>
        </p:spPr>
      </p:pic>
      <p:sp>
        <p:nvSpPr>
          <p:cNvPr id="5" name="Rectangle 4"/>
          <p:cNvSpPr/>
          <p:nvPr/>
        </p:nvSpPr>
        <p:spPr>
          <a:xfrm>
            <a:off x="7315200" y="1188720"/>
            <a:ext cx="4572000" cy="137160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79" y="1280160"/>
            <a:ext cx="4206240" cy="274320"/>
          </a:xfrm>
          <a:prstGeom prst="rect">
            <a:avLst/>
          </a:prstGeom>
          <a:noFill/>
        </p:spPr>
        <p:txBody>
          <a:bodyPr wrap="square">
            <a:spAutoFit/>
          </a:bodyPr>
          <a:lstStyle/>
          <a:p>
            <a:pPr algn="l">
              <a:defRPr sz="1500" b="1">
                <a:solidFill>
                  <a:srgbClr val="FFFFFF"/>
                </a:solidFill>
                <a:latin typeface="Calibri"/>
              </a:defRPr>
            </a:pPr>
            <a:r>
              <a:t>Donem 1: Hizli Buyume (v1.0 - v1.3)</a:t>
            </a:r>
          </a:p>
        </p:txBody>
      </p:sp>
      <p:sp>
        <p:nvSpPr>
          <p:cNvPr id="7" name="TextBox 6"/>
          <p:cNvSpPr txBox="1"/>
          <p:nvPr/>
        </p:nvSpPr>
        <p:spPr>
          <a:xfrm>
            <a:off x="7498079" y="1645920"/>
            <a:ext cx="4206240" cy="822960"/>
          </a:xfrm>
          <a:prstGeom prst="rect">
            <a:avLst/>
          </a:prstGeom>
          <a:noFill/>
        </p:spPr>
        <p:txBody>
          <a:bodyPr wrap="square">
            <a:spAutoFit/>
          </a:bodyPr>
          <a:lstStyle/>
          <a:p>
            <a:pPr algn="l">
              <a:defRPr sz="1300" b="0">
                <a:solidFill>
                  <a:srgbClr val="FFFFFF"/>
                </a:solidFill>
                <a:latin typeface="Calibri"/>
              </a:defRPr>
            </a:pPr>
            <a:r>
              <a:t>Sinif: 288 -&gt; 351 (+%22)</a:t>
            </a:r>
            <a:br/>
            <a:r>
              <a:t>LCOM: 13.89 -&gt; 26.50 (2 kat!)</a:t>
            </a:r>
            <a:br/>
            <a:r>
              <a:t>Hizli ozellik ekleme, kohezyon kaybi</a:t>
            </a:r>
          </a:p>
        </p:txBody>
      </p:sp>
      <p:sp>
        <p:nvSpPr>
          <p:cNvPr id="8" name="Rectangle 7"/>
          <p:cNvSpPr/>
          <p:nvPr/>
        </p:nvSpPr>
        <p:spPr>
          <a:xfrm>
            <a:off x="7315200" y="2743200"/>
            <a:ext cx="4572000" cy="13716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79" y="2834640"/>
            <a:ext cx="4206240" cy="274320"/>
          </a:xfrm>
          <a:prstGeom prst="rect">
            <a:avLst/>
          </a:prstGeom>
          <a:noFill/>
        </p:spPr>
        <p:txBody>
          <a:bodyPr wrap="square">
            <a:spAutoFit/>
          </a:bodyPr>
          <a:lstStyle/>
          <a:p>
            <a:pPr algn="l">
              <a:defRPr sz="1500" b="1">
                <a:solidFill>
                  <a:srgbClr val="FFFFFF"/>
                </a:solidFill>
                <a:latin typeface="Calibri"/>
              </a:defRPr>
            </a:pPr>
            <a:r>
              <a:t>Donem 2: Stabil Evrim (v2.0 - v2.13)</a:t>
            </a:r>
          </a:p>
        </p:txBody>
      </p:sp>
      <p:sp>
        <p:nvSpPr>
          <p:cNvPr id="10" name="TextBox 9"/>
          <p:cNvSpPr txBox="1"/>
          <p:nvPr/>
        </p:nvSpPr>
        <p:spPr>
          <a:xfrm>
            <a:off x="7498079" y="3200400"/>
            <a:ext cx="4206240" cy="822960"/>
          </a:xfrm>
          <a:prstGeom prst="rect">
            <a:avLst/>
          </a:prstGeom>
          <a:noFill/>
        </p:spPr>
        <p:txBody>
          <a:bodyPr wrap="square">
            <a:spAutoFit/>
          </a:bodyPr>
          <a:lstStyle/>
          <a:p>
            <a:pPr algn="l">
              <a:defRPr sz="1300" b="0">
                <a:solidFill>
                  <a:srgbClr val="FFFFFF"/>
                </a:solidFill>
                <a:latin typeface="Calibri"/>
              </a:defRPr>
            </a:pPr>
            <a:r>
              <a:t>Sinif: 351 -&gt; 364 (+%3.7)</a:t>
            </a:r>
            <a:br/>
            <a:r>
              <a:t>Metrikler dar bantta</a:t>
            </a:r>
            <a:br/>
            <a:r>
              <a:t>Olgun gelistirme donemi</a:t>
            </a:r>
          </a:p>
        </p:txBody>
      </p:sp>
      <p:sp>
        <p:nvSpPr>
          <p:cNvPr id="11" name="Rectangle 10"/>
          <p:cNvSpPr/>
          <p:nvPr/>
        </p:nvSpPr>
        <p:spPr>
          <a:xfrm>
            <a:off x="7315200" y="4297680"/>
            <a:ext cx="4572000" cy="16459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4389120"/>
            <a:ext cx="4206240" cy="274320"/>
          </a:xfrm>
          <a:prstGeom prst="rect">
            <a:avLst/>
          </a:prstGeom>
          <a:noFill/>
        </p:spPr>
        <p:txBody>
          <a:bodyPr wrap="square">
            <a:spAutoFit/>
          </a:bodyPr>
          <a:lstStyle/>
          <a:p>
            <a:pPr algn="l">
              <a:defRPr sz="1500" b="1">
                <a:solidFill>
                  <a:srgbClr val="FFFFFF"/>
                </a:solidFill>
                <a:latin typeface="Calibri"/>
              </a:defRPr>
            </a:pPr>
            <a:r>
              <a:t>Donem 3: Yapisal Donusum (v2.16 - v3.0)</a:t>
            </a:r>
          </a:p>
        </p:txBody>
      </p:sp>
      <p:sp>
        <p:nvSpPr>
          <p:cNvPr id="13" name="TextBox 12"/>
          <p:cNvSpPr txBox="1"/>
          <p:nvPr/>
        </p:nvSpPr>
        <p:spPr>
          <a:xfrm>
            <a:off x="7498079" y="4754880"/>
            <a:ext cx="4206240" cy="1097280"/>
          </a:xfrm>
          <a:prstGeom prst="rect">
            <a:avLst/>
          </a:prstGeom>
          <a:noFill/>
        </p:spPr>
        <p:txBody>
          <a:bodyPr wrap="square">
            <a:spAutoFit/>
          </a:bodyPr>
          <a:lstStyle/>
          <a:p>
            <a:pPr algn="l">
              <a:defRPr sz="1300" b="0">
                <a:solidFill>
                  <a:srgbClr val="FFFFFF"/>
                </a:solidFill>
                <a:latin typeface="Calibri"/>
              </a:defRPr>
            </a:pPr>
            <a:r>
              <a:t>Sinif: 364 -&gt; 591 (+%62!)</a:t>
            </a:r>
            <a:br/>
            <a:r>
              <a:t>WMC: 15.30 -&gt; 12.02 (dusus)</a:t>
            </a:r>
            <a:br/>
            <a:r>
              <a:t>Max CBO: 140 -&gt; 214 (artis)</a:t>
            </a:r>
            <a:br/>
            <a:r>
              <a:t>Buyuk modul entegrasyonu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3000" b="1">
                <a:solidFill>
                  <a:srgbClr val="FFFFFF"/>
                </a:solidFill>
                <a:latin typeface="Calibri"/>
              </a:defRPr>
            </a:pPr>
            <a:r>
              <a:t>CK Tool Nedir ve Nasil Calistirdik?</a:t>
            </a:r>
          </a:p>
        </p:txBody>
      </p:sp>
      <p:sp>
        <p:nvSpPr>
          <p:cNvPr id="4" name="Rectangle 3"/>
          <p:cNvSpPr/>
          <p:nvPr/>
        </p:nvSpPr>
        <p:spPr>
          <a:xfrm>
            <a:off x="274320" y="1188720"/>
            <a:ext cx="5669280" cy="548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5303520" cy="365760"/>
          </a:xfrm>
          <a:prstGeom prst="rect">
            <a:avLst/>
          </a:prstGeom>
          <a:noFill/>
        </p:spPr>
        <p:txBody>
          <a:bodyPr wrap="square">
            <a:spAutoFit/>
          </a:bodyPr>
          <a:lstStyle/>
          <a:p>
            <a:pPr algn="l">
              <a:defRPr sz="2000" b="1">
                <a:solidFill>
                  <a:srgbClr val="00528A"/>
                </a:solidFill>
                <a:latin typeface="Calibri"/>
              </a:defRPr>
            </a:pPr>
            <a:r>
              <a:t>CK Tool (Chidamber-Kemerer Tool)</a:t>
            </a:r>
          </a:p>
        </p:txBody>
      </p:sp>
      <p:sp>
        <p:nvSpPr>
          <p:cNvPr id="6" name="TextBox 5"/>
          <p:cNvSpPr txBox="1"/>
          <p:nvPr/>
        </p:nvSpPr>
        <p:spPr>
          <a:xfrm>
            <a:off x="457200" y="1737360"/>
            <a:ext cx="5303520" cy="4754880"/>
          </a:xfrm>
          <a:prstGeom prst="rect">
            <a:avLst/>
          </a:prstGeom>
          <a:noFill/>
        </p:spPr>
        <p:txBody>
          <a:bodyPr wrap="square">
            <a:spAutoFit/>
          </a:bodyPr>
          <a:lstStyle/>
          <a:p>
            <a:pPr>
              <a:spcAft>
                <a:spcPts val="300"/>
              </a:spcAft>
              <a:defRPr sz="1400">
                <a:solidFill>
                  <a:srgbClr val="333333"/>
                </a:solidFill>
                <a:latin typeface="Calibri"/>
              </a:defRPr>
            </a:pPr>
            <a:r>
              <a:t>Mauricio Aniche tarafindan gelistirilen acik kaynak Java metrik analiz araci</a:t>
            </a:r>
          </a:p>
          <a:p>
            <a:pPr>
              <a:spcAft>
                <a:spcPts val="300"/>
              </a:spcAft>
              <a:defRPr sz="1400">
                <a:solidFill>
                  <a:srgbClr val="333333"/>
                </a:solidFill>
                <a:latin typeface="Calibri"/>
              </a:defRPr>
            </a:pPr>
          </a:p>
          <a:p>
            <a:pPr>
              <a:spcAft>
                <a:spcPts val="300"/>
              </a:spcAft>
              <a:defRPr sz="1400">
                <a:solidFill>
                  <a:srgbClr val="333333"/>
                </a:solidFill>
                <a:latin typeface="Calibri"/>
              </a:defRPr>
            </a:pPr>
            <a:r>
              <a:t>Nasil calisir?</a:t>
            </a:r>
          </a:p>
          <a:p>
            <a:pPr>
              <a:spcAft>
                <a:spcPts val="300"/>
              </a:spcAft>
              <a:defRPr sz="1400">
                <a:solidFill>
                  <a:srgbClr val="333333"/>
                </a:solidFill>
                <a:latin typeface="Calibri"/>
              </a:defRPr>
            </a:pPr>
            <a:r>
              <a:t>  -&gt; Java kaynak kodunu DERLEMEDEN (compile etmeden) analiz eder</a:t>
            </a:r>
          </a:p>
          <a:p>
            <a:pPr>
              <a:spcAft>
                <a:spcPts val="300"/>
              </a:spcAft>
              <a:defRPr sz="1400">
                <a:solidFill>
                  <a:srgbClr val="333333"/>
                </a:solidFill>
                <a:latin typeface="Calibri"/>
              </a:defRPr>
            </a:pPr>
            <a:r>
              <a:t>  -&gt; .java dosyalarini statik olarak parse eder</a:t>
            </a:r>
          </a:p>
          <a:p>
            <a:pPr>
              <a:spcAft>
                <a:spcPts val="300"/>
              </a:spcAft>
              <a:defRPr sz="1400">
                <a:solidFill>
                  <a:srgbClr val="333333"/>
                </a:solidFill>
                <a:latin typeface="Calibri"/>
              </a:defRPr>
            </a:pPr>
            <a:r>
              <a:t>  -&gt; Sinif bazinda CSV ciktisi uretir (class.csv)</a:t>
            </a:r>
          </a:p>
          <a:p>
            <a:pPr>
              <a:spcAft>
                <a:spcPts val="300"/>
              </a:spcAft>
              <a:defRPr sz="1400">
                <a:solidFill>
                  <a:srgbClr val="333333"/>
                </a:solidFill>
                <a:latin typeface="Calibri"/>
              </a:defRPr>
            </a:pPr>
          </a:p>
          <a:p>
            <a:pPr>
              <a:spcAft>
                <a:spcPts val="300"/>
              </a:spcAft>
              <a:defRPr sz="1400">
                <a:solidFill>
                  <a:srgbClr val="333333"/>
                </a:solidFill>
                <a:latin typeface="Calibri"/>
              </a:defRPr>
            </a:pPr>
            <a:r>
              <a:t>Olctugu metrikler:</a:t>
            </a:r>
          </a:p>
          <a:p>
            <a:pPr>
              <a:spcAft>
                <a:spcPts val="300"/>
              </a:spcAft>
              <a:defRPr sz="1400">
                <a:solidFill>
                  <a:srgbClr val="333333"/>
                </a:solidFill>
                <a:latin typeface="Calibri"/>
              </a:defRPr>
            </a:pPr>
            <a:r>
              <a:t>  -&gt; CBO (Coupling Between Objects)</a:t>
            </a:r>
          </a:p>
          <a:p>
            <a:pPr>
              <a:spcAft>
                <a:spcPts val="300"/>
              </a:spcAft>
              <a:defRPr sz="1400">
                <a:solidFill>
                  <a:srgbClr val="333333"/>
                </a:solidFill>
                <a:latin typeface="Calibri"/>
              </a:defRPr>
            </a:pPr>
            <a:r>
              <a:t>  -&gt; DIT (Depth of Inheritance Tree)</a:t>
            </a:r>
          </a:p>
          <a:p>
            <a:pPr>
              <a:spcAft>
                <a:spcPts val="300"/>
              </a:spcAft>
              <a:defRPr sz="1400">
                <a:solidFill>
                  <a:srgbClr val="333333"/>
                </a:solidFill>
                <a:latin typeface="Calibri"/>
              </a:defRPr>
            </a:pPr>
            <a:r>
              <a:t>  -&gt; WMC (Weighted Methods per Class)</a:t>
            </a:r>
          </a:p>
          <a:p>
            <a:pPr>
              <a:spcAft>
                <a:spcPts val="300"/>
              </a:spcAft>
              <a:defRPr sz="1400">
                <a:solidFill>
                  <a:srgbClr val="333333"/>
                </a:solidFill>
                <a:latin typeface="Calibri"/>
              </a:defRPr>
            </a:pPr>
            <a:r>
              <a:t>  -&gt; RFC (Response for a Class)</a:t>
            </a:r>
          </a:p>
          <a:p>
            <a:pPr>
              <a:spcAft>
                <a:spcPts val="300"/>
              </a:spcAft>
              <a:defRPr sz="1400">
                <a:solidFill>
                  <a:srgbClr val="333333"/>
                </a:solidFill>
                <a:latin typeface="Calibri"/>
              </a:defRPr>
            </a:pPr>
            <a:r>
              <a:t>  -&gt; LCOM (Lack of Cohesion of Methods)</a:t>
            </a:r>
          </a:p>
          <a:p>
            <a:pPr>
              <a:spcAft>
                <a:spcPts val="300"/>
              </a:spcAft>
              <a:defRPr sz="1400">
                <a:solidFill>
                  <a:srgbClr val="333333"/>
                </a:solidFill>
                <a:latin typeface="Calibri"/>
              </a:defRPr>
            </a:pPr>
            <a:r>
              <a:t>  -&gt; NOC (Number of Children)</a:t>
            </a:r>
          </a:p>
          <a:p>
            <a:pPr>
              <a:spcAft>
                <a:spcPts val="300"/>
              </a:spcAft>
              <a:defRPr sz="1400">
                <a:solidFill>
                  <a:srgbClr val="333333"/>
                </a:solidFill>
                <a:latin typeface="Calibri"/>
              </a:defRPr>
            </a:pPr>
            <a:r>
              <a:t>  -&gt; TCC (Tight Class Cohesion)</a:t>
            </a:r>
          </a:p>
          <a:p>
            <a:pPr>
              <a:spcAft>
                <a:spcPts val="300"/>
              </a:spcAft>
              <a:defRPr sz="1400">
                <a:solidFill>
                  <a:srgbClr val="333333"/>
                </a:solidFill>
                <a:latin typeface="Calibri"/>
              </a:defRPr>
            </a:pPr>
            <a:r>
              <a:t>  -&gt; publicMethodsQty, privateFieldsQty,</a:t>
            </a:r>
          </a:p>
          <a:p>
            <a:pPr>
              <a:spcAft>
                <a:spcPts val="300"/>
              </a:spcAft>
              <a:defRPr sz="1400">
                <a:solidFill>
                  <a:srgbClr val="333333"/>
                </a:solidFill>
                <a:latin typeface="Calibri"/>
              </a:defRPr>
            </a:pPr>
            <a:r>
              <a:t>     abstractMethodsQty, totalFieldsQty, LOC ...</a:t>
            </a:r>
          </a:p>
        </p:txBody>
      </p:sp>
      <p:sp>
        <p:nvSpPr>
          <p:cNvPr id="7" name="Rectangle 6"/>
          <p:cNvSpPr/>
          <p:nvPr/>
        </p:nvSpPr>
        <p:spPr>
          <a:xfrm>
            <a:off x="6217920" y="1188720"/>
            <a:ext cx="566928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280160"/>
            <a:ext cx="5303520" cy="365760"/>
          </a:xfrm>
          <a:prstGeom prst="rect">
            <a:avLst/>
          </a:prstGeom>
          <a:noFill/>
        </p:spPr>
        <p:txBody>
          <a:bodyPr wrap="square">
            <a:spAutoFit/>
          </a:bodyPr>
          <a:lstStyle/>
          <a:p>
            <a:pPr algn="l">
              <a:defRPr sz="1800" b="1">
                <a:solidFill>
                  <a:srgbClr val="0096D6"/>
                </a:solidFill>
                <a:latin typeface="Calibri"/>
              </a:defRPr>
            </a:pPr>
            <a:r>
              <a:t>1. Kurulum</a:t>
            </a:r>
          </a:p>
        </p:txBody>
      </p:sp>
      <p:sp>
        <p:nvSpPr>
          <p:cNvPr id="9" name="TextBox 8"/>
          <p:cNvSpPr txBox="1"/>
          <p:nvPr/>
        </p:nvSpPr>
        <p:spPr>
          <a:xfrm>
            <a:off x="6400800" y="1737360"/>
            <a:ext cx="5303520" cy="365760"/>
          </a:xfrm>
          <a:prstGeom prst="rect">
            <a:avLst/>
          </a:prstGeom>
          <a:noFill/>
        </p:spPr>
        <p:txBody>
          <a:bodyPr wrap="square">
            <a:spAutoFit/>
          </a:bodyPr>
          <a:lstStyle/>
          <a:p>
            <a:pPr algn="l">
              <a:defRPr sz="1400" b="0">
                <a:solidFill>
                  <a:srgbClr val="333333"/>
                </a:solidFill>
                <a:latin typeface="Calibri"/>
              </a:defRPr>
            </a:pPr>
            <a:r>
              <a:t>Maven Central'dan JAR indirildi:</a:t>
            </a:r>
          </a:p>
        </p:txBody>
      </p:sp>
      <p:sp>
        <p:nvSpPr>
          <p:cNvPr id="10" name="Rectangle 9"/>
          <p:cNvSpPr/>
          <p:nvPr/>
        </p:nvSpPr>
        <p:spPr>
          <a:xfrm>
            <a:off x="6400800" y="2194560"/>
            <a:ext cx="5303520" cy="64008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240280"/>
            <a:ext cx="5120640" cy="548640"/>
          </a:xfrm>
          <a:prstGeom prst="rect">
            <a:avLst/>
          </a:prstGeom>
          <a:noFill/>
        </p:spPr>
        <p:txBody>
          <a:bodyPr wrap="square">
            <a:spAutoFit/>
          </a:bodyPr>
          <a:lstStyle/>
          <a:p>
            <a:pPr algn="l">
              <a:defRPr sz="1100" b="0">
                <a:solidFill>
                  <a:srgbClr val="2ECC71"/>
                </a:solidFill>
                <a:latin typeface="Calibri"/>
              </a:defRPr>
            </a:pPr>
            <a:r>
              <a:t>curl -L -o ck-0.7.0-jar-with-dependencies.jar \</a:t>
            </a:r>
            <a:br/>
            <a:r>
              <a:t>  "https://repo1.maven.org/.../ck-0.7.0-..."</a:t>
            </a:r>
          </a:p>
        </p:txBody>
      </p:sp>
      <p:sp>
        <p:nvSpPr>
          <p:cNvPr id="12" name="Rectangle 11"/>
          <p:cNvSpPr/>
          <p:nvPr/>
        </p:nvSpPr>
        <p:spPr>
          <a:xfrm>
            <a:off x="6217920" y="3931920"/>
            <a:ext cx="566928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023360"/>
            <a:ext cx="5303520" cy="365760"/>
          </a:xfrm>
          <a:prstGeom prst="rect">
            <a:avLst/>
          </a:prstGeom>
          <a:noFill/>
        </p:spPr>
        <p:txBody>
          <a:bodyPr wrap="square">
            <a:spAutoFit/>
          </a:bodyPr>
          <a:lstStyle/>
          <a:p>
            <a:pPr algn="l">
              <a:defRPr sz="1800" b="1">
                <a:solidFill>
                  <a:srgbClr val="0096D6"/>
                </a:solidFill>
                <a:latin typeface="Calibri"/>
              </a:defRPr>
            </a:pPr>
            <a:r>
              <a:t>2. Calistirma Komutu</a:t>
            </a:r>
          </a:p>
        </p:txBody>
      </p:sp>
      <p:sp>
        <p:nvSpPr>
          <p:cNvPr id="14" name="TextBox 13"/>
          <p:cNvSpPr txBox="1"/>
          <p:nvPr/>
        </p:nvSpPr>
        <p:spPr>
          <a:xfrm>
            <a:off x="6400800" y="4480560"/>
            <a:ext cx="5303520" cy="365760"/>
          </a:xfrm>
          <a:prstGeom prst="rect">
            <a:avLst/>
          </a:prstGeom>
          <a:noFill/>
        </p:spPr>
        <p:txBody>
          <a:bodyPr wrap="square">
            <a:spAutoFit/>
          </a:bodyPr>
          <a:lstStyle/>
          <a:p>
            <a:pPr algn="l">
              <a:defRPr sz="1400" b="0">
                <a:solidFill>
                  <a:srgbClr val="333333"/>
                </a:solidFill>
                <a:latin typeface="Calibri"/>
              </a:defRPr>
            </a:pPr>
            <a:r>
              <a:t>Her surum icin tek komutla:</a:t>
            </a:r>
          </a:p>
        </p:txBody>
      </p:sp>
      <p:sp>
        <p:nvSpPr>
          <p:cNvPr id="15" name="Rectangle 14"/>
          <p:cNvSpPr/>
          <p:nvPr/>
        </p:nvSpPr>
        <p:spPr>
          <a:xfrm>
            <a:off x="6400800" y="4846320"/>
            <a:ext cx="5303520" cy="155448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892040"/>
            <a:ext cx="5120640" cy="1463040"/>
          </a:xfrm>
          <a:prstGeom prst="rect">
            <a:avLst/>
          </a:prstGeom>
          <a:noFill/>
        </p:spPr>
        <p:txBody>
          <a:bodyPr wrap="square">
            <a:spAutoFit/>
          </a:bodyPr>
          <a:lstStyle/>
          <a:p>
            <a:pPr algn="l">
              <a:defRPr sz="1200" b="0">
                <a:solidFill>
                  <a:srgbClr val="2ECC71"/>
                </a:solidFill>
                <a:latin typeface="Calibri"/>
              </a:defRPr>
            </a:pPr>
            <a:r>
              <a:t>java -jar ck-0.7.0-jar-with-dependencies.jar \</a:t>
            </a:r>
            <a:br/>
            <a:r>
              <a:t>  "anomaly-detection/src/main/java" \</a:t>
            </a:r>
            <a:br/>
            <a:r>
              <a:t>  false \     # anonym siniflar</a:t>
            </a:r>
            <a:br/>
            <a:r>
              <a:t>  0 \         # metrik esik</a:t>
            </a:r>
            <a:br/>
            <a:r>
              <a:t>  false \     # JAR dahil mi</a:t>
            </a:r>
            <a:br/>
            <a:r>
              <a:t>  "metrics/1.0.0.0/"  # cikti dizini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058400" cy="594360"/>
          </a:xfrm>
          <a:prstGeom prst="rect">
            <a:avLst/>
          </a:prstGeom>
          <a:noFill/>
        </p:spPr>
        <p:txBody>
          <a:bodyPr wrap="square">
            <a:spAutoFit/>
          </a:bodyPr>
          <a:lstStyle/>
          <a:p>
            <a:pPr algn="l">
              <a:defRPr sz="2800" b="1">
                <a:solidFill>
                  <a:srgbClr val="FFFFFF"/>
                </a:solidFill>
                <a:latin typeface="Calibri"/>
              </a:defRPr>
            </a:pPr>
            <a:r>
              <a:t>Ham Metrikler: CBO, DIT, WMC, RFC, LCOM, NOM, NOA</a:t>
            </a:r>
          </a:p>
        </p:txBody>
      </p:sp>
      <p:sp>
        <p:nvSpPr>
          <p:cNvPr id="4" name="Rectangle 3"/>
          <p:cNvSpPr/>
          <p:nvPr/>
        </p:nvSpPr>
        <p:spPr>
          <a:xfrm>
            <a:off x="182880" y="1051560"/>
            <a:ext cx="283464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1051560"/>
            <a:ext cx="2834640" cy="4572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 y="1078992"/>
            <a:ext cx="2688336" cy="402336"/>
          </a:xfrm>
          <a:prstGeom prst="rect">
            <a:avLst/>
          </a:prstGeom>
          <a:noFill/>
        </p:spPr>
        <p:txBody>
          <a:bodyPr wrap="square">
            <a:spAutoFit/>
          </a:bodyPr>
          <a:lstStyle/>
          <a:p>
            <a:pPr algn="l">
              <a:defRPr sz="1200" b="1">
                <a:solidFill>
                  <a:srgbClr val="FFFFFF"/>
                </a:solidFill>
                <a:latin typeface="Calibri"/>
              </a:defRPr>
            </a:pPr>
            <a:r>
              <a:t>CBO — Coupling Between Objects</a:t>
            </a:r>
          </a:p>
        </p:txBody>
      </p:sp>
      <p:sp>
        <p:nvSpPr>
          <p:cNvPr id="7" name="TextBox 6"/>
          <p:cNvSpPr txBox="1"/>
          <p:nvPr/>
        </p:nvSpPr>
        <p:spPr>
          <a:xfrm>
            <a:off x="256032" y="1554480"/>
            <a:ext cx="1325880" cy="201168"/>
          </a:xfrm>
          <a:prstGeom prst="rect">
            <a:avLst/>
          </a:prstGeom>
          <a:noFill/>
        </p:spPr>
        <p:txBody>
          <a:bodyPr wrap="square">
            <a:spAutoFit/>
          </a:bodyPr>
          <a:lstStyle/>
          <a:p>
            <a:pPr algn="l">
              <a:defRPr sz="1000" b="1">
                <a:solidFill>
                  <a:srgbClr val="E74C3C"/>
                </a:solidFill>
                <a:latin typeface="Calibri"/>
              </a:defRPr>
            </a:pPr>
            <a:r>
              <a:t>Ne olcer?</a:t>
            </a:r>
          </a:p>
        </p:txBody>
      </p:sp>
      <p:sp>
        <p:nvSpPr>
          <p:cNvPr id="8" name="TextBox 7"/>
          <p:cNvSpPr txBox="1"/>
          <p:nvPr/>
        </p:nvSpPr>
        <p:spPr>
          <a:xfrm>
            <a:off x="256032" y="1737360"/>
            <a:ext cx="1325880" cy="640080"/>
          </a:xfrm>
          <a:prstGeom prst="rect">
            <a:avLst/>
          </a:prstGeom>
          <a:noFill/>
        </p:spPr>
        <p:txBody>
          <a:bodyPr wrap="square">
            <a:spAutoFit/>
          </a:bodyPr>
          <a:lstStyle/>
          <a:p>
            <a:pPr algn="l">
              <a:defRPr sz="1000" b="0">
                <a:solidFill>
                  <a:srgbClr val="333333"/>
                </a:solidFill>
                <a:latin typeface="Calibri"/>
              </a:defRPr>
            </a:pPr>
            <a:r>
              <a:t>Bir sinifin kac farkli sinifa</a:t>
            </a:r>
            <a:br/>
            <a:r>
              <a:t>bagli oldugunu olcer.</a:t>
            </a:r>
          </a:p>
        </p:txBody>
      </p:sp>
      <p:sp>
        <p:nvSpPr>
          <p:cNvPr id="9" name="TextBox 8"/>
          <p:cNvSpPr txBox="1"/>
          <p:nvPr/>
        </p:nvSpPr>
        <p:spPr>
          <a:xfrm>
            <a:off x="1600200" y="1554480"/>
            <a:ext cx="1325880" cy="201168"/>
          </a:xfrm>
          <a:prstGeom prst="rect">
            <a:avLst/>
          </a:prstGeom>
          <a:noFill/>
        </p:spPr>
        <p:txBody>
          <a:bodyPr wrap="square">
            <a:spAutoFit/>
          </a:bodyPr>
          <a:lstStyle/>
          <a:p>
            <a:pPr algn="l">
              <a:defRPr sz="1000" b="1">
                <a:solidFill>
                  <a:srgbClr val="E74C3C"/>
                </a:solidFill>
                <a:latin typeface="Calibri"/>
              </a:defRPr>
            </a:pPr>
            <a:r>
              <a:t>Yuksekse?</a:t>
            </a:r>
          </a:p>
        </p:txBody>
      </p:sp>
      <p:sp>
        <p:nvSpPr>
          <p:cNvPr id="10" name="TextBox 9"/>
          <p:cNvSpPr txBox="1"/>
          <p:nvPr/>
        </p:nvSpPr>
        <p:spPr>
          <a:xfrm>
            <a:off x="1600200" y="1737360"/>
            <a:ext cx="1325880" cy="640080"/>
          </a:xfrm>
          <a:prstGeom prst="rect">
            <a:avLst/>
          </a:prstGeom>
          <a:noFill/>
        </p:spPr>
        <p:txBody>
          <a:bodyPr wrap="square">
            <a:spAutoFit/>
          </a:bodyPr>
          <a:lstStyle/>
          <a:p>
            <a:pPr algn="l">
              <a:defRPr sz="1000" b="0">
                <a:solidFill>
                  <a:srgbClr val="333333"/>
                </a:solidFill>
                <a:latin typeface="Calibri"/>
              </a:defRPr>
            </a:pPr>
            <a:r>
              <a:t>Yuksekse: Degisiklik yapinca</a:t>
            </a:r>
            <a:br/>
            <a:r>
              <a:t>diger siniflar etkilenir.</a:t>
            </a:r>
          </a:p>
        </p:txBody>
      </p:sp>
      <p:sp>
        <p:nvSpPr>
          <p:cNvPr id="11" name="Rectangle 10"/>
          <p:cNvSpPr/>
          <p:nvPr/>
        </p:nvSpPr>
        <p:spPr>
          <a:xfrm>
            <a:off x="210312" y="3063240"/>
            <a:ext cx="2779776" cy="4572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3108960"/>
            <a:ext cx="2651760" cy="365760"/>
          </a:xfrm>
          <a:prstGeom prst="rect">
            <a:avLst/>
          </a:prstGeom>
          <a:noFill/>
        </p:spPr>
        <p:txBody>
          <a:bodyPr wrap="square">
            <a:spAutoFit/>
          </a:bodyPr>
          <a:lstStyle/>
          <a:p>
            <a:pPr algn="l">
              <a:defRPr sz="1000" b="1">
                <a:solidFill>
                  <a:srgbClr val="E74C3C"/>
                </a:solidFill>
                <a:latin typeface="Calibri"/>
              </a:defRPr>
            </a:pPr>
            <a:r>
              <a:t>Projede: 8.58 -&gt; 10.47 (+%22)</a:t>
            </a:r>
          </a:p>
        </p:txBody>
      </p:sp>
      <p:sp>
        <p:nvSpPr>
          <p:cNvPr id="13" name="Rectangle 12"/>
          <p:cNvSpPr/>
          <p:nvPr/>
        </p:nvSpPr>
        <p:spPr>
          <a:xfrm>
            <a:off x="3200400" y="1051560"/>
            <a:ext cx="283464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0400" y="1051560"/>
            <a:ext cx="2834640" cy="45720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73552" y="1078992"/>
            <a:ext cx="2688336" cy="402336"/>
          </a:xfrm>
          <a:prstGeom prst="rect">
            <a:avLst/>
          </a:prstGeom>
          <a:noFill/>
        </p:spPr>
        <p:txBody>
          <a:bodyPr wrap="square">
            <a:spAutoFit/>
          </a:bodyPr>
          <a:lstStyle/>
          <a:p>
            <a:pPr algn="l">
              <a:defRPr sz="1200" b="1">
                <a:solidFill>
                  <a:srgbClr val="FFFFFF"/>
                </a:solidFill>
                <a:latin typeface="Calibri"/>
              </a:defRPr>
            </a:pPr>
            <a:r>
              <a:t>DIT — Depth of Inheritance Tree</a:t>
            </a:r>
          </a:p>
        </p:txBody>
      </p:sp>
      <p:sp>
        <p:nvSpPr>
          <p:cNvPr id="16" name="TextBox 15"/>
          <p:cNvSpPr txBox="1"/>
          <p:nvPr/>
        </p:nvSpPr>
        <p:spPr>
          <a:xfrm>
            <a:off x="3273552" y="1554480"/>
            <a:ext cx="1325880" cy="201168"/>
          </a:xfrm>
          <a:prstGeom prst="rect">
            <a:avLst/>
          </a:prstGeom>
          <a:noFill/>
        </p:spPr>
        <p:txBody>
          <a:bodyPr wrap="square">
            <a:spAutoFit/>
          </a:bodyPr>
          <a:lstStyle/>
          <a:p>
            <a:pPr algn="l">
              <a:defRPr sz="1000" b="1">
                <a:solidFill>
                  <a:srgbClr val="0096D6"/>
                </a:solidFill>
                <a:latin typeface="Calibri"/>
              </a:defRPr>
            </a:pPr>
            <a:r>
              <a:t>Ne olcer?</a:t>
            </a:r>
          </a:p>
        </p:txBody>
      </p:sp>
      <p:sp>
        <p:nvSpPr>
          <p:cNvPr id="17" name="TextBox 16"/>
          <p:cNvSpPr txBox="1"/>
          <p:nvPr/>
        </p:nvSpPr>
        <p:spPr>
          <a:xfrm>
            <a:off x="3273552" y="1737360"/>
            <a:ext cx="1325880" cy="640080"/>
          </a:xfrm>
          <a:prstGeom prst="rect">
            <a:avLst/>
          </a:prstGeom>
          <a:noFill/>
        </p:spPr>
        <p:txBody>
          <a:bodyPr wrap="square">
            <a:spAutoFit/>
          </a:bodyPr>
          <a:lstStyle/>
          <a:p>
            <a:pPr algn="l">
              <a:defRPr sz="1000" b="0">
                <a:solidFill>
                  <a:srgbClr val="333333"/>
                </a:solidFill>
                <a:latin typeface="Calibri"/>
              </a:defRPr>
            </a:pPr>
            <a:r>
              <a:t>Kalitim agacinda sinifin kac</a:t>
            </a:r>
            <a:br/>
            <a:r>
              <a:t>seviye derinlikte oldugu.</a:t>
            </a:r>
          </a:p>
        </p:txBody>
      </p:sp>
      <p:sp>
        <p:nvSpPr>
          <p:cNvPr id="18" name="TextBox 17"/>
          <p:cNvSpPr txBox="1"/>
          <p:nvPr/>
        </p:nvSpPr>
        <p:spPr>
          <a:xfrm>
            <a:off x="4617720" y="1554480"/>
            <a:ext cx="1325880" cy="201168"/>
          </a:xfrm>
          <a:prstGeom prst="rect">
            <a:avLst/>
          </a:prstGeom>
          <a:noFill/>
        </p:spPr>
        <p:txBody>
          <a:bodyPr wrap="square">
            <a:spAutoFit/>
          </a:bodyPr>
          <a:lstStyle/>
          <a:p>
            <a:pPr algn="l">
              <a:defRPr sz="1000" b="1">
                <a:solidFill>
                  <a:srgbClr val="E74C3C"/>
                </a:solidFill>
                <a:latin typeface="Calibri"/>
              </a:defRPr>
            </a:pPr>
            <a:r>
              <a:t>Yuksekse?</a:t>
            </a:r>
          </a:p>
        </p:txBody>
      </p:sp>
      <p:sp>
        <p:nvSpPr>
          <p:cNvPr id="19" name="TextBox 18"/>
          <p:cNvSpPr txBox="1"/>
          <p:nvPr/>
        </p:nvSpPr>
        <p:spPr>
          <a:xfrm>
            <a:off x="4617720" y="1737360"/>
            <a:ext cx="1325880" cy="640080"/>
          </a:xfrm>
          <a:prstGeom prst="rect">
            <a:avLst/>
          </a:prstGeom>
          <a:noFill/>
        </p:spPr>
        <p:txBody>
          <a:bodyPr wrap="square">
            <a:spAutoFit/>
          </a:bodyPr>
          <a:lstStyle/>
          <a:p>
            <a:pPr algn="l">
              <a:defRPr sz="1000" b="0">
                <a:solidFill>
                  <a:srgbClr val="333333"/>
                </a:solidFill>
                <a:latin typeface="Calibri"/>
              </a:defRPr>
            </a:pPr>
            <a:r>
              <a:t>Yuksekse: Ust siniflardan gelen</a:t>
            </a:r>
            <a:br/>
            <a:r>
              <a:t>davranislari anlamak zorlasir.</a:t>
            </a:r>
          </a:p>
        </p:txBody>
      </p:sp>
      <p:sp>
        <p:nvSpPr>
          <p:cNvPr id="20" name="Rectangle 19"/>
          <p:cNvSpPr/>
          <p:nvPr/>
        </p:nvSpPr>
        <p:spPr>
          <a:xfrm>
            <a:off x="3227832" y="3063240"/>
            <a:ext cx="2779776" cy="4572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91840" y="3108960"/>
            <a:ext cx="2651760" cy="365760"/>
          </a:xfrm>
          <a:prstGeom prst="rect">
            <a:avLst/>
          </a:prstGeom>
          <a:noFill/>
        </p:spPr>
        <p:txBody>
          <a:bodyPr wrap="square">
            <a:spAutoFit/>
          </a:bodyPr>
          <a:lstStyle/>
          <a:p>
            <a:pPr algn="l">
              <a:defRPr sz="1000" b="1">
                <a:solidFill>
                  <a:srgbClr val="0096D6"/>
                </a:solidFill>
                <a:latin typeface="Calibri"/>
              </a:defRPr>
            </a:pPr>
            <a:r>
              <a:t>Projede: Max DIT = 7 (sabit)</a:t>
            </a:r>
          </a:p>
        </p:txBody>
      </p:sp>
      <p:sp>
        <p:nvSpPr>
          <p:cNvPr id="22" name="Rectangle 21"/>
          <p:cNvSpPr/>
          <p:nvPr/>
        </p:nvSpPr>
        <p:spPr>
          <a:xfrm>
            <a:off x="6217920" y="1051560"/>
            <a:ext cx="283464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1051560"/>
            <a:ext cx="283464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91072" y="1078992"/>
            <a:ext cx="2688336" cy="402336"/>
          </a:xfrm>
          <a:prstGeom prst="rect">
            <a:avLst/>
          </a:prstGeom>
          <a:noFill/>
        </p:spPr>
        <p:txBody>
          <a:bodyPr wrap="square">
            <a:spAutoFit/>
          </a:bodyPr>
          <a:lstStyle/>
          <a:p>
            <a:pPr algn="l">
              <a:defRPr sz="1200" b="1">
                <a:solidFill>
                  <a:srgbClr val="FFFFFF"/>
                </a:solidFill>
                <a:latin typeface="Calibri"/>
              </a:defRPr>
            </a:pPr>
            <a:r>
              <a:t>WMC — Weighted Methods per Class</a:t>
            </a:r>
          </a:p>
        </p:txBody>
      </p:sp>
      <p:sp>
        <p:nvSpPr>
          <p:cNvPr id="25" name="TextBox 24"/>
          <p:cNvSpPr txBox="1"/>
          <p:nvPr/>
        </p:nvSpPr>
        <p:spPr>
          <a:xfrm>
            <a:off x="6291072" y="1554480"/>
            <a:ext cx="1325880" cy="201168"/>
          </a:xfrm>
          <a:prstGeom prst="rect">
            <a:avLst/>
          </a:prstGeom>
          <a:noFill/>
        </p:spPr>
        <p:txBody>
          <a:bodyPr wrap="square">
            <a:spAutoFit/>
          </a:bodyPr>
          <a:lstStyle/>
          <a:p>
            <a:pPr algn="l">
              <a:defRPr sz="1000" b="1">
                <a:solidFill>
                  <a:srgbClr val="FF8C00"/>
                </a:solidFill>
                <a:latin typeface="Calibri"/>
              </a:defRPr>
            </a:pPr>
            <a:r>
              <a:t>Ne olcer?</a:t>
            </a:r>
          </a:p>
        </p:txBody>
      </p:sp>
      <p:sp>
        <p:nvSpPr>
          <p:cNvPr id="26" name="TextBox 25"/>
          <p:cNvSpPr txBox="1"/>
          <p:nvPr/>
        </p:nvSpPr>
        <p:spPr>
          <a:xfrm>
            <a:off x="6291072" y="1737360"/>
            <a:ext cx="1325880" cy="640080"/>
          </a:xfrm>
          <a:prstGeom prst="rect">
            <a:avLst/>
          </a:prstGeom>
          <a:noFill/>
        </p:spPr>
        <p:txBody>
          <a:bodyPr wrap="square">
            <a:spAutoFit/>
          </a:bodyPr>
          <a:lstStyle/>
          <a:p>
            <a:pPr algn="l">
              <a:defRPr sz="1000" b="0">
                <a:solidFill>
                  <a:srgbClr val="333333"/>
                </a:solidFill>
                <a:latin typeface="Calibri"/>
              </a:defRPr>
            </a:pPr>
            <a:r>
              <a:t>Siniftaki metotlarin toplam</a:t>
            </a:r>
            <a:br/>
            <a:r>
              <a:t>karmasikligi.</a:t>
            </a:r>
          </a:p>
        </p:txBody>
      </p:sp>
      <p:sp>
        <p:nvSpPr>
          <p:cNvPr id="27" name="TextBox 26"/>
          <p:cNvSpPr txBox="1"/>
          <p:nvPr/>
        </p:nvSpPr>
        <p:spPr>
          <a:xfrm>
            <a:off x="7635240" y="1554480"/>
            <a:ext cx="1325880" cy="201168"/>
          </a:xfrm>
          <a:prstGeom prst="rect">
            <a:avLst/>
          </a:prstGeom>
          <a:noFill/>
        </p:spPr>
        <p:txBody>
          <a:bodyPr wrap="square">
            <a:spAutoFit/>
          </a:bodyPr>
          <a:lstStyle/>
          <a:p>
            <a:pPr algn="l">
              <a:defRPr sz="1000" b="1">
                <a:solidFill>
                  <a:srgbClr val="E74C3C"/>
                </a:solidFill>
                <a:latin typeface="Calibri"/>
              </a:defRPr>
            </a:pPr>
            <a:r>
              <a:t>Yuksekse?</a:t>
            </a:r>
          </a:p>
        </p:txBody>
      </p:sp>
      <p:sp>
        <p:nvSpPr>
          <p:cNvPr id="28" name="TextBox 27"/>
          <p:cNvSpPr txBox="1"/>
          <p:nvPr/>
        </p:nvSpPr>
        <p:spPr>
          <a:xfrm>
            <a:off x="7635240" y="1737360"/>
            <a:ext cx="1325880" cy="640080"/>
          </a:xfrm>
          <a:prstGeom prst="rect">
            <a:avLst/>
          </a:prstGeom>
          <a:noFill/>
        </p:spPr>
        <p:txBody>
          <a:bodyPr wrap="square">
            <a:spAutoFit/>
          </a:bodyPr>
          <a:lstStyle/>
          <a:p>
            <a:pPr algn="l">
              <a:defRPr sz="1000" b="0">
                <a:solidFill>
                  <a:srgbClr val="333333"/>
                </a:solidFill>
                <a:latin typeface="Calibri"/>
              </a:defRPr>
            </a:pPr>
            <a:r>
              <a:t>Yuksekse: Sinif cok is yapiyor,</a:t>
            </a:r>
            <a:br/>
            <a:r>
              <a:t>test etmek ve anlamak zor.</a:t>
            </a:r>
          </a:p>
        </p:txBody>
      </p:sp>
      <p:sp>
        <p:nvSpPr>
          <p:cNvPr id="29" name="Rectangle 28"/>
          <p:cNvSpPr/>
          <p:nvPr/>
        </p:nvSpPr>
        <p:spPr>
          <a:xfrm>
            <a:off x="6245352" y="3063240"/>
            <a:ext cx="2779776" cy="4572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59" y="3108960"/>
            <a:ext cx="2651760" cy="365760"/>
          </a:xfrm>
          <a:prstGeom prst="rect">
            <a:avLst/>
          </a:prstGeom>
          <a:noFill/>
        </p:spPr>
        <p:txBody>
          <a:bodyPr wrap="square">
            <a:spAutoFit/>
          </a:bodyPr>
          <a:lstStyle/>
          <a:p>
            <a:pPr algn="l">
              <a:defRPr sz="1000" b="1">
                <a:solidFill>
                  <a:srgbClr val="FF8C00"/>
                </a:solidFill>
                <a:latin typeface="Calibri"/>
              </a:defRPr>
            </a:pPr>
            <a:r>
              <a:t>Projede: 11.69 -&gt; 12.16 (stabil)</a:t>
            </a:r>
          </a:p>
        </p:txBody>
      </p:sp>
      <p:sp>
        <p:nvSpPr>
          <p:cNvPr id="31" name="Rectangle 30"/>
          <p:cNvSpPr/>
          <p:nvPr/>
        </p:nvSpPr>
        <p:spPr>
          <a:xfrm>
            <a:off x="9235439" y="1051560"/>
            <a:ext cx="283464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235439" y="1051560"/>
            <a:ext cx="2834640" cy="4572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08591" y="1078992"/>
            <a:ext cx="2688336" cy="402336"/>
          </a:xfrm>
          <a:prstGeom prst="rect">
            <a:avLst/>
          </a:prstGeom>
          <a:noFill/>
        </p:spPr>
        <p:txBody>
          <a:bodyPr wrap="square">
            <a:spAutoFit/>
          </a:bodyPr>
          <a:lstStyle/>
          <a:p>
            <a:pPr algn="l">
              <a:defRPr sz="1200" b="1">
                <a:solidFill>
                  <a:srgbClr val="FFFFFF"/>
                </a:solidFill>
                <a:latin typeface="Calibri"/>
              </a:defRPr>
            </a:pPr>
            <a:r>
              <a:t>RFC — Response for a Class</a:t>
            </a:r>
          </a:p>
        </p:txBody>
      </p:sp>
      <p:sp>
        <p:nvSpPr>
          <p:cNvPr id="34" name="TextBox 33"/>
          <p:cNvSpPr txBox="1"/>
          <p:nvPr/>
        </p:nvSpPr>
        <p:spPr>
          <a:xfrm>
            <a:off x="9308591" y="1554480"/>
            <a:ext cx="1325880" cy="201168"/>
          </a:xfrm>
          <a:prstGeom prst="rect">
            <a:avLst/>
          </a:prstGeom>
          <a:noFill/>
        </p:spPr>
        <p:txBody>
          <a:bodyPr wrap="square">
            <a:spAutoFit/>
          </a:bodyPr>
          <a:lstStyle/>
          <a:p>
            <a:pPr algn="l">
              <a:defRPr sz="1000" b="1">
                <a:solidFill>
                  <a:srgbClr val="8E44AD"/>
                </a:solidFill>
                <a:latin typeface="Calibri"/>
              </a:defRPr>
            </a:pPr>
            <a:r>
              <a:t>Ne olcer?</a:t>
            </a:r>
          </a:p>
        </p:txBody>
      </p:sp>
      <p:sp>
        <p:nvSpPr>
          <p:cNvPr id="35" name="TextBox 34"/>
          <p:cNvSpPr txBox="1"/>
          <p:nvPr/>
        </p:nvSpPr>
        <p:spPr>
          <a:xfrm>
            <a:off x="9308591" y="1737360"/>
            <a:ext cx="1325880" cy="640080"/>
          </a:xfrm>
          <a:prstGeom prst="rect">
            <a:avLst/>
          </a:prstGeom>
          <a:noFill/>
        </p:spPr>
        <p:txBody>
          <a:bodyPr wrap="square">
            <a:spAutoFit/>
          </a:bodyPr>
          <a:lstStyle/>
          <a:p>
            <a:pPr algn="l">
              <a:defRPr sz="1000" b="0">
                <a:solidFill>
                  <a:srgbClr val="333333"/>
                </a:solidFill>
                <a:latin typeface="Calibri"/>
              </a:defRPr>
            </a:pPr>
            <a:r>
              <a:t>Mesaj gelince calisabilecek</a:t>
            </a:r>
            <a:br/>
            <a:r>
              <a:t>toplam metot sayisi.</a:t>
            </a:r>
          </a:p>
        </p:txBody>
      </p:sp>
      <p:sp>
        <p:nvSpPr>
          <p:cNvPr id="36" name="TextBox 35"/>
          <p:cNvSpPr txBox="1"/>
          <p:nvPr/>
        </p:nvSpPr>
        <p:spPr>
          <a:xfrm>
            <a:off x="10652759" y="1554480"/>
            <a:ext cx="1325880" cy="201168"/>
          </a:xfrm>
          <a:prstGeom prst="rect">
            <a:avLst/>
          </a:prstGeom>
          <a:noFill/>
        </p:spPr>
        <p:txBody>
          <a:bodyPr wrap="square">
            <a:spAutoFit/>
          </a:bodyPr>
          <a:lstStyle/>
          <a:p>
            <a:pPr algn="l">
              <a:defRPr sz="1000" b="1">
                <a:solidFill>
                  <a:srgbClr val="E74C3C"/>
                </a:solidFill>
                <a:latin typeface="Calibri"/>
              </a:defRPr>
            </a:pPr>
            <a:r>
              <a:t>Yuksekse?</a:t>
            </a:r>
          </a:p>
        </p:txBody>
      </p:sp>
      <p:sp>
        <p:nvSpPr>
          <p:cNvPr id="37" name="TextBox 36"/>
          <p:cNvSpPr txBox="1"/>
          <p:nvPr/>
        </p:nvSpPr>
        <p:spPr>
          <a:xfrm>
            <a:off x="10652759" y="1737360"/>
            <a:ext cx="1325880" cy="640080"/>
          </a:xfrm>
          <a:prstGeom prst="rect">
            <a:avLst/>
          </a:prstGeom>
          <a:noFill/>
        </p:spPr>
        <p:txBody>
          <a:bodyPr wrap="square">
            <a:spAutoFit/>
          </a:bodyPr>
          <a:lstStyle/>
          <a:p>
            <a:pPr algn="l">
              <a:defRPr sz="1000" b="0">
                <a:solidFill>
                  <a:srgbClr val="333333"/>
                </a:solidFill>
                <a:latin typeface="Calibri"/>
              </a:defRPr>
            </a:pPr>
            <a:r>
              <a:t>Yuksekse: Hata ayiklama</a:t>
            </a:r>
            <a:br/>
            <a:r>
              <a:t>zorlasir, yan etkiler artar.</a:t>
            </a:r>
          </a:p>
        </p:txBody>
      </p:sp>
      <p:sp>
        <p:nvSpPr>
          <p:cNvPr id="38" name="Rectangle 37"/>
          <p:cNvSpPr/>
          <p:nvPr/>
        </p:nvSpPr>
        <p:spPr>
          <a:xfrm>
            <a:off x="9262871" y="3063240"/>
            <a:ext cx="2779776" cy="4572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26879" y="3108960"/>
            <a:ext cx="2651760" cy="365760"/>
          </a:xfrm>
          <a:prstGeom prst="rect">
            <a:avLst/>
          </a:prstGeom>
          <a:noFill/>
        </p:spPr>
        <p:txBody>
          <a:bodyPr wrap="square">
            <a:spAutoFit/>
          </a:bodyPr>
          <a:lstStyle/>
          <a:p>
            <a:pPr algn="l">
              <a:defRPr sz="1000" b="1">
                <a:solidFill>
                  <a:srgbClr val="8E44AD"/>
                </a:solidFill>
                <a:latin typeface="Calibri"/>
              </a:defRPr>
            </a:pPr>
            <a:r>
              <a:t>Projede: 16.16 -&gt; 15.52</a:t>
            </a:r>
          </a:p>
        </p:txBody>
      </p:sp>
      <p:sp>
        <p:nvSpPr>
          <p:cNvPr id="40" name="Rectangle 39"/>
          <p:cNvSpPr/>
          <p:nvPr/>
        </p:nvSpPr>
        <p:spPr>
          <a:xfrm>
            <a:off x="182880" y="3886200"/>
            <a:ext cx="283464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82880" y="3886200"/>
            <a:ext cx="2834640" cy="4572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6032" y="3913632"/>
            <a:ext cx="2688336" cy="402336"/>
          </a:xfrm>
          <a:prstGeom prst="rect">
            <a:avLst/>
          </a:prstGeom>
          <a:noFill/>
        </p:spPr>
        <p:txBody>
          <a:bodyPr wrap="square">
            <a:spAutoFit/>
          </a:bodyPr>
          <a:lstStyle/>
          <a:p>
            <a:pPr algn="l">
              <a:defRPr sz="1200" b="1">
                <a:solidFill>
                  <a:srgbClr val="FFFFFF"/>
                </a:solidFill>
                <a:latin typeface="Calibri"/>
              </a:defRPr>
            </a:pPr>
            <a:r>
              <a:t>LCOM — Lack of Cohesion of Methods</a:t>
            </a:r>
          </a:p>
        </p:txBody>
      </p:sp>
      <p:sp>
        <p:nvSpPr>
          <p:cNvPr id="43" name="TextBox 42"/>
          <p:cNvSpPr txBox="1"/>
          <p:nvPr/>
        </p:nvSpPr>
        <p:spPr>
          <a:xfrm>
            <a:off x="256032" y="4389120"/>
            <a:ext cx="1325880" cy="201168"/>
          </a:xfrm>
          <a:prstGeom prst="rect">
            <a:avLst/>
          </a:prstGeom>
          <a:noFill/>
        </p:spPr>
        <p:txBody>
          <a:bodyPr wrap="square">
            <a:spAutoFit/>
          </a:bodyPr>
          <a:lstStyle/>
          <a:p>
            <a:pPr algn="l">
              <a:defRPr sz="1000" b="1">
                <a:solidFill>
                  <a:srgbClr val="E74C3C"/>
                </a:solidFill>
                <a:latin typeface="Calibri"/>
              </a:defRPr>
            </a:pPr>
            <a:r>
              <a:t>Ne olcer?</a:t>
            </a:r>
          </a:p>
        </p:txBody>
      </p:sp>
      <p:sp>
        <p:nvSpPr>
          <p:cNvPr id="44" name="TextBox 43"/>
          <p:cNvSpPr txBox="1"/>
          <p:nvPr/>
        </p:nvSpPr>
        <p:spPr>
          <a:xfrm>
            <a:off x="256032" y="4572000"/>
            <a:ext cx="1325880" cy="640080"/>
          </a:xfrm>
          <a:prstGeom prst="rect">
            <a:avLst/>
          </a:prstGeom>
          <a:noFill/>
        </p:spPr>
        <p:txBody>
          <a:bodyPr wrap="square">
            <a:spAutoFit/>
          </a:bodyPr>
          <a:lstStyle/>
          <a:p>
            <a:pPr algn="l">
              <a:defRPr sz="1000" b="0">
                <a:solidFill>
                  <a:srgbClr val="333333"/>
                </a:solidFill>
                <a:latin typeface="Calibri"/>
              </a:defRPr>
            </a:pPr>
            <a:r>
              <a:t>Metotlarin birbirleriyle ne</a:t>
            </a:r>
            <a:br/>
            <a:r>
              <a:t>kadar ilgisiz oldugu.</a:t>
            </a:r>
          </a:p>
        </p:txBody>
      </p:sp>
      <p:sp>
        <p:nvSpPr>
          <p:cNvPr id="45" name="TextBox 44"/>
          <p:cNvSpPr txBox="1"/>
          <p:nvPr/>
        </p:nvSpPr>
        <p:spPr>
          <a:xfrm>
            <a:off x="1600200" y="4389120"/>
            <a:ext cx="1325880" cy="201168"/>
          </a:xfrm>
          <a:prstGeom prst="rect">
            <a:avLst/>
          </a:prstGeom>
          <a:noFill/>
        </p:spPr>
        <p:txBody>
          <a:bodyPr wrap="square">
            <a:spAutoFit/>
          </a:bodyPr>
          <a:lstStyle/>
          <a:p>
            <a:pPr algn="l">
              <a:defRPr sz="1000" b="1">
                <a:solidFill>
                  <a:srgbClr val="E74C3C"/>
                </a:solidFill>
                <a:latin typeface="Calibri"/>
              </a:defRPr>
            </a:pPr>
            <a:r>
              <a:t>Yuksekse?</a:t>
            </a:r>
          </a:p>
        </p:txBody>
      </p:sp>
      <p:sp>
        <p:nvSpPr>
          <p:cNvPr id="46" name="TextBox 45"/>
          <p:cNvSpPr txBox="1"/>
          <p:nvPr/>
        </p:nvSpPr>
        <p:spPr>
          <a:xfrm>
            <a:off x="1600200" y="4572000"/>
            <a:ext cx="1325880" cy="640080"/>
          </a:xfrm>
          <a:prstGeom prst="rect">
            <a:avLst/>
          </a:prstGeom>
          <a:noFill/>
        </p:spPr>
        <p:txBody>
          <a:bodyPr wrap="square">
            <a:spAutoFit/>
          </a:bodyPr>
          <a:lstStyle/>
          <a:p>
            <a:pPr algn="l">
              <a:defRPr sz="1000" b="0">
                <a:solidFill>
                  <a:srgbClr val="333333"/>
                </a:solidFill>
                <a:latin typeface="Calibri"/>
              </a:defRPr>
            </a:pPr>
            <a:r>
              <a:t>Yuksekse: Sinif birden fazla is</a:t>
            </a:r>
            <a:br/>
            <a:r>
              <a:t>yapiyor (SRP ihlali).</a:t>
            </a:r>
          </a:p>
        </p:txBody>
      </p:sp>
      <p:sp>
        <p:nvSpPr>
          <p:cNvPr id="47" name="Rectangle 46"/>
          <p:cNvSpPr/>
          <p:nvPr/>
        </p:nvSpPr>
        <p:spPr>
          <a:xfrm>
            <a:off x="210312" y="5897880"/>
            <a:ext cx="2779776" cy="4572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4320" y="5943600"/>
            <a:ext cx="2651760" cy="365760"/>
          </a:xfrm>
          <a:prstGeom prst="rect">
            <a:avLst/>
          </a:prstGeom>
          <a:noFill/>
        </p:spPr>
        <p:txBody>
          <a:bodyPr wrap="square">
            <a:spAutoFit/>
          </a:bodyPr>
          <a:lstStyle/>
          <a:p>
            <a:pPr algn="l">
              <a:defRPr sz="1000" b="1">
                <a:solidFill>
                  <a:srgbClr val="E74C3C"/>
                </a:solidFill>
                <a:latin typeface="Calibri"/>
              </a:defRPr>
            </a:pPr>
            <a:r>
              <a:t>Projede: 13.89 -&gt; 18.57 (+%34)</a:t>
            </a:r>
          </a:p>
        </p:txBody>
      </p:sp>
      <p:sp>
        <p:nvSpPr>
          <p:cNvPr id="49" name="Rectangle 48"/>
          <p:cNvSpPr/>
          <p:nvPr/>
        </p:nvSpPr>
        <p:spPr>
          <a:xfrm>
            <a:off x="3200400" y="3886200"/>
            <a:ext cx="283464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200400" y="3886200"/>
            <a:ext cx="2834640" cy="4572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73552" y="3913632"/>
            <a:ext cx="2688336" cy="402336"/>
          </a:xfrm>
          <a:prstGeom prst="rect">
            <a:avLst/>
          </a:prstGeom>
          <a:noFill/>
        </p:spPr>
        <p:txBody>
          <a:bodyPr wrap="square">
            <a:spAutoFit/>
          </a:bodyPr>
          <a:lstStyle/>
          <a:p>
            <a:pPr algn="l">
              <a:defRPr sz="1200" b="1">
                <a:solidFill>
                  <a:srgbClr val="FFFFFF"/>
                </a:solidFill>
                <a:latin typeface="Calibri"/>
              </a:defRPr>
            </a:pPr>
            <a:r>
              <a:t>NOM — Number of Methods</a:t>
            </a:r>
          </a:p>
        </p:txBody>
      </p:sp>
      <p:sp>
        <p:nvSpPr>
          <p:cNvPr id="52" name="TextBox 51"/>
          <p:cNvSpPr txBox="1"/>
          <p:nvPr/>
        </p:nvSpPr>
        <p:spPr>
          <a:xfrm>
            <a:off x="3273552" y="4389120"/>
            <a:ext cx="1325880" cy="201168"/>
          </a:xfrm>
          <a:prstGeom prst="rect">
            <a:avLst/>
          </a:prstGeom>
          <a:noFill/>
        </p:spPr>
        <p:txBody>
          <a:bodyPr wrap="square">
            <a:spAutoFit/>
          </a:bodyPr>
          <a:lstStyle/>
          <a:p>
            <a:pPr algn="l">
              <a:defRPr sz="1000" b="1">
                <a:solidFill>
                  <a:srgbClr val="00897B"/>
                </a:solidFill>
                <a:latin typeface="Calibri"/>
              </a:defRPr>
            </a:pPr>
            <a:r>
              <a:t>Ne olcer?</a:t>
            </a:r>
          </a:p>
        </p:txBody>
      </p:sp>
      <p:sp>
        <p:nvSpPr>
          <p:cNvPr id="53" name="TextBox 52"/>
          <p:cNvSpPr txBox="1"/>
          <p:nvPr/>
        </p:nvSpPr>
        <p:spPr>
          <a:xfrm>
            <a:off x="3273552" y="4572000"/>
            <a:ext cx="1325880" cy="640080"/>
          </a:xfrm>
          <a:prstGeom prst="rect">
            <a:avLst/>
          </a:prstGeom>
          <a:noFill/>
        </p:spPr>
        <p:txBody>
          <a:bodyPr wrap="square">
            <a:spAutoFit/>
          </a:bodyPr>
          <a:lstStyle/>
          <a:p>
            <a:pPr algn="l">
              <a:defRPr sz="1000" b="0">
                <a:solidFill>
                  <a:srgbClr val="333333"/>
                </a:solidFill>
                <a:latin typeface="Calibri"/>
              </a:defRPr>
            </a:pPr>
            <a:r>
              <a:t>Siniftaki toplam metot</a:t>
            </a:r>
            <a:br/>
            <a:r>
              <a:t>sayisini olcer.</a:t>
            </a:r>
          </a:p>
        </p:txBody>
      </p:sp>
      <p:sp>
        <p:nvSpPr>
          <p:cNvPr id="54" name="TextBox 53"/>
          <p:cNvSpPr txBox="1"/>
          <p:nvPr/>
        </p:nvSpPr>
        <p:spPr>
          <a:xfrm>
            <a:off x="4617720" y="4389120"/>
            <a:ext cx="1325880" cy="201168"/>
          </a:xfrm>
          <a:prstGeom prst="rect">
            <a:avLst/>
          </a:prstGeom>
          <a:noFill/>
        </p:spPr>
        <p:txBody>
          <a:bodyPr wrap="square">
            <a:spAutoFit/>
          </a:bodyPr>
          <a:lstStyle/>
          <a:p>
            <a:pPr algn="l">
              <a:defRPr sz="1000" b="1">
                <a:solidFill>
                  <a:srgbClr val="E74C3C"/>
                </a:solidFill>
                <a:latin typeface="Calibri"/>
              </a:defRPr>
            </a:pPr>
            <a:r>
              <a:t>Yuksekse?</a:t>
            </a:r>
          </a:p>
        </p:txBody>
      </p:sp>
      <p:sp>
        <p:nvSpPr>
          <p:cNvPr id="55" name="TextBox 54"/>
          <p:cNvSpPr txBox="1"/>
          <p:nvPr/>
        </p:nvSpPr>
        <p:spPr>
          <a:xfrm>
            <a:off x="4617720" y="4572000"/>
            <a:ext cx="1325880" cy="640080"/>
          </a:xfrm>
          <a:prstGeom prst="rect">
            <a:avLst/>
          </a:prstGeom>
          <a:noFill/>
        </p:spPr>
        <p:txBody>
          <a:bodyPr wrap="square">
            <a:spAutoFit/>
          </a:bodyPr>
          <a:lstStyle/>
          <a:p>
            <a:pPr algn="l">
              <a:defRPr sz="1000" b="0">
                <a:solidFill>
                  <a:srgbClr val="333333"/>
                </a:solidFill>
                <a:latin typeface="Calibri"/>
              </a:defRPr>
            </a:pPr>
            <a:r>
              <a:t>Yuksekse: Sinif cok fazla</a:t>
            </a:r>
            <a:br/>
            <a:r>
              <a:t>sorumluluk tasiyor olabilir.</a:t>
            </a:r>
          </a:p>
        </p:txBody>
      </p:sp>
      <p:sp>
        <p:nvSpPr>
          <p:cNvPr id="56" name="Rectangle 55"/>
          <p:cNvSpPr/>
          <p:nvPr/>
        </p:nvSpPr>
        <p:spPr>
          <a:xfrm>
            <a:off x="3227832" y="5897880"/>
            <a:ext cx="2779776" cy="4572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291840" y="5943600"/>
            <a:ext cx="2651760" cy="365760"/>
          </a:xfrm>
          <a:prstGeom prst="rect">
            <a:avLst/>
          </a:prstGeom>
          <a:noFill/>
        </p:spPr>
        <p:txBody>
          <a:bodyPr wrap="square">
            <a:spAutoFit/>
          </a:bodyPr>
          <a:lstStyle/>
          <a:p>
            <a:pPr algn="l">
              <a:defRPr sz="1000" b="1">
                <a:solidFill>
                  <a:srgbClr val="00897B"/>
                </a:solidFill>
                <a:latin typeface="Calibri"/>
              </a:defRPr>
            </a:pPr>
            <a:r>
              <a:t>Projede: ort. 6.01 -&gt; 5.69</a:t>
            </a:r>
          </a:p>
        </p:txBody>
      </p:sp>
      <p:sp>
        <p:nvSpPr>
          <p:cNvPr id="58" name="Rectangle 57"/>
          <p:cNvSpPr/>
          <p:nvPr/>
        </p:nvSpPr>
        <p:spPr>
          <a:xfrm>
            <a:off x="6217920" y="3886200"/>
            <a:ext cx="283464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17920" y="3886200"/>
            <a:ext cx="2834640" cy="4572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1072" y="3913632"/>
            <a:ext cx="2688336" cy="402336"/>
          </a:xfrm>
          <a:prstGeom prst="rect">
            <a:avLst/>
          </a:prstGeom>
          <a:noFill/>
        </p:spPr>
        <p:txBody>
          <a:bodyPr wrap="square">
            <a:spAutoFit/>
          </a:bodyPr>
          <a:lstStyle/>
          <a:p>
            <a:pPr algn="l">
              <a:defRPr sz="1200" b="1">
                <a:solidFill>
                  <a:srgbClr val="FFFFFF"/>
                </a:solidFill>
                <a:latin typeface="Calibri"/>
              </a:defRPr>
            </a:pPr>
            <a:r>
              <a:t>NOA — Number of Attributes</a:t>
            </a:r>
          </a:p>
        </p:txBody>
      </p:sp>
      <p:sp>
        <p:nvSpPr>
          <p:cNvPr id="61" name="TextBox 60"/>
          <p:cNvSpPr txBox="1"/>
          <p:nvPr/>
        </p:nvSpPr>
        <p:spPr>
          <a:xfrm>
            <a:off x="6291072" y="4389120"/>
            <a:ext cx="1325880" cy="201168"/>
          </a:xfrm>
          <a:prstGeom prst="rect">
            <a:avLst/>
          </a:prstGeom>
          <a:noFill/>
        </p:spPr>
        <p:txBody>
          <a:bodyPr wrap="square">
            <a:spAutoFit/>
          </a:bodyPr>
          <a:lstStyle/>
          <a:p>
            <a:pPr algn="l">
              <a:defRPr sz="1000" b="1">
                <a:solidFill>
                  <a:srgbClr val="00897B"/>
                </a:solidFill>
                <a:latin typeface="Calibri"/>
              </a:defRPr>
            </a:pPr>
            <a:r>
              <a:t>Ne olcer?</a:t>
            </a:r>
          </a:p>
        </p:txBody>
      </p:sp>
      <p:sp>
        <p:nvSpPr>
          <p:cNvPr id="62" name="TextBox 61"/>
          <p:cNvSpPr txBox="1"/>
          <p:nvPr/>
        </p:nvSpPr>
        <p:spPr>
          <a:xfrm>
            <a:off x="6291072" y="4572000"/>
            <a:ext cx="1325880" cy="640080"/>
          </a:xfrm>
          <a:prstGeom prst="rect">
            <a:avLst/>
          </a:prstGeom>
          <a:noFill/>
        </p:spPr>
        <p:txBody>
          <a:bodyPr wrap="square">
            <a:spAutoFit/>
          </a:bodyPr>
          <a:lstStyle/>
          <a:p>
            <a:pPr algn="l">
              <a:defRPr sz="1000" b="0">
                <a:solidFill>
                  <a:srgbClr val="333333"/>
                </a:solidFill>
                <a:latin typeface="Calibri"/>
              </a:defRPr>
            </a:pPr>
            <a:r>
              <a:t>Siniftaki toplam alan (field)</a:t>
            </a:r>
            <a:br/>
            <a:r>
              <a:t>sayisini olcer.</a:t>
            </a:r>
          </a:p>
        </p:txBody>
      </p:sp>
      <p:sp>
        <p:nvSpPr>
          <p:cNvPr id="63" name="TextBox 62"/>
          <p:cNvSpPr txBox="1"/>
          <p:nvPr/>
        </p:nvSpPr>
        <p:spPr>
          <a:xfrm>
            <a:off x="7635240" y="4389120"/>
            <a:ext cx="1325880" cy="201168"/>
          </a:xfrm>
          <a:prstGeom prst="rect">
            <a:avLst/>
          </a:prstGeom>
          <a:noFill/>
        </p:spPr>
        <p:txBody>
          <a:bodyPr wrap="square">
            <a:spAutoFit/>
          </a:bodyPr>
          <a:lstStyle/>
          <a:p>
            <a:pPr algn="l">
              <a:defRPr sz="1000" b="1">
                <a:solidFill>
                  <a:srgbClr val="E74C3C"/>
                </a:solidFill>
                <a:latin typeface="Calibri"/>
              </a:defRPr>
            </a:pPr>
            <a:r>
              <a:t>Yuksekse?</a:t>
            </a:r>
          </a:p>
        </p:txBody>
      </p:sp>
      <p:sp>
        <p:nvSpPr>
          <p:cNvPr id="64" name="TextBox 63"/>
          <p:cNvSpPr txBox="1"/>
          <p:nvPr/>
        </p:nvSpPr>
        <p:spPr>
          <a:xfrm>
            <a:off x="7635240" y="4572000"/>
            <a:ext cx="1325880" cy="640080"/>
          </a:xfrm>
          <a:prstGeom prst="rect">
            <a:avLst/>
          </a:prstGeom>
          <a:noFill/>
        </p:spPr>
        <p:txBody>
          <a:bodyPr wrap="square">
            <a:spAutoFit/>
          </a:bodyPr>
          <a:lstStyle/>
          <a:p>
            <a:pPr algn="l">
              <a:defRPr sz="1000" b="0">
                <a:solidFill>
                  <a:srgbClr val="333333"/>
                </a:solidFill>
                <a:latin typeface="Calibri"/>
              </a:defRPr>
            </a:pPr>
            <a:r>
              <a:t>Yuksekse: Sinif cok fazla</a:t>
            </a:r>
            <a:br/>
            <a:r>
              <a:t>veri tasiyor, bolunmeli.</a:t>
            </a:r>
          </a:p>
        </p:txBody>
      </p:sp>
      <p:sp>
        <p:nvSpPr>
          <p:cNvPr id="65" name="Rectangle 64"/>
          <p:cNvSpPr/>
          <p:nvPr/>
        </p:nvSpPr>
        <p:spPr>
          <a:xfrm>
            <a:off x="6245352" y="5897880"/>
            <a:ext cx="2779776" cy="4572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09359" y="5943600"/>
            <a:ext cx="2651760" cy="365760"/>
          </a:xfrm>
          <a:prstGeom prst="rect">
            <a:avLst/>
          </a:prstGeom>
          <a:noFill/>
        </p:spPr>
        <p:txBody>
          <a:bodyPr wrap="square">
            <a:spAutoFit/>
          </a:bodyPr>
          <a:lstStyle/>
          <a:p>
            <a:pPr algn="l">
              <a:defRPr sz="1000" b="1">
                <a:solidFill>
                  <a:srgbClr val="00897B"/>
                </a:solidFill>
                <a:latin typeface="Calibri"/>
              </a:defRPr>
            </a:pPr>
            <a:r>
              <a:t>Projede: ort. 4.98 -&gt; 4.55</a:t>
            </a:r>
          </a:p>
        </p:txBody>
      </p:sp>
      <p:sp>
        <p:nvSpPr>
          <p:cNvPr id="67" name="Rectangle 66"/>
          <p:cNvSpPr/>
          <p:nvPr/>
        </p:nvSpPr>
        <p:spPr>
          <a:xfrm>
            <a:off x="9235439" y="3886200"/>
            <a:ext cx="283464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235439" y="3886200"/>
            <a:ext cx="2834640" cy="4572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308591" y="3913632"/>
            <a:ext cx="2688336" cy="402336"/>
          </a:xfrm>
          <a:prstGeom prst="rect">
            <a:avLst/>
          </a:prstGeom>
          <a:noFill/>
        </p:spPr>
        <p:txBody>
          <a:bodyPr wrap="square">
            <a:spAutoFit/>
          </a:bodyPr>
          <a:lstStyle/>
          <a:p>
            <a:pPr algn="l">
              <a:defRPr sz="1200" b="1">
                <a:solidFill>
                  <a:srgbClr val="FFFFFF"/>
                </a:solidFill>
                <a:latin typeface="Calibri"/>
              </a:defRPr>
            </a:pPr>
            <a:r>
              <a:t>NOC — Number of Children</a:t>
            </a:r>
          </a:p>
        </p:txBody>
      </p:sp>
      <p:sp>
        <p:nvSpPr>
          <p:cNvPr id="70" name="TextBox 69"/>
          <p:cNvSpPr txBox="1"/>
          <p:nvPr/>
        </p:nvSpPr>
        <p:spPr>
          <a:xfrm>
            <a:off x="9308591" y="4389120"/>
            <a:ext cx="1325880" cy="201168"/>
          </a:xfrm>
          <a:prstGeom prst="rect">
            <a:avLst/>
          </a:prstGeom>
          <a:noFill/>
        </p:spPr>
        <p:txBody>
          <a:bodyPr wrap="square">
            <a:spAutoFit/>
          </a:bodyPr>
          <a:lstStyle/>
          <a:p>
            <a:pPr algn="l">
              <a:defRPr sz="1000" b="1">
                <a:solidFill>
                  <a:srgbClr val="2ECC71"/>
                </a:solidFill>
                <a:latin typeface="Calibri"/>
              </a:defRPr>
            </a:pPr>
            <a:r>
              <a:t>Ne olcer?</a:t>
            </a:r>
          </a:p>
        </p:txBody>
      </p:sp>
      <p:sp>
        <p:nvSpPr>
          <p:cNvPr id="71" name="TextBox 70"/>
          <p:cNvSpPr txBox="1"/>
          <p:nvPr/>
        </p:nvSpPr>
        <p:spPr>
          <a:xfrm>
            <a:off x="9308591" y="4572000"/>
            <a:ext cx="1325880" cy="640080"/>
          </a:xfrm>
          <a:prstGeom prst="rect">
            <a:avLst/>
          </a:prstGeom>
          <a:noFill/>
        </p:spPr>
        <p:txBody>
          <a:bodyPr wrap="square">
            <a:spAutoFit/>
          </a:bodyPr>
          <a:lstStyle/>
          <a:p>
            <a:pPr algn="l">
              <a:defRPr sz="1000" b="0">
                <a:solidFill>
                  <a:srgbClr val="333333"/>
                </a:solidFill>
                <a:latin typeface="Calibri"/>
              </a:defRPr>
            </a:pPr>
            <a:r>
              <a:t>Bir sinifin kac dogrudan</a:t>
            </a:r>
            <a:br/>
            <a:r>
              <a:t>alt sinifi oldugu.</a:t>
            </a:r>
          </a:p>
        </p:txBody>
      </p:sp>
      <p:sp>
        <p:nvSpPr>
          <p:cNvPr id="72" name="TextBox 71"/>
          <p:cNvSpPr txBox="1"/>
          <p:nvPr/>
        </p:nvSpPr>
        <p:spPr>
          <a:xfrm>
            <a:off x="10652759" y="4389120"/>
            <a:ext cx="1325880" cy="201168"/>
          </a:xfrm>
          <a:prstGeom prst="rect">
            <a:avLst/>
          </a:prstGeom>
          <a:noFill/>
        </p:spPr>
        <p:txBody>
          <a:bodyPr wrap="square">
            <a:spAutoFit/>
          </a:bodyPr>
          <a:lstStyle/>
          <a:p>
            <a:pPr algn="l">
              <a:defRPr sz="1000" b="1">
                <a:solidFill>
                  <a:srgbClr val="E74C3C"/>
                </a:solidFill>
                <a:latin typeface="Calibri"/>
              </a:defRPr>
            </a:pPr>
            <a:r>
              <a:t>Yuksekse?</a:t>
            </a:r>
          </a:p>
        </p:txBody>
      </p:sp>
      <p:sp>
        <p:nvSpPr>
          <p:cNvPr id="73" name="TextBox 72"/>
          <p:cNvSpPr txBox="1"/>
          <p:nvPr/>
        </p:nvSpPr>
        <p:spPr>
          <a:xfrm>
            <a:off x="10652759" y="4572000"/>
            <a:ext cx="1325880" cy="640080"/>
          </a:xfrm>
          <a:prstGeom prst="rect">
            <a:avLst/>
          </a:prstGeom>
          <a:noFill/>
        </p:spPr>
        <p:txBody>
          <a:bodyPr wrap="square">
            <a:spAutoFit/>
          </a:bodyPr>
          <a:lstStyle/>
          <a:p>
            <a:pPr algn="l">
              <a:defRPr sz="1000" b="0">
                <a:solidFill>
                  <a:srgbClr val="333333"/>
                </a:solidFill>
                <a:latin typeface="Calibri"/>
              </a:defRPr>
            </a:pPr>
            <a:r>
              <a:t>Yuksekse: Bu sinif degisirse</a:t>
            </a:r>
            <a:br/>
            <a:r>
              <a:t>tum cocuklar etkilenir.</a:t>
            </a:r>
          </a:p>
        </p:txBody>
      </p:sp>
      <p:sp>
        <p:nvSpPr>
          <p:cNvPr id="74" name="Rectangle 73"/>
          <p:cNvSpPr/>
          <p:nvPr/>
        </p:nvSpPr>
        <p:spPr>
          <a:xfrm>
            <a:off x="9262871" y="5897880"/>
            <a:ext cx="2779776" cy="4572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326879" y="5943600"/>
            <a:ext cx="2651760" cy="365760"/>
          </a:xfrm>
          <a:prstGeom prst="rect">
            <a:avLst/>
          </a:prstGeom>
          <a:noFill/>
        </p:spPr>
        <p:txBody>
          <a:bodyPr wrap="square">
            <a:spAutoFit/>
          </a:bodyPr>
          <a:lstStyle/>
          <a:p>
            <a:pPr algn="l">
              <a:defRPr sz="1000" b="1">
                <a:solidFill>
                  <a:srgbClr val="2ECC71"/>
                </a:solidFill>
                <a:latin typeface="Calibri"/>
              </a:defRPr>
            </a:pPr>
            <a:r>
              <a:t>Projede: ort. 0.04 -&gt; 0.08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058400" cy="594360"/>
          </a:xfrm>
          <a:prstGeom prst="rect">
            <a:avLst/>
          </a:prstGeom>
          <a:noFill/>
        </p:spPr>
        <p:txBody>
          <a:bodyPr wrap="square">
            <a:spAutoFit/>
          </a:bodyPr>
          <a:lstStyle/>
          <a:p>
            <a:pPr algn="l">
              <a:defRPr sz="2800" b="1">
                <a:solidFill>
                  <a:srgbClr val="FFFFFF"/>
                </a:solidFill>
                <a:latin typeface="Calibri"/>
              </a:defRPr>
            </a:pPr>
            <a:r>
              <a:t>QMOOD: 10 Tasarim Ozelligi ve Hesaplama Yontemi</a:t>
            </a:r>
          </a:p>
        </p:txBody>
      </p:sp>
      <p:sp>
        <p:nvSpPr>
          <p:cNvPr id="4" name="Rectangle 3"/>
          <p:cNvSpPr/>
          <p:nvPr/>
        </p:nvSpPr>
        <p:spPr>
          <a:xfrm>
            <a:off x="137160" y="1051560"/>
            <a:ext cx="228600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7160" y="1051560"/>
            <a:ext cx="2286000" cy="50292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2024" y="1069848"/>
            <a:ext cx="2176272" cy="228600"/>
          </a:xfrm>
          <a:prstGeom prst="rect">
            <a:avLst/>
          </a:prstGeom>
          <a:noFill/>
        </p:spPr>
        <p:txBody>
          <a:bodyPr wrap="square">
            <a:spAutoFit/>
          </a:bodyPr>
          <a:lstStyle/>
          <a:p>
            <a:pPr algn="l">
              <a:defRPr sz="1600" b="1">
                <a:solidFill>
                  <a:srgbClr val="FFFFFF"/>
                </a:solidFill>
                <a:latin typeface="Calibri"/>
              </a:defRPr>
            </a:pPr>
            <a:r>
              <a:t>DSC</a:t>
            </a:r>
          </a:p>
        </p:txBody>
      </p:sp>
      <p:sp>
        <p:nvSpPr>
          <p:cNvPr id="7" name="TextBox 6"/>
          <p:cNvSpPr txBox="1"/>
          <p:nvPr/>
        </p:nvSpPr>
        <p:spPr>
          <a:xfrm>
            <a:off x="192024" y="1298448"/>
            <a:ext cx="2176272" cy="228600"/>
          </a:xfrm>
          <a:prstGeom prst="rect">
            <a:avLst/>
          </a:prstGeom>
          <a:noFill/>
        </p:spPr>
        <p:txBody>
          <a:bodyPr wrap="square">
            <a:spAutoFit/>
          </a:bodyPr>
          <a:lstStyle/>
          <a:p>
            <a:pPr algn="l">
              <a:defRPr sz="1100" b="0">
                <a:solidFill>
                  <a:srgbClr val="E0E0E0"/>
                </a:solidFill>
                <a:latin typeface="Calibri"/>
              </a:defRPr>
            </a:pPr>
            <a:r>
              <a:t>Design Size</a:t>
            </a:r>
          </a:p>
        </p:txBody>
      </p:sp>
      <p:sp>
        <p:nvSpPr>
          <p:cNvPr id="8" name="TextBox 7"/>
          <p:cNvSpPr txBox="1"/>
          <p:nvPr/>
        </p:nvSpPr>
        <p:spPr>
          <a:xfrm>
            <a:off x="192024" y="1600200"/>
            <a:ext cx="2176272" cy="182880"/>
          </a:xfrm>
          <a:prstGeom prst="rect">
            <a:avLst/>
          </a:prstGeom>
          <a:noFill/>
        </p:spPr>
        <p:txBody>
          <a:bodyPr wrap="square">
            <a:spAutoFit/>
          </a:bodyPr>
          <a:lstStyle/>
          <a:p>
            <a:pPr algn="l">
              <a:defRPr sz="900" b="1">
                <a:solidFill>
                  <a:srgbClr val="0096D6"/>
                </a:solidFill>
                <a:latin typeface="Calibri"/>
              </a:defRPr>
            </a:pPr>
            <a:r>
              <a:t>Hesaplama:</a:t>
            </a:r>
          </a:p>
        </p:txBody>
      </p:sp>
      <p:sp>
        <p:nvSpPr>
          <p:cNvPr id="9" name="TextBox 8"/>
          <p:cNvSpPr txBox="1"/>
          <p:nvPr/>
        </p:nvSpPr>
        <p:spPr>
          <a:xfrm>
            <a:off x="192024" y="1764792"/>
            <a:ext cx="2176272" cy="502920"/>
          </a:xfrm>
          <a:prstGeom prst="rect">
            <a:avLst/>
          </a:prstGeom>
          <a:noFill/>
        </p:spPr>
        <p:txBody>
          <a:bodyPr wrap="square">
            <a:spAutoFit/>
          </a:bodyPr>
          <a:lstStyle/>
          <a:p>
            <a:pPr algn="l">
              <a:defRPr sz="900" b="0">
                <a:solidFill>
                  <a:srgbClr val="333333"/>
                </a:solidFill>
                <a:latin typeface="Calibri"/>
              </a:defRPr>
            </a:pPr>
            <a:r>
              <a:t>Toplam sinif sayisi</a:t>
            </a:r>
          </a:p>
        </p:txBody>
      </p:sp>
      <p:sp>
        <p:nvSpPr>
          <p:cNvPr id="10" name="TextBox 9"/>
          <p:cNvSpPr txBox="1"/>
          <p:nvPr/>
        </p:nvSpPr>
        <p:spPr>
          <a:xfrm>
            <a:off x="192024" y="2286000"/>
            <a:ext cx="2176272" cy="182880"/>
          </a:xfrm>
          <a:prstGeom prst="rect">
            <a:avLst/>
          </a:prstGeom>
          <a:noFill/>
        </p:spPr>
        <p:txBody>
          <a:bodyPr wrap="square">
            <a:spAutoFit/>
          </a:bodyPr>
          <a:lstStyle/>
          <a:p>
            <a:pPr algn="l">
              <a:defRPr sz="900" b="1">
                <a:solidFill>
                  <a:srgbClr val="0096D6"/>
                </a:solidFill>
                <a:latin typeface="Calibri"/>
              </a:defRPr>
            </a:pPr>
            <a:r>
              <a:t>Anlami:</a:t>
            </a:r>
          </a:p>
        </p:txBody>
      </p:sp>
      <p:sp>
        <p:nvSpPr>
          <p:cNvPr id="11" name="TextBox 10"/>
          <p:cNvSpPr txBox="1"/>
          <p:nvPr/>
        </p:nvSpPr>
        <p:spPr>
          <a:xfrm>
            <a:off x="192024" y="2450591"/>
            <a:ext cx="2176272" cy="320040"/>
          </a:xfrm>
          <a:prstGeom prst="rect">
            <a:avLst/>
          </a:prstGeom>
          <a:noFill/>
        </p:spPr>
        <p:txBody>
          <a:bodyPr wrap="square">
            <a:spAutoFit/>
          </a:bodyPr>
          <a:lstStyle/>
          <a:p>
            <a:pPr algn="l">
              <a:defRPr sz="900" b="0">
                <a:solidFill>
                  <a:srgbClr val="333333"/>
                </a:solidFill>
                <a:latin typeface="Calibri"/>
              </a:defRPr>
            </a:pPr>
            <a:r>
              <a:t>Sistemin buyuklugu</a:t>
            </a:r>
          </a:p>
        </p:txBody>
      </p:sp>
      <p:sp>
        <p:nvSpPr>
          <p:cNvPr id="12" name="Rectangle 11"/>
          <p:cNvSpPr/>
          <p:nvPr/>
        </p:nvSpPr>
        <p:spPr>
          <a:xfrm>
            <a:off x="164592" y="3017520"/>
            <a:ext cx="2231136" cy="50292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024" y="3035808"/>
            <a:ext cx="2176272" cy="182880"/>
          </a:xfrm>
          <a:prstGeom prst="rect">
            <a:avLst/>
          </a:prstGeom>
          <a:noFill/>
        </p:spPr>
        <p:txBody>
          <a:bodyPr wrap="square">
            <a:spAutoFit/>
          </a:bodyPr>
          <a:lstStyle/>
          <a:p>
            <a:pPr algn="l">
              <a:defRPr sz="800" b="1">
                <a:solidFill>
                  <a:srgbClr val="333333"/>
                </a:solidFill>
                <a:latin typeface="Calibri"/>
              </a:defRPr>
            </a:pPr>
            <a:r>
              <a:t>Projede (v1.0 -&gt; v3.0):</a:t>
            </a:r>
          </a:p>
        </p:txBody>
      </p:sp>
      <p:sp>
        <p:nvSpPr>
          <p:cNvPr id="14" name="TextBox 13"/>
          <p:cNvSpPr txBox="1"/>
          <p:nvPr/>
        </p:nvSpPr>
        <p:spPr>
          <a:xfrm>
            <a:off x="192024" y="3227832"/>
            <a:ext cx="2176272" cy="228600"/>
          </a:xfrm>
          <a:prstGeom prst="rect">
            <a:avLst/>
          </a:prstGeom>
          <a:noFill/>
        </p:spPr>
        <p:txBody>
          <a:bodyPr wrap="square">
            <a:spAutoFit/>
          </a:bodyPr>
          <a:lstStyle/>
          <a:p>
            <a:pPr algn="l">
              <a:defRPr sz="1000" b="1">
                <a:solidFill>
                  <a:srgbClr val="2ECC71"/>
                </a:solidFill>
                <a:latin typeface="Calibri"/>
              </a:defRPr>
            </a:pPr>
            <a:r>
              <a:t>288 -&gt; 609 (+%111)</a:t>
            </a:r>
          </a:p>
        </p:txBody>
      </p:sp>
      <p:sp>
        <p:nvSpPr>
          <p:cNvPr id="15" name="Rectangle 14"/>
          <p:cNvSpPr/>
          <p:nvPr/>
        </p:nvSpPr>
        <p:spPr>
          <a:xfrm>
            <a:off x="2560320" y="1051560"/>
            <a:ext cx="228600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60320" y="1051560"/>
            <a:ext cx="2286000" cy="5029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15184" y="1069848"/>
            <a:ext cx="2176272" cy="228600"/>
          </a:xfrm>
          <a:prstGeom prst="rect">
            <a:avLst/>
          </a:prstGeom>
          <a:noFill/>
        </p:spPr>
        <p:txBody>
          <a:bodyPr wrap="square">
            <a:spAutoFit/>
          </a:bodyPr>
          <a:lstStyle/>
          <a:p>
            <a:pPr algn="l">
              <a:defRPr sz="1600" b="1">
                <a:solidFill>
                  <a:srgbClr val="FFFFFF"/>
                </a:solidFill>
                <a:latin typeface="Calibri"/>
              </a:defRPr>
            </a:pPr>
            <a:r>
              <a:t>ANA</a:t>
            </a:r>
          </a:p>
        </p:txBody>
      </p:sp>
      <p:sp>
        <p:nvSpPr>
          <p:cNvPr id="18" name="TextBox 17"/>
          <p:cNvSpPr txBox="1"/>
          <p:nvPr/>
        </p:nvSpPr>
        <p:spPr>
          <a:xfrm>
            <a:off x="2615184" y="1298448"/>
            <a:ext cx="2176272" cy="228600"/>
          </a:xfrm>
          <a:prstGeom prst="rect">
            <a:avLst/>
          </a:prstGeom>
          <a:noFill/>
        </p:spPr>
        <p:txBody>
          <a:bodyPr wrap="square">
            <a:spAutoFit/>
          </a:bodyPr>
          <a:lstStyle/>
          <a:p>
            <a:pPr algn="l">
              <a:defRPr sz="1100" b="0">
                <a:solidFill>
                  <a:srgbClr val="E0E0E0"/>
                </a:solidFill>
                <a:latin typeface="Calibri"/>
              </a:defRPr>
            </a:pPr>
            <a:r>
              <a:t>Abstraction</a:t>
            </a:r>
          </a:p>
        </p:txBody>
      </p:sp>
      <p:sp>
        <p:nvSpPr>
          <p:cNvPr id="19" name="TextBox 18"/>
          <p:cNvSpPr txBox="1"/>
          <p:nvPr/>
        </p:nvSpPr>
        <p:spPr>
          <a:xfrm>
            <a:off x="2615184" y="1600200"/>
            <a:ext cx="2176272" cy="182880"/>
          </a:xfrm>
          <a:prstGeom prst="rect">
            <a:avLst/>
          </a:prstGeom>
          <a:noFill/>
        </p:spPr>
        <p:txBody>
          <a:bodyPr wrap="square">
            <a:spAutoFit/>
          </a:bodyPr>
          <a:lstStyle/>
          <a:p>
            <a:pPr algn="l">
              <a:defRPr sz="900" b="1">
                <a:solidFill>
                  <a:srgbClr val="8E44AD"/>
                </a:solidFill>
                <a:latin typeface="Calibri"/>
              </a:defRPr>
            </a:pPr>
            <a:r>
              <a:t>Hesaplama:</a:t>
            </a:r>
          </a:p>
        </p:txBody>
      </p:sp>
      <p:sp>
        <p:nvSpPr>
          <p:cNvPr id="20" name="TextBox 19"/>
          <p:cNvSpPr txBox="1"/>
          <p:nvPr/>
        </p:nvSpPr>
        <p:spPr>
          <a:xfrm>
            <a:off x="2615184" y="1764792"/>
            <a:ext cx="2176272" cy="502920"/>
          </a:xfrm>
          <a:prstGeom prst="rect">
            <a:avLst/>
          </a:prstGeom>
          <a:noFill/>
        </p:spPr>
        <p:txBody>
          <a:bodyPr wrap="square">
            <a:spAutoFit/>
          </a:bodyPr>
          <a:lstStyle/>
          <a:p>
            <a:pPr algn="l">
              <a:defRPr sz="900" b="0">
                <a:solidFill>
                  <a:srgbClr val="333333"/>
                </a:solidFill>
                <a:latin typeface="Calibri"/>
              </a:defRPr>
            </a:pPr>
            <a:r>
              <a:t>abstractMethods / totalMethods</a:t>
            </a:r>
            <a:br/>
            <a:r>
              <a:t>orthalamasiyle hesaplanir</a:t>
            </a:r>
          </a:p>
        </p:txBody>
      </p:sp>
      <p:sp>
        <p:nvSpPr>
          <p:cNvPr id="21" name="TextBox 20"/>
          <p:cNvSpPr txBox="1"/>
          <p:nvPr/>
        </p:nvSpPr>
        <p:spPr>
          <a:xfrm>
            <a:off x="2615184" y="2286000"/>
            <a:ext cx="2176272" cy="182880"/>
          </a:xfrm>
          <a:prstGeom prst="rect">
            <a:avLst/>
          </a:prstGeom>
          <a:noFill/>
        </p:spPr>
        <p:txBody>
          <a:bodyPr wrap="square">
            <a:spAutoFit/>
          </a:bodyPr>
          <a:lstStyle/>
          <a:p>
            <a:pPr algn="l">
              <a:defRPr sz="900" b="1">
                <a:solidFill>
                  <a:srgbClr val="8E44AD"/>
                </a:solidFill>
                <a:latin typeface="Calibri"/>
              </a:defRPr>
            </a:pPr>
            <a:r>
              <a:t>Anlami:</a:t>
            </a:r>
          </a:p>
        </p:txBody>
      </p:sp>
      <p:sp>
        <p:nvSpPr>
          <p:cNvPr id="22" name="TextBox 21"/>
          <p:cNvSpPr txBox="1"/>
          <p:nvPr/>
        </p:nvSpPr>
        <p:spPr>
          <a:xfrm>
            <a:off x="2615184" y="2450591"/>
            <a:ext cx="2176272" cy="320040"/>
          </a:xfrm>
          <a:prstGeom prst="rect">
            <a:avLst/>
          </a:prstGeom>
          <a:noFill/>
        </p:spPr>
        <p:txBody>
          <a:bodyPr wrap="square">
            <a:spAutoFit/>
          </a:bodyPr>
          <a:lstStyle/>
          <a:p>
            <a:pPr algn="l">
              <a:defRPr sz="900" b="0">
                <a:solidFill>
                  <a:srgbClr val="333333"/>
                </a:solidFill>
                <a:latin typeface="Calibri"/>
              </a:defRPr>
            </a:pPr>
            <a:r>
              <a:t>Soyutlama duzeyi</a:t>
            </a:r>
          </a:p>
        </p:txBody>
      </p:sp>
      <p:sp>
        <p:nvSpPr>
          <p:cNvPr id="23" name="Rectangle 22"/>
          <p:cNvSpPr/>
          <p:nvPr/>
        </p:nvSpPr>
        <p:spPr>
          <a:xfrm>
            <a:off x="2587751" y="3017520"/>
            <a:ext cx="2231136" cy="50292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15184" y="3035808"/>
            <a:ext cx="2176272" cy="182880"/>
          </a:xfrm>
          <a:prstGeom prst="rect">
            <a:avLst/>
          </a:prstGeom>
          <a:noFill/>
        </p:spPr>
        <p:txBody>
          <a:bodyPr wrap="square">
            <a:spAutoFit/>
          </a:bodyPr>
          <a:lstStyle/>
          <a:p>
            <a:pPr algn="l">
              <a:defRPr sz="800" b="1">
                <a:solidFill>
                  <a:srgbClr val="333333"/>
                </a:solidFill>
                <a:latin typeface="Calibri"/>
              </a:defRPr>
            </a:pPr>
            <a:r>
              <a:t>Projede (v1.0 -&gt; v3.0):</a:t>
            </a:r>
          </a:p>
        </p:txBody>
      </p:sp>
      <p:sp>
        <p:nvSpPr>
          <p:cNvPr id="25" name="TextBox 24"/>
          <p:cNvSpPr txBox="1"/>
          <p:nvPr/>
        </p:nvSpPr>
        <p:spPr>
          <a:xfrm>
            <a:off x="2615184" y="3227832"/>
            <a:ext cx="2176272" cy="228600"/>
          </a:xfrm>
          <a:prstGeom prst="rect">
            <a:avLst/>
          </a:prstGeom>
          <a:noFill/>
        </p:spPr>
        <p:txBody>
          <a:bodyPr wrap="square">
            <a:spAutoFit/>
          </a:bodyPr>
          <a:lstStyle/>
          <a:p>
            <a:pPr algn="l">
              <a:defRPr sz="1000" b="1">
                <a:solidFill>
                  <a:srgbClr val="2ECC71"/>
                </a:solidFill>
                <a:latin typeface="Calibri"/>
              </a:defRPr>
            </a:pPr>
            <a:r>
              <a:t>0.0012 -&gt; 0.0112</a:t>
            </a:r>
          </a:p>
        </p:txBody>
      </p:sp>
      <p:sp>
        <p:nvSpPr>
          <p:cNvPr id="26" name="Rectangle 25"/>
          <p:cNvSpPr/>
          <p:nvPr/>
        </p:nvSpPr>
        <p:spPr>
          <a:xfrm>
            <a:off x="4983480" y="1051560"/>
            <a:ext cx="228600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983480" y="1051560"/>
            <a:ext cx="2286000" cy="5029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38344" y="1069848"/>
            <a:ext cx="2176272" cy="228600"/>
          </a:xfrm>
          <a:prstGeom prst="rect">
            <a:avLst/>
          </a:prstGeom>
          <a:noFill/>
        </p:spPr>
        <p:txBody>
          <a:bodyPr wrap="square">
            <a:spAutoFit/>
          </a:bodyPr>
          <a:lstStyle/>
          <a:p>
            <a:pPr algn="l">
              <a:defRPr sz="1600" b="1">
                <a:solidFill>
                  <a:srgbClr val="FFFFFF"/>
                </a:solidFill>
                <a:latin typeface="Calibri"/>
              </a:defRPr>
            </a:pPr>
            <a:r>
              <a:t>DAM</a:t>
            </a:r>
          </a:p>
        </p:txBody>
      </p:sp>
      <p:sp>
        <p:nvSpPr>
          <p:cNvPr id="29" name="TextBox 28"/>
          <p:cNvSpPr txBox="1"/>
          <p:nvPr/>
        </p:nvSpPr>
        <p:spPr>
          <a:xfrm>
            <a:off x="5038344" y="1298448"/>
            <a:ext cx="2176272" cy="228600"/>
          </a:xfrm>
          <a:prstGeom prst="rect">
            <a:avLst/>
          </a:prstGeom>
          <a:noFill/>
        </p:spPr>
        <p:txBody>
          <a:bodyPr wrap="square">
            <a:spAutoFit/>
          </a:bodyPr>
          <a:lstStyle/>
          <a:p>
            <a:pPr algn="l">
              <a:defRPr sz="1100" b="0">
                <a:solidFill>
                  <a:srgbClr val="E0E0E0"/>
                </a:solidFill>
                <a:latin typeface="Calibri"/>
              </a:defRPr>
            </a:pPr>
            <a:r>
              <a:t>Encapsulation</a:t>
            </a:r>
          </a:p>
        </p:txBody>
      </p:sp>
      <p:sp>
        <p:nvSpPr>
          <p:cNvPr id="30" name="TextBox 29"/>
          <p:cNvSpPr txBox="1"/>
          <p:nvPr/>
        </p:nvSpPr>
        <p:spPr>
          <a:xfrm>
            <a:off x="5038344" y="1600200"/>
            <a:ext cx="2176272" cy="182880"/>
          </a:xfrm>
          <a:prstGeom prst="rect">
            <a:avLst/>
          </a:prstGeom>
          <a:noFill/>
        </p:spPr>
        <p:txBody>
          <a:bodyPr wrap="square">
            <a:spAutoFit/>
          </a:bodyPr>
          <a:lstStyle/>
          <a:p>
            <a:pPr algn="l">
              <a:defRPr sz="900" b="1">
                <a:solidFill>
                  <a:srgbClr val="E74C3C"/>
                </a:solidFill>
                <a:latin typeface="Calibri"/>
              </a:defRPr>
            </a:pPr>
            <a:r>
              <a:t>Hesaplama:</a:t>
            </a:r>
          </a:p>
        </p:txBody>
      </p:sp>
      <p:sp>
        <p:nvSpPr>
          <p:cNvPr id="31" name="TextBox 30"/>
          <p:cNvSpPr txBox="1"/>
          <p:nvPr/>
        </p:nvSpPr>
        <p:spPr>
          <a:xfrm>
            <a:off x="5038344" y="1764792"/>
            <a:ext cx="2176272" cy="502920"/>
          </a:xfrm>
          <a:prstGeom prst="rect">
            <a:avLst/>
          </a:prstGeom>
          <a:noFill/>
        </p:spPr>
        <p:txBody>
          <a:bodyPr wrap="square">
            <a:spAutoFit/>
          </a:bodyPr>
          <a:lstStyle/>
          <a:p>
            <a:pPr algn="l">
              <a:defRPr sz="900" b="0">
                <a:solidFill>
                  <a:srgbClr val="333333"/>
                </a:solidFill>
                <a:latin typeface="Calibri"/>
              </a:defRPr>
            </a:pPr>
            <a:r>
              <a:t>privateFields / totalFields</a:t>
            </a:r>
            <a:br/>
            <a:r>
              <a:t>orthalamasiyla hesaplanir</a:t>
            </a:r>
          </a:p>
        </p:txBody>
      </p:sp>
      <p:sp>
        <p:nvSpPr>
          <p:cNvPr id="32" name="TextBox 31"/>
          <p:cNvSpPr txBox="1"/>
          <p:nvPr/>
        </p:nvSpPr>
        <p:spPr>
          <a:xfrm>
            <a:off x="5038344" y="2286000"/>
            <a:ext cx="2176272" cy="182880"/>
          </a:xfrm>
          <a:prstGeom prst="rect">
            <a:avLst/>
          </a:prstGeom>
          <a:noFill/>
        </p:spPr>
        <p:txBody>
          <a:bodyPr wrap="square">
            <a:spAutoFit/>
          </a:bodyPr>
          <a:lstStyle/>
          <a:p>
            <a:pPr algn="l">
              <a:defRPr sz="900" b="1">
                <a:solidFill>
                  <a:srgbClr val="E74C3C"/>
                </a:solidFill>
                <a:latin typeface="Calibri"/>
              </a:defRPr>
            </a:pPr>
            <a:r>
              <a:t>Anlami:</a:t>
            </a:r>
          </a:p>
        </p:txBody>
      </p:sp>
      <p:sp>
        <p:nvSpPr>
          <p:cNvPr id="33" name="TextBox 32"/>
          <p:cNvSpPr txBox="1"/>
          <p:nvPr/>
        </p:nvSpPr>
        <p:spPr>
          <a:xfrm>
            <a:off x="5038344" y="2450591"/>
            <a:ext cx="2176272" cy="320040"/>
          </a:xfrm>
          <a:prstGeom prst="rect">
            <a:avLst/>
          </a:prstGeom>
          <a:noFill/>
        </p:spPr>
        <p:txBody>
          <a:bodyPr wrap="square">
            <a:spAutoFit/>
          </a:bodyPr>
          <a:lstStyle/>
          <a:p>
            <a:pPr algn="l">
              <a:defRPr sz="900" b="0">
                <a:solidFill>
                  <a:srgbClr val="333333"/>
                </a:solidFill>
                <a:latin typeface="Calibri"/>
              </a:defRPr>
            </a:pPr>
            <a:r>
              <a:t>Veri gizleme kalitesi</a:t>
            </a:r>
          </a:p>
        </p:txBody>
      </p:sp>
      <p:sp>
        <p:nvSpPr>
          <p:cNvPr id="34" name="Rectangle 33"/>
          <p:cNvSpPr/>
          <p:nvPr/>
        </p:nvSpPr>
        <p:spPr>
          <a:xfrm>
            <a:off x="5010912" y="3017520"/>
            <a:ext cx="2231136" cy="50292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38344" y="3035808"/>
            <a:ext cx="2176272" cy="182880"/>
          </a:xfrm>
          <a:prstGeom prst="rect">
            <a:avLst/>
          </a:prstGeom>
          <a:noFill/>
        </p:spPr>
        <p:txBody>
          <a:bodyPr wrap="square">
            <a:spAutoFit/>
          </a:bodyPr>
          <a:lstStyle/>
          <a:p>
            <a:pPr algn="l">
              <a:defRPr sz="800" b="1">
                <a:solidFill>
                  <a:srgbClr val="333333"/>
                </a:solidFill>
                <a:latin typeface="Calibri"/>
              </a:defRPr>
            </a:pPr>
            <a:r>
              <a:t>Projede (v1.0 -&gt; v3.0):</a:t>
            </a:r>
          </a:p>
        </p:txBody>
      </p:sp>
      <p:sp>
        <p:nvSpPr>
          <p:cNvPr id="36" name="TextBox 35"/>
          <p:cNvSpPr txBox="1"/>
          <p:nvPr/>
        </p:nvSpPr>
        <p:spPr>
          <a:xfrm>
            <a:off x="5038344" y="3227832"/>
            <a:ext cx="2176272" cy="228600"/>
          </a:xfrm>
          <a:prstGeom prst="rect">
            <a:avLst/>
          </a:prstGeom>
          <a:noFill/>
        </p:spPr>
        <p:txBody>
          <a:bodyPr wrap="square">
            <a:spAutoFit/>
          </a:bodyPr>
          <a:lstStyle/>
          <a:p>
            <a:pPr algn="l">
              <a:defRPr sz="1000" b="1">
                <a:solidFill>
                  <a:srgbClr val="E74C3C"/>
                </a:solidFill>
                <a:latin typeface="Calibri"/>
              </a:defRPr>
            </a:pPr>
            <a:r>
              <a:t>0.579 -&gt; 0.449 (-%22!)</a:t>
            </a:r>
          </a:p>
        </p:txBody>
      </p:sp>
      <p:sp>
        <p:nvSpPr>
          <p:cNvPr id="37" name="Rectangle 36"/>
          <p:cNvSpPr/>
          <p:nvPr/>
        </p:nvSpPr>
        <p:spPr>
          <a:xfrm>
            <a:off x="7406640" y="1051560"/>
            <a:ext cx="228600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406640" y="1051560"/>
            <a:ext cx="2286000" cy="5029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61504" y="1069848"/>
            <a:ext cx="2176272" cy="228600"/>
          </a:xfrm>
          <a:prstGeom prst="rect">
            <a:avLst/>
          </a:prstGeom>
          <a:noFill/>
        </p:spPr>
        <p:txBody>
          <a:bodyPr wrap="square">
            <a:spAutoFit/>
          </a:bodyPr>
          <a:lstStyle/>
          <a:p>
            <a:pPr algn="l">
              <a:defRPr sz="1600" b="1">
                <a:solidFill>
                  <a:srgbClr val="FFFFFF"/>
                </a:solidFill>
                <a:latin typeface="Calibri"/>
              </a:defRPr>
            </a:pPr>
            <a:r>
              <a:t>DCC</a:t>
            </a:r>
          </a:p>
        </p:txBody>
      </p:sp>
      <p:sp>
        <p:nvSpPr>
          <p:cNvPr id="40" name="TextBox 39"/>
          <p:cNvSpPr txBox="1"/>
          <p:nvPr/>
        </p:nvSpPr>
        <p:spPr>
          <a:xfrm>
            <a:off x="7461504" y="1298448"/>
            <a:ext cx="2176272" cy="228600"/>
          </a:xfrm>
          <a:prstGeom prst="rect">
            <a:avLst/>
          </a:prstGeom>
          <a:noFill/>
        </p:spPr>
        <p:txBody>
          <a:bodyPr wrap="square">
            <a:spAutoFit/>
          </a:bodyPr>
          <a:lstStyle/>
          <a:p>
            <a:pPr algn="l">
              <a:defRPr sz="1100" b="0">
                <a:solidFill>
                  <a:srgbClr val="E0E0E0"/>
                </a:solidFill>
                <a:latin typeface="Calibri"/>
              </a:defRPr>
            </a:pPr>
            <a:r>
              <a:t>Coupling</a:t>
            </a:r>
          </a:p>
        </p:txBody>
      </p:sp>
      <p:sp>
        <p:nvSpPr>
          <p:cNvPr id="41" name="TextBox 40"/>
          <p:cNvSpPr txBox="1"/>
          <p:nvPr/>
        </p:nvSpPr>
        <p:spPr>
          <a:xfrm>
            <a:off x="7461504" y="1600200"/>
            <a:ext cx="2176272" cy="182880"/>
          </a:xfrm>
          <a:prstGeom prst="rect">
            <a:avLst/>
          </a:prstGeom>
          <a:noFill/>
        </p:spPr>
        <p:txBody>
          <a:bodyPr wrap="square">
            <a:spAutoFit/>
          </a:bodyPr>
          <a:lstStyle/>
          <a:p>
            <a:pPr algn="l">
              <a:defRPr sz="900" b="1">
                <a:solidFill>
                  <a:srgbClr val="E74C3C"/>
                </a:solidFill>
                <a:latin typeface="Calibri"/>
              </a:defRPr>
            </a:pPr>
            <a:r>
              <a:t>Hesaplama:</a:t>
            </a:r>
          </a:p>
        </p:txBody>
      </p:sp>
      <p:sp>
        <p:nvSpPr>
          <p:cNvPr id="42" name="TextBox 41"/>
          <p:cNvSpPr txBox="1"/>
          <p:nvPr/>
        </p:nvSpPr>
        <p:spPr>
          <a:xfrm>
            <a:off x="7461504" y="1764792"/>
            <a:ext cx="2176272" cy="502920"/>
          </a:xfrm>
          <a:prstGeom prst="rect">
            <a:avLst/>
          </a:prstGeom>
          <a:noFill/>
        </p:spPr>
        <p:txBody>
          <a:bodyPr wrap="square">
            <a:spAutoFit/>
          </a:bodyPr>
          <a:lstStyle/>
          <a:p>
            <a:pPr algn="l">
              <a:defRPr sz="900" b="0">
                <a:solidFill>
                  <a:srgbClr val="333333"/>
                </a:solidFill>
                <a:latin typeface="Calibri"/>
              </a:defRPr>
            </a:pPr>
            <a:r>
              <a:t>Ortalama CBO degeri</a:t>
            </a:r>
            <a:br/>
            <a:r>
              <a:t>mu(CBO) ile hesaplanir</a:t>
            </a:r>
          </a:p>
        </p:txBody>
      </p:sp>
      <p:sp>
        <p:nvSpPr>
          <p:cNvPr id="43" name="TextBox 42"/>
          <p:cNvSpPr txBox="1"/>
          <p:nvPr/>
        </p:nvSpPr>
        <p:spPr>
          <a:xfrm>
            <a:off x="7461504" y="2286000"/>
            <a:ext cx="2176272" cy="182880"/>
          </a:xfrm>
          <a:prstGeom prst="rect">
            <a:avLst/>
          </a:prstGeom>
          <a:noFill/>
        </p:spPr>
        <p:txBody>
          <a:bodyPr wrap="square">
            <a:spAutoFit/>
          </a:bodyPr>
          <a:lstStyle/>
          <a:p>
            <a:pPr algn="l">
              <a:defRPr sz="900" b="1">
                <a:solidFill>
                  <a:srgbClr val="E74C3C"/>
                </a:solidFill>
                <a:latin typeface="Calibri"/>
              </a:defRPr>
            </a:pPr>
            <a:r>
              <a:t>Anlami:</a:t>
            </a:r>
          </a:p>
        </p:txBody>
      </p:sp>
      <p:sp>
        <p:nvSpPr>
          <p:cNvPr id="44" name="TextBox 43"/>
          <p:cNvSpPr txBox="1"/>
          <p:nvPr/>
        </p:nvSpPr>
        <p:spPr>
          <a:xfrm>
            <a:off x="7461504" y="2450591"/>
            <a:ext cx="2176272" cy="320040"/>
          </a:xfrm>
          <a:prstGeom prst="rect">
            <a:avLst/>
          </a:prstGeom>
          <a:noFill/>
        </p:spPr>
        <p:txBody>
          <a:bodyPr wrap="square">
            <a:spAutoFit/>
          </a:bodyPr>
          <a:lstStyle/>
          <a:p>
            <a:pPr algn="l">
              <a:defRPr sz="900" b="0">
                <a:solidFill>
                  <a:srgbClr val="333333"/>
                </a:solidFill>
                <a:latin typeface="Calibri"/>
              </a:defRPr>
            </a:pPr>
            <a:r>
              <a:t>Siniflar arasi bagimlilik</a:t>
            </a:r>
          </a:p>
        </p:txBody>
      </p:sp>
      <p:sp>
        <p:nvSpPr>
          <p:cNvPr id="45" name="Rectangle 44"/>
          <p:cNvSpPr/>
          <p:nvPr/>
        </p:nvSpPr>
        <p:spPr>
          <a:xfrm>
            <a:off x="7434071" y="3017520"/>
            <a:ext cx="2231136" cy="50292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61504" y="3035808"/>
            <a:ext cx="2176272" cy="182880"/>
          </a:xfrm>
          <a:prstGeom prst="rect">
            <a:avLst/>
          </a:prstGeom>
          <a:noFill/>
        </p:spPr>
        <p:txBody>
          <a:bodyPr wrap="square">
            <a:spAutoFit/>
          </a:bodyPr>
          <a:lstStyle/>
          <a:p>
            <a:pPr algn="l">
              <a:defRPr sz="800" b="1">
                <a:solidFill>
                  <a:srgbClr val="333333"/>
                </a:solidFill>
                <a:latin typeface="Calibri"/>
              </a:defRPr>
            </a:pPr>
            <a:r>
              <a:t>Projede (v1.0 -&gt; v3.0):</a:t>
            </a:r>
          </a:p>
        </p:txBody>
      </p:sp>
      <p:sp>
        <p:nvSpPr>
          <p:cNvPr id="47" name="TextBox 46"/>
          <p:cNvSpPr txBox="1"/>
          <p:nvPr/>
        </p:nvSpPr>
        <p:spPr>
          <a:xfrm>
            <a:off x="7461504" y="3227832"/>
            <a:ext cx="2176272" cy="228600"/>
          </a:xfrm>
          <a:prstGeom prst="rect">
            <a:avLst/>
          </a:prstGeom>
          <a:noFill/>
        </p:spPr>
        <p:txBody>
          <a:bodyPr wrap="square">
            <a:spAutoFit/>
          </a:bodyPr>
          <a:lstStyle/>
          <a:p>
            <a:pPr algn="l">
              <a:defRPr sz="1000" b="1">
                <a:solidFill>
                  <a:srgbClr val="E74C3C"/>
                </a:solidFill>
                <a:latin typeface="Calibri"/>
              </a:defRPr>
            </a:pPr>
            <a:r>
              <a:t>8.58 -&gt; 10.47 (+%22)</a:t>
            </a:r>
          </a:p>
        </p:txBody>
      </p:sp>
      <p:sp>
        <p:nvSpPr>
          <p:cNvPr id="48" name="Rectangle 47"/>
          <p:cNvSpPr/>
          <p:nvPr/>
        </p:nvSpPr>
        <p:spPr>
          <a:xfrm>
            <a:off x="9829800" y="1051560"/>
            <a:ext cx="228600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829800" y="1051560"/>
            <a:ext cx="2286000" cy="5029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84664" y="1069848"/>
            <a:ext cx="2176272" cy="228600"/>
          </a:xfrm>
          <a:prstGeom prst="rect">
            <a:avLst/>
          </a:prstGeom>
          <a:noFill/>
        </p:spPr>
        <p:txBody>
          <a:bodyPr wrap="square">
            <a:spAutoFit/>
          </a:bodyPr>
          <a:lstStyle/>
          <a:p>
            <a:pPr algn="l">
              <a:defRPr sz="1600" b="1">
                <a:solidFill>
                  <a:srgbClr val="FFFFFF"/>
                </a:solidFill>
                <a:latin typeface="Calibri"/>
              </a:defRPr>
            </a:pPr>
            <a:r>
              <a:t>CAM</a:t>
            </a:r>
          </a:p>
        </p:txBody>
      </p:sp>
      <p:sp>
        <p:nvSpPr>
          <p:cNvPr id="51" name="TextBox 50"/>
          <p:cNvSpPr txBox="1"/>
          <p:nvPr/>
        </p:nvSpPr>
        <p:spPr>
          <a:xfrm>
            <a:off x="9884664" y="1298448"/>
            <a:ext cx="2176272" cy="228600"/>
          </a:xfrm>
          <a:prstGeom prst="rect">
            <a:avLst/>
          </a:prstGeom>
          <a:noFill/>
        </p:spPr>
        <p:txBody>
          <a:bodyPr wrap="square">
            <a:spAutoFit/>
          </a:bodyPr>
          <a:lstStyle/>
          <a:p>
            <a:pPr algn="l">
              <a:defRPr sz="1100" b="0">
                <a:solidFill>
                  <a:srgbClr val="E0E0E0"/>
                </a:solidFill>
                <a:latin typeface="Calibri"/>
              </a:defRPr>
            </a:pPr>
            <a:r>
              <a:t>Cohesion</a:t>
            </a:r>
          </a:p>
        </p:txBody>
      </p:sp>
      <p:sp>
        <p:nvSpPr>
          <p:cNvPr id="52" name="TextBox 51"/>
          <p:cNvSpPr txBox="1"/>
          <p:nvPr/>
        </p:nvSpPr>
        <p:spPr>
          <a:xfrm>
            <a:off x="9884664" y="1600200"/>
            <a:ext cx="2176272" cy="182880"/>
          </a:xfrm>
          <a:prstGeom prst="rect">
            <a:avLst/>
          </a:prstGeom>
          <a:noFill/>
        </p:spPr>
        <p:txBody>
          <a:bodyPr wrap="square">
            <a:spAutoFit/>
          </a:bodyPr>
          <a:lstStyle/>
          <a:p>
            <a:pPr algn="l">
              <a:defRPr sz="900" b="1">
                <a:solidFill>
                  <a:srgbClr val="2ECC71"/>
                </a:solidFill>
                <a:latin typeface="Calibri"/>
              </a:defRPr>
            </a:pPr>
            <a:r>
              <a:t>Hesaplama:</a:t>
            </a:r>
          </a:p>
        </p:txBody>
      </p:sp>
      <p:sp>
        <p:nvSpPr>
          <p:cNvPr id="53" name="TextBox 52"/>
          <p:cNvSpPr txBox="1"/>
          <p:nvPr/>
        </p:nvSpPr>
        <p:spPr>
          <a:xfrm>
            <a:off x="9884664" y="1764792"/>
            <a:ext cx="2176272" cy="502920"/>
          </a:xfrm>
          <a:prstGeom prst="rect">
            <a:avLst/>
          </a:prstGeom>
          <a:noFill/>
        </p:spPr>
        <p:txBody>
          <a:bodyPr wrap="square">
            <a:spAutoFit/>
          </a:bodyPr>
          <a:lstStyle/>
          <a:p>
            <a:pPr algn="l">
              <a:defRPr sz="900" b="0">
                <a:solidFill>
                  <a:srgbClr val="333333"/>
                </a:solidFill>
                <a:latin typeface="Calibri"/>
              </a:defRPr>
            </a:pPr>
            <a:r>
              <a:t>TCC (Tight Class Cohesion)</a:t>
            </a:r>
            <a:br/>
            <a:r>
              <a:t>orthalamasiyla hesaplanir</a:t>
            </a:r>
          </a:p>
        </p:txBody>
      </p:sp>
      <p:sp>
        <p:nvSpPr>
          <p:cNvPr id="54" name="TextBox 53"/>
          <p:cNvSpPr txBox="1"/>
          <p:nvPr/>
        </p:nvSpPr>
        <p:spPr>
          <a:xfrm>
            <a:off x="9884664" y="2286000"/>
            <a:ext cx="2176272" cy="182880"/>
          </a:xfrm>
          <a:prstGeom prst="rect">
            <a:avLst/>
          </a:prstGeom>
          <a:noFill/>
        </p:spPr>
        <p:txBody>
          <a:bodyPr wrap="square">
            <a:spAutoFit/>
          </a:bodyPr>
          <a:lstStyle/>
          <a:p>
            <a:pPr algn="l">
              <a:defRPr sz="900" b="1">
                <a:solidFill>
                  <a:srgbClr val="2ECC71"/>
                </a:solidFill>
                <a:latin typeface="Calibri"/>
              </a:defRPr>
            </a:pPr>
            <a:r>
              <a:t>Anlami:</a:t>
            </a:r>
          </a:p>
        </p:txBody>
      </p:sp>
      <p:sp>
        <p:nvSpPr>
          <p:cNvPr id="55" name="TextBox 54"/>
          <p:cNvSpPr txBox="1"/>
          <p:nvPr/>
        </p:nvSpPr>
        <p:spPr>
          <a:xfrm>
            <a:off x="9884664" y="2450591"/>
            <a:ext cx="2176272" cy="320040"/>
          </a:xfrm>
          <a:prstGeom prst="rect">
            <a:avLst/>
          </a:prstGeom>
          <a:noFill/>
        </p:spPr>
        <p:txBody>
          <a:bodyPr wrap="square">
            <a:spAutoFit/>
          </a:bodyPr>
          <a:lstStyle/>
          <a:p>
            <a:pPr algn="l">
              <a:defRPr sz="900" b="0">
                <a:solidFill>
                  <a:srgbClr val="333333"/>
                </a:solidFill>
                <a:latin typeface="Calibri"/>
              </a:defRPr>
            </a:pPr>
            <a:r>
              <a:t>Sinif ici tutarlilik</a:t>
            </a:r>
          </a:p>
        </p:txBody>
      </p:sp>
      <p:sp>
        <p:nvSpPr>
          <p:cNvPr id="56" name="Rectangle 55"/>
          <p:cNvSpPr/>
          <p:nvPr/>
        </p:nvSpPr>
        <p:spPr>
          <a:xfrm>
            <a:off x="9857232" y="3017520"/>
            <a:ext cx="2231136" cy="50292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84664" y="3035808"/>
            <a:ext cx="2176272" cy="182880"/>
          </a:xfrm>
          <a:prstGeom prst="rect">
            <a:avLst/>
          </a:prstGeom>
          <a:noFill/>
        </p:spPr>
        <p:txBody>
          <a:bodyPr wrap="square">
            <a:spAutoFit/>
          </a:bodyPr>
          <a:lstStyle/>
          <a:p>
            <a:pPr algn="l">
              <a:defRPr sz="800" b="1">
                <a:solidFill>
                  <a:srgbClr val="333333"/>
                </a:solidFill>
                <a:latin typeface="Calibri"/>
              </a:defRPr>
            </a:pPr>
            <a:r>
              <a:t>Projede (v1.0 -&gt; v3.0):</a:t>
            </a:r>
          </a:p>
        </p:txBody>
      </p:sp>
      <p:sp>
        <p:nvSpPr>
          <p:cNvPr id="58" name="TextBox 57"/>
          <p:cNvSpPr txBox="1"/>
          <p:nvPr/>
        </p:nvSpPr>
        <p:spPr>
          <a:xfrm>
            <a:off x="9884664" y="3227832"/>
            <a:ext cx="2176272" cy="228600"/>
          </a:xfrm>
          <a:prstGeom prst="rect">
            <a:avLst/>
          </a:prstGeom>
          <a:noFill/>
        </p:spPr>
        <p:txBody>
          <a:bodyPr wrap="square">
            <a:spAutoFit/>
          </a:bodyPr>
          <a:lstStyle/>
          <a:p>
            <a:pPr algn="l">
              <a:defRPr sz="1000" b="1">
                <a:solidFill>
                  <a:srgbClr val="2ECC71"/>
                </a:solidFill>
                <a:latin typeface="Calibri"/>
              </a:defRPr>
            </a:pPr>
            <a:r>
              <a:t>-0.142 -&gt; -0.138</a:t>
            </a:r>
          </a:p>
        </p:txBody>
      </p:sp>
      <p:sp>
        <p:nvSpPr>
          <p:cNvPr id="59" name="Rectangle 58"/>
          <p:cNvSpPr/>
          <p:nvPr/>
        </p:nvSpPr>
        <p:spPr>
          <a:xfrm>
            <a:off x="137160" y="3886200"/>
            <a:ext cx="228600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37160" y="3886200"/>
            <a:ext cx="2286000" cy="5029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92024" y="3904487"/>
            <a:ext cx="2176272" cy="228600"/>
          </a:xfrm>
          <a:prstGeom prst="rect">
            <a:avLst/>
          </a:prstGeom>
          <a:noFill/>
        </p:spPr>
        <p:txBody>
          <a:bodyPr wrap="square">
            <a:spAutoFit/>
          </a:bodyPr>
          <a:lstStyle/>
          <a:p>
            <a:pPr algn="l">
              <a:defRPr sz="1600" b="1">
                <a:solidFill>
                  <a:srgbClr val="FFFFFF"/>
                </a:solidFill>
                <a:latin typeface="Calibri"/>
              </a:defRPr>
            </a:pPr>
            <a:r>
              <a:t>MOA</a:t>
            </a:r>
          </a:p>
        </p:txBody>
      </p:sp>
      <p:sp>
        <p:nvSpPr>
          <p:cNvPr id="62" name="TextBox 61"/>
          <p:cNvSpPr txBox="1"/>
          <p:nvPr/>
        </p:nvSpPr>
        <p:spPr>
          <a:xfrm>
            <a:off x="192024" y="4133087"/>
            <a:ext cx="2176272" cy="228600"/>
          </a:xfrm>
          <a:prstGeom prst="rect">
            <a:avLst/>
          </a:prstGeom>
          <a:noFill/>
        </p:spPr>
        <p:txBody>
          <a:bodyPr wrap="square">
            <a:spAutoFit/>
          </a:bodyPr>
          <a:lstStyle/>
          <a:p>
            <a:pPr algn="l">
              <a:defRPr sz="1100" b="0">
                <a:solidFill>
                  <a:srgbClr val="E0E0E0"/>
                </a:solidFill>
                <a:latin typeface="Calibri"/>
              </a:defRPr>
            </a:pPr>
            <a:r>
              <a:t>Composition</a:t>
            </a:r>
          </a:p>
        </p:txBody>
      </p:sp>
      <p:sp>
        <p:nvSpPr>
          <p:cNvPr id="63" name="TextBox 62"/>
          <p:cNvSpPr txBox="1"/>
          <p:nvPr/>
        </p:nvSpPr>
        <p:spPr>
          <a:xfrm>
            <a:off x="192024" y="4434840"/>
            <a:ext cx="2176272" cy="182880"/>
          </a:xfrm>
          <a:prstGeom prst="rect">
            <a:avLst/>
          </a:prstGeom>
          <a:noFill/>
        </p:spPr>
        <p:txBody>
          <a:bodyPr wrap="square">
            <a:spAutoFit/>
          </a:bodyPr>
          <a:lstStyle/>
          <a:p>
            <a:pPr algn="l">
              <a:defRPr sz="900" b="1">
                <a:solidFill>
                  <a:srgbClr val="FF8C00"/>
                </a:solidFill>
                <a:latin typeface="Calibri"/>
              </a:defRPr>
            </a:pPr>
            <a:r>
              <a:t>Hesaplama:</a:t>
            </a:r>
          </a:p>
        </p:txBody>
      </p:sp>
      <p:sp>
        <p:nvSpPr>
          <p:cNvPr id="64" name="TextBox 63"/>
          <p:cNvSpPr txBox="1"/>
          <p:nvPr/>
        </p:nvSpPr>
        <p:spPr>
          <a:xfrm>
            <a:off x="192024" y="4599432"/>
            <a:ext cx="2176272" cy="502920"/>
          </a:xfrm>
          <a:prstGeom prst="rect">
            <a:avLst/>
          </a:prstGeom>
          <a:noFill/>
        </p:spPr>
        <p:txBody>
          <a:bodyPr wrap="square">
            <a:spAutoFit/>
          </a:bodyPr>
          <a:lstStyle/>
          <a:p>
            <a:pPr algn="l">
              <a:defRPr sz="900" b="0">
                <a:solidFill>
                  <a:srgbClr val="333333"/>
                </a:solidFill>
                <a:latin typeface="Calibri"/>
              </a:defRPr>
            </a:pPr>
            <a:r>
              <a:t>totalFields - staticFields</a:t>
            </a:r>
            <a:br/>
            <a:r>
              <a:t>orthalamasiyla hesaplanir</a:t>
            </a:r>
          </a:p>
        </p:txBody>
      </p:sp>
      <p:sp>
        <p:nvSpPr>
          <p:cNvPr id="65" name="TextBox 64"/>
          <p:cNvSpPr txBox="1"/>
          <p:nvPr/>
        </p:nvSpPr>
        <p:spPr>
          <a:xfrm>
            <a:off x="192024" y="5120640"/>
            <a:ext cx="2176272" cy="182880"/>
          </a:xfrm>
          <a:prstGeom prst="rect">
            <a:avLst/>
          </a:prstGeom>
          <a:noFill/>
        </p:spPr>
        <p:txBody>
          <a:bodyPr wrap="square">
            <a:spAutoFit/>
          </a:bodyPr>
          <a:lstStyle/>
          <a:p>
            <a:pPr algn="l">
              <a:defRPr sz="900" b="1">
                <a:solidFill>
                  <a:srgbClr val="FF8C00"/>
                </a:solidFill>
                <a:latin typeface="Calibri"/>
              </a:defRPr>
            </a:pPr>
            <a:r>
              <a:t>Anlami:</a:t>
            </a:r>
          </a:p>
        </p:txBody>
      </p:sp>
      <p:sp>
        <p:nvSpPr>
          <p:cNvPr id="66" name="TextBox 65"/>
          <p:cNvSpPr txBox="1"/>
          <p:nvPr/>
        </p:nvSpPr>
        <p:spPr>
          <a:xfrm>
            <a:off x="192024" y="5285232"/>
            <a:ext cx="2176272" cy="320040"/>
          </a:xfrm>
          <a:prstGeom prst="rect">
            <a:avLst/>
          </a:prstGeom>
          <a:noFill/>
        </p:spPr>
        <p:txBody>
          <a:bodyPr wrap="square">
            <a:spAutoFit/>
          </a:bodyPr>
          <a:lstStyle/>
          <a:p>
            <a:pPr algn="l">
              <a:defRPr sz="900" b="0">
                <a:solidFill>
                  <a:srgbClr val="333333"/>
                </a:solidFill>
                <a:latin typeface="Calibri"/>
              </a:defRPr>
            </a:pPr>
            <a:r>
              <a:t>Bilesim / alan yogunlugu</a:t>
            </a:r>
          </a:p>
        </p:txBody>
      </p:sp>
      <p:sp>
        <p:nvSpPr>
          <p:cNvPr id="67" name="Rectangle 66"/>
          <p:cNvSpPr/>
          <p:nvPr/>
        </p:nvSpPr>
        <p:spPr>
          <a:xfrm>
            <a:off x="164592" y="5852160"/>
            <a:ext cx="2231136" cy="50292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92024" y="5870448"/>
            <a:ext cx="2176272" cy="182880"/>
          </a:xfrm>
          <a:prstGeom prst="rect">
            <a:avLst/>
          </a:prstGeom>
          <a:noFill/>
        </p:spPr>
        <p:txBody>
          <a:bodyPr wrap="square">
            <a:spAutoFit/>
          </a:bodyPr>
          <a:lstStyle/>
          <a:p>
            <a:pPr algn="l">
              <a:defRPr sz="800" b="1">
                <a:solidFill>
                  <a:srgbClr val="333333"/>
                </a:solidFill>
                <a:latin typeface="Calibri"/>
              </a:defRPr>
            </a:pPr>
            <a:r>
              <a:t>Projede (v1.0 -&gt; v3.0):</a:t>
            </a:r>
          </a:p>
        </p:txBody>
      </p:sp>
      <p:sp>
        <p:nvSpPr>
          <p:cNvPr id="69" name="TextBox 68"/>
          <p:cNvSpPr txBox="1"/>
          <p:nvPr/>
        </p:nvSpPr>
        <p:spPr>
          <a:xfrm>
            <a:off x="192024" y="6062472"/>
            <a:ext cx="2176272" cy="228600"/>
          </a:xfrm>
          <a:prstGeom prst="rect">
            <a:avLst/>
          </a:prstGeom>
          <a:noFill/>
        </p:spPr>
        <p:txBody>
          <a:bodyPr wrap="square">
            <a:spAutoFit/>
          </a:bodyPr>
          <a:lstStyle/>
          <a:p>
            <a:pPr algn="l">
              <a:defRPr sz="1000" b="1">
                <a:solidFill>
                  <a:srgbClr val="2ECC71"/>
                </a:solidFill>
                <a:latin typeface="Calibri"/>
              </a:defRPr>
            </a:pPr>
            <a:r>
              <a:t>3.08 -&gt; 2.64</a:t>
            </a:r>
          </a:p>
        </p:txBody>
      </p:sp>
      <p:sp>
        <p:nvSpPr>
          <p:cNvPr id="70" name="Rectangle 69"/>
          <p:cNvSpPr/>
          <p:nvPr/>
        </p:nvSpPr>
        <p:spPr>
          <a:xfrm>
            <a:off x="2560320" y="3886200"/>
            <a:ext cx="228600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2560320" y="3886200"/>
            <a:ext cx="2286000" cy="50292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615184" y="3904487"/>
            <a:ext cx="2176272" cy="228600"/>
          </a:xfrm>
          <a:prstGeom prst="rect">
            <a:avLst/>
          </a:prstGeom>
          <a:noFill/>
        </p:spPr>
        <p:txBody>
          <a:bodyPr wrap="square">
            <a:spAutoFit/>
          </a:bodyPr>
          <a:lstStyle/>
          <a:p>
            <a:pPr algn="l">
              <a:defRPr sz="1600" b="1">
                <a:solidFill>
                  <a:srgbClr val="FFFFFF"/>
                </a:solidFill>
                <a:latin typeface="Calibri"/>
              </a:defRPr>
            </a:pPr>
            <a:r>
              <a:t>MFA</a:t>
            </a:r>
          </a:p>
        </p:txBody>
      </p:sp>
      <p:sp>
        <p:nvSpPr>
          <p:cNvPr id="73" name="TextBox 72"/>
          <p:cNvSpPr txBox="1"/>
          <p:nvPr/>
        </p:nvSpPr>
        <p:spPr>
          <a:xfrm>
            <a:off x="2615184" y="4133087"/>
            <a:ext cx="2176272" cy="228600"/>
          </a:xfrm>
          <a:prstGeom prst="rect">
            <a:avLst/>
          </a:prstGeom>
          <a:noFill/>
        </p:spPr>
        <p:txBody>
          <a:bodyPr wrap="square">
            <a:spAutoFit/>
          </a:bodyPr>
          <a:lstStyle/>
          <a:p>
            <a:pPr algn="l">
              <a:defRPr sz="1100" b="0">
                <a:solidFill>
                  <a:srgbClr val="E0E0E0"/>
                </a:solidFill>
                <a:latin typeface="Calibri"/>
              </a:defRPr>
            </a:pPr>
            <a:r>
              <a:t>Inheritance</a:t>
            </a:r>
          </a:p>
        </p:txBody>
      </p:sp>
      <p:sp>
        <p:nvSpPr>
          <p:cNvPr id="74" name="TextBox 73"/>
          <p:cNvSpPr txBox="1"/>
          <p:nvPr/>
        </p:nvSpPr>
        <p:spPr>
          <a:xfrm>
            <a:off x="2615184" y="4434840"/>
            <a:ext cx="2176272" cy="182880"/>
          </a:xfrm>
          <a:prstGeom prst="rect">
            <a:avLst/>
          </a:prstGeom>
          <a:noFill/>
        </p:spPr>
        <p:txBody>
          <a:bodyPr wrap="square">
            <a:spAutoFit/>
          </a:bodyPr>
          <a:lstStyle/>
          <a:p>
            <a:pPr algn="l">
              <a:defRPr sz="900" b="1">
                <a:solidFill>
                  <a:srgbClr val="0096D6"/>
                </a:solidFill>
                <a:latin typeface="Calibri"/>
              </a:defRPr>
            </a:pPr>
            <a:r>
              <a:t>Hesaplama:</a:t>
            </a:r>
          </a:p>
        </p:txBody>
      </p:sp>
      <p:sp>
        <p:nvSpPr>
          <p:cNvPr id="75" name="TextBox 74"/>
          <p:cNvSpPr txBox="1"/>
          <p:nvPr/>
        </p:nvSpPr>
        <p:spPr>
          <a:xfrm>
            <a:off x="2615184" y="4599432"/>
            <a:ext cx="2176272" cy="502920"/>
          </a:xfrm>
          <a:prstGeom prst="rect">
            <a:avLst/>
          </a:prstGeom>
          <a:noFill/>
        </p:spPr>
        <p:txBody>
          <a:bodyPr wrap="square">
            <a:spAutoFit/>
          </a:bodyPr>
          <a:lstStyle/>
          <a:p>
            <a:pPr algn="l">
              <a:defRPr sz="900" b="0">
                <a:solidFill>
                  <a:srgbClr val="333333"/>
                </a:solidFill>
                <a:latin typeface="Calibri"/>
              </a:defRPr>
            </a:pPr>
            <a:r>
              <a:t>DIT &gt; 0 olan siniflarin</a:t>
            </a:r>
            <a:br/>
            <a:r>
              <a:t>orani ile hesaplanir</a:t>
            </a:r>
          </a:p>
        </p:txBody>
      </p:sp>
      <p:sp>
        <p:nvSpPr>
          <p:cNvPr id="76" name="TextBox 75"/>
          <p:cNvSpPr txBox="1"/>
          <p:nvPr/>
        </p:nvSpPr>
        <p:spPr>
          <a:xfrm>
            <a:off x="2615184" y="5120640"/>
            <a:ext cx="2176272" cy="182880"/>
          </a:xfrm>
          <a:prstGeom prst="rect">
            <a:avLst/>
          </a:prstGeom>
          <a:noFill/>
        </p:spPr>
        <p:txBody>
          <a:bodyPr wrap="square">
            <a:spAutoFit/>
          </a:bodyPr>
          <a:lstStyle/>
          <a:p>
            <a:pPr algn="l">
              <a:defRPr sz="900" b="1">
                <a:solidFill>
                  <a:srgbClr val="0096D6"/>
                </a:solidFill>
                <a:latin typeface="Calibri"/>
              </a:defRPr>
            </a:pPr>
            <a:r>
              <a:t>Anlami:</a:t>
            </a:r>
          </a:p>
        </p:txBody>
      </p:sp>
      <p:sp>
        <p:nvSpPr>
          <p:cNvPr id="77" name="TextBox 76"/>
          <p:cNvSpPr txBox="1"/>
          <p:nvPr/>
        </p:nvSpPr>
        <p:spPr>
          <a:xfrm>
            <a:off x="2615184" y="5285232"/>
            <a:ext cx="2176272" cy="320040"/>
          </a:xfrm>
          <a:prstGeom prst="rect">
            <a:avLst/>
          </a:prstGeom>
          <a:noFill/>
        </p:spPr>
        <p:txBody>
          <a:bodyPr wrap="square">
            <a:spAutoFit/>
          </a:bodyPr>
          <a:lstStyle/>
          <a:p>
            <a:pPr algn="l">
              <a:defRPr sz="900" b="0">
                <a:solidFill>
                  <a:srgbClr val="333333"/>
                </a:solidFill>
                <a:latin typeface="Calibri"/>
              </a:defRPr>
            </a:pPr>
            <a:r>
              <a:t>Kalitim kullanim orani</a:t>
            </a:r>
          </a:p>
        </p:txBody>
      </p:sp>
      <p:sp>
        <p:nvSpPr>
          <p:cNvPr id="78" name="Rectangle 77"/>
          <p:cNvSpPr/>
          <p:nvPr/>
        </p:nvSpPr>
        <p:spPr>
          <a:xfrm>
            <a:off x="2587751" y="5852160"/>
            <a:ext cx="2231136" cy="50292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615184" y="5870448"/>
            <a:ext cx="2176272" cy="182880"/>
          </a:xfrm>
          <a:prstGeom prst="rect">
            <a:avLst/>
          </a:prstGeom>
          <a:noFill/>
        </p:spPr>
        <p:txBody>
          <a:bodyPr wrap="square">
            <a:spAutoFit/>
          </a:bodyPr>
          <a:lstStyle/>
          <a:p>
            <a:pPr algn="l">
              <a:defRPr sz="800" b="1">
                <a:solidFill>
                  <a:srgbClr val="333333"/>
                </a:solidFill>
                <a:latin typeface="Calibri"/>
              </a:defRPr>
            </a:pPr>
            <a:r>
              <a:t>Projede (v1.0 -&gt; v3.0):</a:t>
            </a:r>
          </a:p>
        </p:txBody>
      </p:sp>
      <p:sp>
        <p:nvSpPr>
          <p:cNvPr id="80" name="TextBox 79"/>
          <p:cNvSpPr txBox="1"/>
          <p:nvPr/>
        </p:nvSpPr>
        <p:spPr>
          <a:xfrm>
            <a:off x="2615184" y="6062472"/>
            <a:ext cx="2176272" cy="228600"/>
          </a:xfrm>
          <a:prstGeom prst="rect">
            <a:avLst/>
          </a:prstGeom>
          <a:noFill/>
        </p:spPr>
        <p:txBody>
          <a:bodyPr wrap="square">
            <a:spAutoFit/>
          </a:bodyPr>
          <a:lstStyle/>
          <a:p>
            <a:pPr algn="l">
              <a:defRPr sz="1000" b="1">
                <a:solidFill>
                  <a:srgbClr val="2ECC71"/>
                </a:solidFill>
                <a:latin typeface="Calibri"/>
              </a:defRPr>
            </a:pPr>
            <a:r>
              <a:t>1.00 -&gt; 1.00 (sabit)</a:t>
            </a:r>
          </a:p>
        </p:txBody>
      </p:sp>
      <p:sp>
        <p:nvSpPr>
          <p:cNvPr id="81" name="Rectangle 80"/>
          <p:cNvSpPr/>
          <p:nvPr/>
        </p:nvSpPr>
        <p:spPr>
          <a:xfrm>
            <a:off x="4983480" y="3886200"/>
            <a:ext cx="228600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4983480" y="3886200"/>
            <a:ext cx="2286000" cy="5029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038344" y="3904487"/>
            <a:ext cx="2176272" cy="228600"/>
          </a:xfrm>
          <a:prstGeom prst="rect">
            <a:avLst/>
          </a:prstGeom>
          <a:noFill/>
        </p:spPr>
        <p:txBody>
          <a:bodyPr wrap="square">
            <a:spAutoFit/>
          </a:bodyPr>
          <a:lstStyle/>
          <a:p>
            <a:pPr algn="l">
              <a:defRPr sz="1600" b="1">
                <a:solidFill>
                  <a:srgbClr val="FFFFFF"/>
                </a:solidFill>
                <a:latin typeface="Calibri"/>
              </a:defRPr>
            </a:pPr>
            <a:r>
              <a:t>NOP</a:t>
            </a:r>
          </a:p>
        </p:txBody>
      </p:sp>
      <p:sp>
        <p:nvSpPr>
          <p:cNvPr id="84" name="TextBox 83"/>
          <p:cNvSpPr txBox="1"/>
          <p:nvPr/>
        </p:nvSpPr>
        <p:spPr>
          <a:xfrm>
            <a:off x="5038344" y="4133087"/>
            <a:ext cx="2176272" cy="228600"/>
          </a:xfrm>
          <a:prstGeom prst="rect">
            <a:avLst/>
          </a:prstGeom>
          <a:noFill/>
        </p:spPr>
        <p:txBody>
          <a:bodyPr wrap="square">
            <a:spAutoFit/>
          </a:bodyPr>
          <a:lstStyle/>
          <a:p>
            <a:pPr algn="l">
              <a:defRPr sz="1100" b="0">
                <a:solidFill>
                  <a:srgbClr val="E0E0E0"/>
                </a:solidFill>
                <a:latin typeface="Calibri"/>
              </a:defRPr>
            </a:pPr>
            <a:r>
              <a:t>Polymorphism</a:t>
            </a:r>
          </a:p>
        </p:txBody>
      </p:sp>
      <p:sp>
        <p:nvSpPr>
          <p:cNvPr id="85" name="TextBox 84"/>
          <p:cNvSpPr txBox="1"/>
          <p:nvPr/>
        </p:nvSpPr>
        <p:spPr>
          <a:xfrm>
            <a:off x="5038344" y="4434840"/>
            <a:ext cx="2176272" cy="182880"/>
          </a:xfrm>
          <a:prstGeom prst="rect">
            <a:avLst/>
          </a:prstGeom>
          <a:noFill/>
        </p:spPr>
        <p:txBody>
          <a:bodyPr wrap="square">
            <a:spAutoFit/>
          </a:bodyPr>
          <a:lstStyle/>
          <a:p>
            <a:pPr algn="l">
              <a:defRPr sz="900" b="1">
                <a:solidFill>
                  <a:srgbClr val="8E44AD"/>
                </a:solidFill>
                <a:latin typeface="Calibri"/>
              </a:defRPr>
            </a:pPr>
            <a:r>
              <a:t>Hesaplama:</a:t>
            </a:r>
          </a:p>
        </p:txBody>
      </p:sp>
      <p:sp>
        <p:nvSpPr>
          <p:cNvPr id="86" name="TextBox 85"/>
          <p:cNvSpPr txBox="1"/>
          <p:nvPr/>
        </p:nvSpPr>
        <p:spPr>
          <a:xfrm>
            <a:off x="5038344" y="4599432"/>
            <a:ext cx="2176272" cy="502920"/>
          </a:xfrm>
          <a:prstGeom prst="rect">
            <a:avLst/>
          </a:prstGeom>
          <a:noFill/>
        </p:spPr>
        <p:txBody>
          <a:bodyPr wrap="square">
            <a:spAutoFit/>
          </a:bodyPr>
          <a:lstStyle/>
          <a:p>
            <a:pPr algn="l">
              <a:defRPr sz="900" b="0">
                <a:solidFill>
                  <a:srgbClr val="333333"/>
                </a:solidFill>
                <a:latin typeface="Calibri"/>
              </a:defRPr>
            </a:pPr>
            <a:r>
              <a:t>mu(abstractMethods) + P(DIT&gt;0)</a:t>
            </a:r>
            <a:br/>
            <a:r>
              <a:t>ile hesaplanir</a:t>
            </a:r>
          </a:p>
        </p:txBody>
      </p:sp>
      <p:sp>
        <p:nvSpPr>
          <p:cNvPr id="87" name="TextBox 86"/>
          <p:cNvSpPr txBox="1"/>
          <p:nvPr/>
        </p:nvSpPr>
        <p:spPr>
          <a:xfrm>
            <a:off x="5038344" y="5120640"/>
            <a:ext cx="2176272" cy="182880"/>
          </a:xfrm>
          <a:prstGeom prst="rect">
            <a:avLst/>
          </a:prstGeom>
          <a:noFill/>
        </p:spPr>
        <p:txBody>
          <a:bodyPr wrap="square">
            <a:spAutoFit/>
          </a:bodyPr>
          <a:lstStyle/>
          <a:p>
            <a:pPr algn="l">
              <a:defRPr sz="900" b="1">
                <a:solidFill>
                  <a:srgbClr val="8E44AD"/>
                </a:solidFill>
                <a:latin typeface="Calibri"/>
              </a:defRPr>
            </a:pPr>
            <a:r>
              <a:t>Anlami:</a:t>
            </a:r>
          </a:p>
        </p:txBody>
      </p:sp>
      <p:sp>
        <p:nvSpPr>
          <p:cNvPr id="88" name="TextBox 87"/>
          <p:cNvSpPr txBox="1"/>
          <p:nvPr/>
        </p:nvSpPr>
        <p:spPr>
          <a:xfrm>
            <a:off x="5038344" y="5285232"/>
            <a:ext cx="2176272" cy="320040"/>
          </a:xfrm>
          <a:prstGeom prst="rect">
            <a:avLst/>
          </a:prstGeom>
          <a:noFill/>
        </p:spPr>
        <p:txBody>
          <a:bodyPr wrap="square">
            <a:spAutoFit/>
          </a:bodyPr>
          <a:lstStyle/>
          <a:p>
            <a:pPr algn="l">
              <a:defRPr sz="900" b="0">
                <a:solidFill>
                  <a:srgbClr val="333333"/>
                </a:solidFill>
                <a:latin typeface="Calibri"/>
              </a:defRPr>
            </a:pPr>
            <a:r>
              <a:t>Cok bicimlilik duzeyi</a:t>
            </a:r>
          </a:p>
        </p:txBody>
      </p:sp>
      <p:sp>
        <p:nvSpPr>
          <p:cNvPr id="89" name="Rectangle 88"/>
          <p:cNvSpPr/>
          <p:nvPr/>
        </p:nvSpPr>
        <p:spPr>
          <a:xfrm>
            <a:off x="5010912" y="5852160"/>
            <a:ext cx="2231136" cy="50292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038344" y="5870448"/>
            <a:ext cx="2176272" cy="182880"/>
          </a:xfrm>
          <a:prstGeom prst="rect">
            <a:avLst/>
          </a:prstGeom>
          <a:noFill/>
        </p:spPr>
        <p:txBody>
          <a:bodyPr wrap="square">
            <a:spAutoFit/>
          </a:bodyPr>
          <a:lstStyle/>
          <a:p>
            <a:pPr algn="l">
              <a:defRPr sz="800" b="1">
                <a:solidFill>
                  <a:srgbClr val="333333"/>
                </a:solidFill>
                <a:latin typeface="Calibri"/>
              </a:defRPr>
            </a:pPr>
            <a:r>
              <a:t>Projede (v1.0 -&gt; v3.0):</a:t>
            </a:r>
          </a:p>
        </p:txBody>
      </p:sp>
      <p:sp>
        <p:nvSpPr>
          <p:cNvPr id="91" name="TextBox 90"/>
          <p:cNvSpPr txBox="1"/>
          <p:nvPr/>
        </p:nvSpPr>
        <p:spPr>
          <a:xfrm>
            <a:off x="5038344" y="6062472"/>
            <a:ext cx="2176272" cy="228600"/>
          </a:xfrm>
          <a:prstGeom prst="rect">
            <a:avLst/>
          </a:prstGeom>
          <a:noFill/>
        </p:spPr>
        <p:txBody>
          <a:bodyPr wrap="square">
            <a:spAutoFit/>
          </a:bodyPr>
          <a:lstStyle/>
          <a:p>
            <a:pPr algn="l">
              <a:defRPr sz="1000" b="1">
                <a:solidFill>
                  <a:srgbClr val="2ECC71"/>
                </a:solidFill>
                <a:latin typeface="Calibri"/>
              </a:defRPr>
            </a:pPr>
            <a:r>
              <a:t>1.003 -&gt; 1.140</a:t>
            </a:r>
          </a:p>
        </p:txBody>
      </p:sp>
      <p:sp>
        <p:nvSpPr>
          <p:cNvPr id="92" name="Rectangle 91"/>
          <p:cNvSpPr/>
          <p:nvPr/>
        </p:nvSpPr>
        <p:spPr>
          <a:xfrm>
            <a:off x="7406640" y="3886200"/>
            <a:ext cx="228600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406640" y="3886200"/>
            <a:ext cx="2286000" cy="50292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461504" y="3904487"/>
            <a:ext cx="2176272" cy="228600"/>
          </a:xfrm>
          <a:prstGeom prst="rect">
            <a:avLst/>
          </a:prstGeom>
          <a:noFill/>
        </p:spPr>
        <p:txBody>
          <a:bodyPr wrap="square">
            <a:spAutoFit/>
          </a:bodyPr>
          <a:lstStyle/>
          <a:p>
            <a:pPr algn="l">
              <a:defRPr sz="1600" b="1">
                <a:solidFill>
                  <a:srgbClr val="FFFFFF"/>
                </a:solidFill>
                <a:latin typeface="Calibri"/>
              </a:defRPr>
            </a:pPr>
            <a:r>
              <a:t>CIS</a:t>
            </a:r>
          </a:p>
        </p:txBody>
      </p:sp>
      <p:sp>
        <p:nvSpPr>
          <p:cNvPr id="95" name="TextBox 94"/>
          <p:cNvSpPr txBox="1"/>
          <p:nvPr/>
        </p:nvSpPr>
        <p:spPr>
          <a:xfrm>
            <a:off x="7461504" y="4133087"/>
            <a:ext cx="2176272" cy="228600"/>
          </a:xfrm>
          <a:prstGeom prst="rect">
            <a:avLst/>
          </a:prstGeom>
          <a:noFill/>
        </p:spPr>
        <p:txBody>
          <a:bodyPr wrap="square">
            <a:spAutoFit/>
          </a:bodyPr>
          <a:lstStyle/>
          <a:p>
            <a:pPr algn="l">
              <a:defRPr sz="1100" b="0">
                <a:solidFill>
                  <a:srgbClr val="E0E0E0"/>
                </a:solidFill>
                <a:latin typeface="Calibri"/>
              </a:defRPr>
            </a:pPr>
            <a:r>
              <a:t>Messaging</a:t>
            </a:r>
          </a:p>
        </p:txBody>
      </p:sp>
      <p:sp>
        <p:nvSpPr>
          <p:cNvPr id="96" name="TextBox 95"/>
          <p:cNvSpPr txBox="1"/>
          <p:nvPr/>
        </p:nvSpPr>
        <p:spPr>
          <a:xfrm>
            <a:off x="7461504" y="4434840"/>
            <a:ext cx="2176272" cy="182880"/>
          </a:xfrm>
          <a:prstGeom prst="rect">
            <a:avLst/>
          </a:prstGeom>
          <a:noFill/>
        </p:spPr>
        <p:txBody>
          <a:bodyPr wrap="square">
            <a:spAutoFit/>
          </a:bodyPr>
          <a:lstStyle/>
          <a:p>
            <a:pPr algn="l">
              <a:defRPr sz="900" b="1">
                <a:solidFill>
                  <a:srgbClr val="00897B"/>
                </a:solidFill>
                <a:latin typeface="Calibri"/>
              </a:defRPr>
            </a:pPr>
            <a:r>
              <a:t>Hesaplama:</a:t>
            </a:r>
          </a:p>
        </p:txBody>
      </p:sp>
      <p:sp>
        <p:nvSpPr>
          <p:cNvPr id="97" name="TextBox 96"/>
          <p:cNvSpPr txBox="1"/>
          <p:nvPr/>
        </p:nvSpPr>
        <p:spPr>
          <a:xfrm>
            <a:off x="7461504" y="4599432"/>
            <a:ext cx="2176272" cy="502920"/>
          </a:xfrm>
          <a:prstGeom prst="rect">
            <a:avLst/>
          </a:prstGeom>
          <a:noFill/>
        </p:spPr>
        <p:txBody>
          <a:bodyPr wrap="square">
            <a:spAutoFit/>
          </a:bodyPr>
          <a:lstStyle/>
          <a:p>
            <a:pPr algn="l">
              <a:defRPr sz="900" b="0">
                <a:solidFill>
                  <a:srgbClr val="333333"/>
                </a:solidFill>
                <a:latin typeface="Calibri"/>
              </a:defRPr>
            </a:pPr>
            <a:r>
              <a:t>Ortalama public metot sayisi</a:t>
            </a:r>
            <a:br/>
            <a:r>
              <a:t>mu(publicMethods)</a:t>
            </a:r>
          </a:p>
        </p:txBody>
      </p:sp>
      <p:sp>
        <p:nvSpPr>
          <p:cNvPr id="98" name="TextBox 97"/>
          <p:cNvSpPr txBox="1"/>
          <p:nvPr/>
        </p:nvSpPr>
        <p:spPr>
          <a:xfrm>
            <a:off x="7461504" y="5120640"/>
            <a:ext cx="2176272" cy="182880"/>
          </a:xfrm>
          <a:prstGeom prst="rect">
            <a:avLst/>
          </a:prstGeom>
          <a:noFill/>
        </p:spPr>
        <p:txBody>
          <a:bodyPr wrap="square">
            <a:spAutoFit/>
          </a:bodyPr>
          <a:lstStyle/>
          <a:p>
            <a:pPr algn="l">
              <a:defRPr sz="900" b="1">
                <a:solidFill>
                  <a:srgbClr val="00897B"/>
                </a:solidFill>
                <a:latin typeface="Calibri"/>
              </a:defRPr>
            </a:pPr>
            <a:r>
              <a:t>Anlami:</a:t>
            </a:r>
          </a:p>
        </p:txBody>
      </p:sp>
      <p:sp>
        <p:nvSpPr>
          <p:cNvPr id="99" name="TextBox 98"/>
          <p:cNvSpPr txBox="1"/>
          <p:nvPr/>
        </p:nvSpPr>
        <p:spPr>
          <a:xfrm>
            <a:off x="7461504" y="5285232"/>
            <a:ext cx="2176272" cy="320040"/>
          </a:xfrm>
          <a:prstGeom prst="rect">
            <a:avLst/>
          </a:prstGeom>
          <a:noFill/>
        </p:spPr>
        <p:txBody>
          <a:bodyPr wrap="square">
            <a:spAutoFit/>
          </a:bodyPr>
          <a:lstStyle/>
          <a:p>
            <a:pPr algn="l">
              <a:defRPr sz="900" b="0">
                <a:solidFill>
                  <a:srgbClr val="333333"/>
                </a:solidFill>
                <a:latin typeface="Calibri"/>
              </a:defRPr>
            </a:pPr>
            <a:r>
              <a:t>Sinif arayuz buyuklugu</a:t>
            </a:r>
          </a:p>
        </p:txBody>
      </p:sp>
      <p:sp>
        <p:nvSpPr>
          <p:cNvPr id="100" name="Rectangle 99"/>
          <p:cNvSpPr/>
          <p:nvPr/>
        </p:nvSpPr>
        <p:spPr>
          <a:xfrm>
            <a:off x="7434071" y="5852160"/>
            <a:ext cx="2231136" cy="50292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461504" y="5870448"/>
            <a:ext cx="2176272" cy="182880"/>
          </a:xfrm>
          <a:prstGeom prst="rect">
            <a:avLst/>
          </a:prstGeom>
          <a:noFill/>
        </p:spPr>
        <p:txBody>
          <a:bodyPr wrap="square">
            <a:spAutoFit/>
          </a:bodyPr>
          <a:lstStyle/>
          <a:p>
            <a:pPr algn="l">
              <a:defRPr sz="800" b="1">
                <a:solidFill>
                  <a:srgbClr val="333333"/>
                </a:solidFill>
                <a:latin typeface="Calibri"/>
              </a:defRPr>
            </a:pPr>
            <a:r>
              <a:t>Projede (v1.0 -&gt; v3.0):</a:t>
            </a:r>
          </a:p>
        </p:txBody>
      </p:sp>
      <p:sp>
        <p:nvSpPr>
          <p:cNvPr id="102" name="TextBox 101"/>
          <p:cNvSpPr txBox="1"/>
          <p:nvPr/>
        </p:nvSpPr>
        <p:spPr>
          <a:xfrm>
            <a:off x="7461504" y="6062472"/>
            <a:ext cx="2176272" cy="228600"/>
          </a:xfrm>
          <a:prstGeom prst="rect">
            <a:avLst/>
          </a:prstGeom>
          <a:noFill/>
        </p:spPr>
        <p:txBody>
          <a:bodyPr wrap="square">
            <a:spAutoFit/>
          </a:bodyPr>
          <a:lstStyle/>
          <a:p>
            <a:pPr algn="l">
              <a:defRPr sz="1000" b="1">
                <a:solidFill>
                  <a:srgbClr val="2ECC71"/>
                </a:solidFill>
                <a:latin typeface="Calibri"/>
              </a:defRPr>
            </a:pPr>
            <a:r>
              <a:t>4.48 -&gt; 4.24</a:t>
            </a:r>
          </a:p>
        </p:txBody>
      </p:sp>
      <p:sp>
        <p:nvSpPr>
          <p:cNvPr id="103" name="Rectangle 102"/>
          <p:cNvSpPr/>
          <p:nvPr/>
        </p:nvSpPr>
        <p:spPr>
          <a:xfrm>
            <a:off x="9829800" y="3886200"/>
            <a:ext cx="228600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829800" y="3886200"/>
            <a:ext cx="2286000" cy="5029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884664" y="3904487"/>
            <a:ext cx="2176272" cy="228600"/>
          </a:xfrm>
          <a:prstGeom prst="rect">
            <a:avLst/>
          </a:prstGeom>
          <a:noFill/>
        </p:spPr>
        <p:txBody>
          <a:bodyPr wrap="square">
            <a:spAutoFit/>
          </a:bodyPr>
          <a:lstStyle/>
          <a:p>
            <a:pPr algn="l">
              <a:defRPr sz="1600" b="1">
                <a:solidFill>
                  <a:srgbClr val="FFFFFF"/>
                </a:solidFill>
                <a:latin typeface="Calibri"/>
              </a:defRPr>
            </a:pPr>
            <a:r>
              <a:t>NOM</a:t>
            </a:r>
          </a:p>
        </p:txBody>
      </p:sp>
      <p:sp>
        <p:nvSpPr>
          <p:cNvPr id="106" name="TextBox 105"/>
          <p:cNvSpPr txBox="1"/>
          <p:nvPr/>
        </p:nvSpPr>
        <p:spPr>
          <a:xfrm>
            <a:off x="9884664" y="4133087"/>
            <a:ext cx="2176272" cy="228600"/>
          </a:xfrm>
          <a:prstGeom prst="rect">
            <a:avLst/>
          </a:prstGeom>
          <a:noFill/>
        </p:spPr>
        <p:txBody>
          <a:bodyPr wrap="square">
            <a:spAutoFit/>
          </a:bodyPr>
          <a:lstStyle/>
          <a:p>
            <a:pPr algn="l">
              <a:defRPr sz="1100" b="0">
                <a:solidFill>
                  <a:srgbClr val="E0E0E0"/>
                </a:solidFill>
                <a:latin typeface="Calibri"/>
              </a:defRPr>
            </a:pPr>
            <a:r>
              <a:t>Complexity</a:t>
            </a:r>
          </a:p>
        </p:txBody>
      </p:sp>
      <p:sp>
        <p:nvSpPr>
          <p:cNvPr id="107" name="TextBox 106"/>
          <p:cNvSpPr txBox="1"/>
          <p:nvPr/>
        </p:nvSpPr>
        <p:spPr>
          <a:xfrm>
            <a:off x="9884664" y="4434840"/>
            <a:ext cx="2176272" cy="182880"/>
          </a:xfrm>
          <a:prstGeom prst="rect">
            <a:avLst/>
          </a:prstGeom>
          <a:noFill/>
        </p:spPr>
        <p:txBody>
          <a:bodyPr wrap="square">
            <a:spAutoFit/>
          </a:bodyPr>
          <a:lstStyle/>
          <a:p>
            <a:pPr algn="l">
              <a:defRPr sz="900" b="1">
                <a:solidFill>
                  <a:srgbClr val="FF8C00"/>
                </a:solidFill>
                <a:latin typeface="Calibri"/>
              </a:defRPr>
            </a:pPr>
            <a:r>
              <a:t>Hesaplama:</a:t>
            </a:r>
          </a:p>
        </p:txBody>
      </p:sp>
      <p:sp>
        <p:nvSpPr>
          <p:cNvPr id="108" name="TextBox 107"/>
          <p:cNvSpPr txBox="1"/>
          <p:nvPr/>
        </p:nvSpPr>
        <p:spPr>
          <a:xfrm>
            <a:off x="9884664" y="4599432"/>
            <a:ext cx="2176272" cy="502920"/>
          </a:xfrm>
          <a:prstGeom prst="rect">
            <a:avLst/>
          </a:prstGeom>
          <a:noFill/>
        </p:spPr>
        <p:txBody>
          <a:bodyPr wrap="square">
            <a:spAutoFit/>
          </a:bodyPr>
          <a:lstStyle/>
          <a:p>
            <a:pPr algn="l">
              <a:defRPr sz="900" b="0">
                <a:solidFill>
                  <a:srgbClr val="333333"/>
                </a:solidFill>
                <a:latin typeface="Calibri"/>
              </a:defRPr>
            </a:pPr>
            <a:r>
              <a:t>Ortalama WMC degeri</a:t>
            </a:r>
            <a:br/>
            <a:r>
              <a:t>mu(WMC) ile hesaplanir</a:t>
            </a:r>
          </a:p>
        </p:txBody>
      </p:sp>
      <p:sp>
        <p:nvSpPr>
          <p:cNvPr id="109" name="TextBox 108"/>
          <p:cNvSpPr txBox="1"/>
          <p:nvPr/>
        </p:nvSpPr>
        <p:spPr>
          <a:xfrm>
            <a:off x="9884664" y="5120640"/>
            <a:ext cx="2176272" cy="182880"/>
          </a:xfrm>
          <a:prstGeom prst="rect">
            <a:avLst/>
          </a:prstGeom>
          <a:noFill/>
        </p:spPr>
        <p:txBody>
          <a:bodyPr wrap="square">
            <a:spAutoFit/>
          </a:bodyPr>
          <a:lstStyle/>
          <a:p>
            <a:pPr algn="l">
              <a:defRPr sz="900" b="1">
                <a:solidFill>
                  <a:srgbClr val="FF8C00"/>
                </a:solidFill>
                <a:latin typeface="Calibri"/>
              </a:defRPr>
            </a:pPr>
            <a:r>
              <a:t>Anlami:</a:t>
            </a:r>
          </a:p>
        </p:txBody>
      </p:sp>
      <p:sp>
        <p:nvSpPr>
          <p:cNvPr id="110" name="TextBox 109"/>
          <p:cNvSpPr txBox="1"/>
          <p:nvPr/>
        </p:nvSpPr>
        <p:spPr>
          <a:xfrm>
            <a:off x="9884664" y="5285232"/>
            <a:ext cx="2176272" cy="320040"/>
          </a:xfrm>
          <a:prstGeom prst="rect">
            <a:avLst/>
          </a:prstGeom>
          <a:noFill/>
        </p:spPr>
        <p:txBody>
          <a:bodyPr wrap="square">
            <a:spAutoFit/>
          </a:bodyPr>
          <a:lstStyle/>
          <a:p>
            <a:pPr algn="l">
              <a:defRPr sz="900" b="0">
                <a:solidFill>
                  <a:srgbClr val="333333"/>
                </a:solidFill>
                <a:latin typeface="Calibri"/>
              </a:defRPr>
            </a:pPr>
            <a:r>
              <a:t>Metot karmasikligi</a:t>
            </a:r>
          </a:p>
        </p:txBody>
      </p:sp>
      <p:sp>
        <p:nvSpPr>
          <p:cNvPr id="111" name="Rectangle 110"/>
          <p:cNvSpPr/>
          <p:nvPr/>
        </p:nvSpPr>
        <p:spPr>
          <a:xfrm>
            <a:off x="9857232" y="5852160"/>
            <a:ext cx="2231136" cy="50292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884664" y="5870448"/>
            <a:ext cx="2176272" cy="182880"/>
          </a:xfrm>
          <a:prstGeom prst="rect">
            <a:avLst/>
          </a:prstGeom>
          <a:noFill/>
        </p:spPr>
        <p:txBody>
          <a:bodyPr wrap="square">
            <a:spAutoFit/>
          </a:bodyPr>
          <a:lstStyle/>
          <a:p>
            <a:pPr algn="l">
              <a:defRPr sz="800" b="1">
                <a:solidFill>
                  <a:srgbClr val="333333"/>
                </a:solidFill>
                <a:latin typeface="Calibri"/>
              </a:defRPr>
            </a:pPr>
            <a:r>
              <a:t>Projede (v1.0 -&gt; v3.0):</a:t>
            </a:r>
          </a:p>
        </p:txBody>
      </p:sp>
      <p:sp>
        <p:nvSpPr>
          <p:cNvPr id="113" name="TextBox 112"/>
          <p:cNvSpPr txBox="1"/>
          <p:nvPr/>
        </p:nvSpPr>
        <p:spPr>
          <a:xfrm>
            <a:off x="9884664" y="6062472"/>
            <a:ext cx="2176272" cy="228600"/>
          </a:xfrm>
          <a:prstGeom prst="rect">
            <a:avLst/>
          </a:prstGeom>
          <a:noFill/>
        </p:spPr>
        <p:txBody>
          <a:bodyPr wrap="square">
            <a:spAutoFit/>
          </a:bodyPr>
          <a:lstStyle/>
          <a:p>
            <a:pPr algn="l">
              <a:defRPr sz="1000" b="1">
                <a:solidFill>
                  <a:srgbClr val="2ECC71"/>
                </a:solidFill>
                <a:latin typeface="Calibri"/>
              </a:defRPr>
            </a:pPr>
            <a:r>
              <a:t>11.69 -&gt; 12.16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3000" b="1">
                <a:solidFill>
                  <a:srgbClr val="FFFFFF"/>
                </a:solidFill>
                <a:latin typeface="Calibri"/>
              </a:defRPr>
            </a:pPr>
            <a:r>
              <a:t>CK Tool: Otomasyon ve Ciktilar</a:t>
            </a:r>
          </a:p>
        </p:txBody>
      </p:sp>
      <p:sp>
        <p:nvSpPr>
          <p:cNvPr id="4" name="Rectangle 3"/>
          <p:cNvSpPr/>
          <p:nvPr/>
        </p:nvSpPr>
        <p:spPr>
          <a:xfrm>
            <a:off x="274320" y="1188720"/>
            <a:ext cx="566928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5303520" cy="365760"/>
          </a:xfrm>
          <a:prstGeom prst="rect">
            <a:avLst/>
          </a:prstGeom>
          <a:noFill/>
        </p:spPr>
        <p:txBody>
          <a:bodyPr wrap="square">
            <a:spAutoFit/>
          </a:bodyPr>
          <a:lstStyle/>
          <a:p>
            <a:pPr algn="l">
              <a:defRPr sz="1800" b="1">
                <a:solidFill>
                  <a:srgbClr val="0096D6"/>
                </a:solidFill>
                <a:latin typeface="Calibri"/>
              </a:defRPr>
            </a:pPr>
            <a:r>
              <a:t>3. Otomasyon Scripti (extract_metrics.sh)</a:t>
            </a:r>
          </a:p>
        </p:txBody>
      </p:sp>
      <p:sp>
        <p:nvSpPr>
          <p:cNvPr id="6" name="TextBox 5"/>
          <p:cNvSpPr txBox="1"/>
          <p:nvPr/>
        </p:nvSpPr>
        <p:spPr>
          <a:xfrm>
            <a:off x="457200" y="1737360"/>
            <a:ext cx="5303520" cy="274320"/>
          </a:xfrm>
          <a:prstGeom prst="rect">
            <a:avLst/>
          </a:prstGeom>
          <a:noFill/>
        </p:spPr>
        <p:txBody>
          <a:bodyPr wrap="square">
            <a:spAutoFit/>
          </a:bodyPr>
          <a:lstStyle/>
          <a:p>
            <a:pPr algn="l">
              <a:defRPr sz="1400" b="0">
                <a:solidFill>
                  <a:srgbClr val="333333"/>
                </a:solidFill>
                <a:latin typeface="Calibri"/>
              </a:defRPr>
            </a:pPr>
            <a:r>
              <a:t>12 surum icin dongu ile otomatik calistirma:</a:t>
            </a:r>
          </a:p>
        </p:txBody>
      </p:sp>
      <p:sp>
        <p:nvSpPr>
          <p:cNvPr id="7" name="Rectangle 6"/>
          <p:cNvSpPr/>
          <p:nvPr/>
        </p:nvSpPr>
        <p:spPr>
          <a:xfrm>
            <a:off x="457200" y="2103120"/>
            <a:ext cx="5303520" cy="18288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48840"/>
            <a:ext cx="5120640" cy="1737360"/>
          </a:xfrm>
          <a:prstGeom prst="rect">
            <a:avLst/>
          </a:prstGeom>
          <a:noFill/>
        </p:spPr>
        <p:txBody>
          <a:bodyPr wrap="square">
            <a:spAutoFit/>
          </a:bodyPr>
          <a:lstStyle/>
          <a:p>
            <a:pPr algn="l">
              <a:defRPr sz="1200" b="0">
                <a:solidFill>
                  <a:srgbClr val="2ECC71"/>
                </a:solidFill>
                <a:latin typeface="Calibri"/>
              </a:defRPr>
            </a:pPr>
            <a:r>
              <a:t>VERSIONS=("1.0.0.0" "1.1.0.0" ... "3.0.0.0")</a:t>
            </a:r>
            <a:br/>
            <a:br/>
            <a:r>
              <a:t>for VERSION in ${VERSIONS[@]}; do</a:t>
            </a:r>
            <a:br/>
            <a:r>
              <a:t>    git checkout "$VERSION"          # surumu sec</a:t>
            </a:r>
            <a:br/>
            <a:r>
              <a:t>    java -jar ck-0.7.0-...jar \     # CK Tool</a:t>
            </a:r>
            <a:br/>
            <a:r>
              <a:t>        "src/main/java" ...          # analiz et</a:t>
            </a:r>
            <a:br/>
            <a:r>
              <a:t>        "metrics/$VERSION/"           # kaydet</a:t>
            </a:r>
            <a:br/>
            <a:r>
              <a:t>done</a:t>
            </a:r>
          </a:p>
        </p:txBody>
      </p:sp>
      <p:sp>
        <p:nvSpPr>
          <p:cNvPr id="9" name="Rectangle 8"/>
          <p:cNvSpPr/>
          <p:nvPr/>
        </p:nvSpPr>
        <p:spPr>
          <a:xfrm>
            <a:off x="6217920" y="1188720"/>
            <a:ext cx="5669280"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280160"/>
            <a:ext cx="5303520" cy="365760"/>
          </a:xfrm>
          <a:prstGeom prst="rect">
            <a:avLst/>
          </a:prstGeom>
          <a:noFill/>
        </p:spPr>
        <p:txBody>
          <a:bodyPr wrap="square">
            <a:spAutoFit/>
          </a:bodyPr>
          <a:lstStyle/>
          <a:p>
            <a:pPr algn="l">
              <a:defRPr sz="1800" b="1">
                <a:solidFill>
                  <a:srgbClr val="0096D6"/>
                </a:solidFill>
                <a:latin typeface="Calibri"/>
              </a:defRPr>
            </a:pPr>
            <a:r>
              <a:t>4. Cikti Yapisi</a:t>
            </a:r>
          </a:p>
        </p:txBody>
      </p:sp>
      <p:sp>
        <p:nvSpPr>
          <p:cNvPr id="11" name="Rectangle 10"/>
          <p:cNvSpPr/>
          <p:nvPr/>
        </p:nvSpPr>
        <p:spPr>
          <a:xfrm>
            <a:off x="6400800" y="1737360"/>
            <a:ext cx="5303520" cy="219456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83080"/>
            <a:ext cx="5120640" cy="2103120"/>
          </a:xfrm>
          <a:prstGeom prst="rect">
            <a:avLst/>
          </a:prstGeom>
          <a:noFill/>
        </p:spPr>
        <p:txBody>
          <a:bodyPr wrap="square">
            <a:spAutoFit/>
          </a:bodyPr>
          <a:lstStyle/>
          <a:p>
            <a:pPr algn="l">
              <a:defRPr sz="1300" b="0">
                <a:solidFill>
                  <a:srgbClr val="2ECC71"/>
                </a:solidFill>
                <a:latin typeface="Calibri"/>
              </a:defRPr>
            </a:pPr>
            <a:r>
              <a:t>metrics/</a:t>
            </a:r>
            <a:br/>
            <a:r>
              <a:t>|-- 1.0.0.0/class.csv    -&gt; 288 sinif</a:t>
            </a:r>
            <a:br/>
            <a:r>
              <a:t>|-- 1.1.0.0/class.csv    -&gt; 327 sinif</a:t>
            </a:r>
            <a:br/>
            <a:r>
              <a:t>|-- 1.3.0.0/class.csv    -&gt; 351 sinif</a:t>
            </a:r>
            <a:br/>
            <a:r>
              <a:t>|-- 2.0.0.0/class.csv    -&gt; 351 sinif</a:t>
            </a:r>
            <a:br/>
            <a:r>
              <a:t>|-- ...                            </a:t>
            </a:r>
            <a:br/>
            <a:r>
              <a:t>|-- 2.16.0.0/class.csv   -&gt; 591 sinif (!)</a:t>
            </a:r>
            <a:br/>
            <a:r>
              <a:t>|-- 2.19.0.0/class.csv   -&gt; 609 sinif</a:t>
            </a:r>
            <a:br/>
            <a:r>
              <a:t>|-- 3.0.0.0/class.csv    -&gt; 609 sinif</a:t>
            </a:r>
          </a:p>
        </p:txBody>
      </p:sp>
      <p:sp>
        <p:nvSpPr>
          <p:cNvPr id="13" name="Rectangle 12"/>
          <p:cNvSpPr/>
          <p:nvPr/>
        </p:nvSpPr>
        <p:spPr>
          <a:xfrm>
            <a:off x="274320" y="4297680"/>
            <a:ext cx="1161288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389120"/>
            <a:ext cx="11247120" cy="365760"/>
          </a:xfrm>
          <a:prstGeom prst="rect">
            <a:avLst/>
          </a:prstGeom>
          <a:noFill/>
        </p:spPr>
        <p:txBody>
          <a:bodyPr wrap="square">
            <a:spAutoFit/>
          </a:bodyPr>
          <a:lstStyle/>
          <a:p>
            <a:pPr algn="l">
              <a:defRPr sz="1800" b="1">
                <a:solidFill>
                  <a:srgbClr val="0096D6"/>
                </a:solidFill>
                <a:latin typeface="Calibri"/>
              </a:defRPr>
            </a:pPr>
            <a:r>
              <a:t>5. CSV Ciktisi Nasil Gorunuyor? (class.csv)</a:t>
            </a:r>
          </a:p>
        </p:txBody>
      </p:sp>
      <p:sp>
        <p:nvSpPr>
          <p:cNvPr id="15" name="TextBox 14"/>
          <p:cNvSpPr txBox="1"/>
          <p:nvPr/>
        </p:nvSpPr>
        <p:spPr>
          <a:xfrm>
            <a:off x="457200" y="4800600"/>
            <a:ext cx="11247120" cy="274320"/>
          </a:xfrm>
          <a:prstGeom prst="rect">
            <a:avLst/>
          </a:prstGeom>
          <a:noFill/>
        </p:spPr>
        <p:txBody>
          <a:bodyPr wrap="square">
            <a:spAutoFit/>
          </a:bodyPr>
          <a:lstStyle/>
          <a:p>
            <a:pPr algn="l">
              <a:defRPr sz="1400" b="0">
                <a:solidFill>
                  <a:srgbClr val="333333"/>
                </a:solidFill>
                <a:latin typeface="Calibri"/>
              </a:defRPr>
            </a:pPr>
            <a:r>
              <a:t>Her satir bir Java sinifi, her sutun bir metrik:</a:t>
            </a:r>
          </a:p>
        </p:txBody>
      </p:sp>
      <p:sp>
        <p:nvSpPr>
          <p:cNvPr id="16" name="Rectangle 15"/>
          <p:cNvSpPr/>
          <p:nvPr/>
        </p:nvSpPr>
        <p:spPr>
          <a:xfrm>
            <a:off x="457200" y="5120640"/>
            <a:ext cx="11247120" cy="41148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138928"/>
            <a:ext cx="11064240" cy="365760"/>
          </a:xfrm>
          <a:prstGeom prst="rect">
            <a:avLst/>
          </a:prstGeom>
          <a:noFill/>
        </p:spPr>
        <p:txBody>
          <a:bodyPr wrap="square">
            <a:spAutoFit/>
          </a:bodyPr>
          <a:lstStyle/>
          <a:p>
            <a:pPr algn="l">
              <a:defRPr sz="1100" b="0">
                <a:solidFill>
                  <a:srgbClr val="FF8C00"/>
                </a:solidFill>
                <a:latin typeface="Calibri"/>
              </a:defRPr>
            </a:pPr>
            <a:r>
              <a:t>file, class, type, cbo, wmc, dit, noc, rfc, lcom, tcc, totalMethodsQty, publicMethodsQty, privateFieldsQty, abstractMethodsQty, loc, ...</a:t>
            </a:r>
          </a:p>
        </p:txBody>
      </p:sp>
      <p:sp>
        <p:nvSpPr>
          <p:cNvPr id="18" name="Rectangle 17"/>
          <p:cNvSpPr/>
          <p:nvPr/>
        </p:nvSpPr>
        <p:spPr>
          <a:xfrm>
            <a:off x="457200" y="5532120"/>
            <a:ext cx="11247120" cy="365760"/>
          </a:xfrm>
          <a:prstGeom prst="rect">
            <a:avLst/>
          </a:prstGeom>
          <a:solidFill>
            <a:srgbClr val="3D3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550408"/>
            <a:ext cx="11064240" cy="320040"/>
          </a:xfrm>
          <a:prstGeom prst="rect">
            <a:avLst/>
          </a:prstGeom>
          <a:noFill/>
        </p:spPr>
        <p:txBody>
          <a:bodyPr wrap="square">
            <a:spAutoFit/>
          </a:bodyPr>
          <a:lstStyle/>
          <a:p>
            <a:pPr algn="l">
              <a:defRPr sz="1100" b="0">
                <a:solidFill>
                  <a:srgbClr val="FFFFFF"/>
                </a:solidFill>
                <a:latin typeface="Calibri"/>
              </a:defRPr>
            </a:pPr>
            <a:r>
              <a:t>DiscoveryNodeFilterer.java, ...DiscoveryNodeFilterer, class, cbo=15, wmc=42, dit=2, noc=0, rfc=28, lcom=8, tcc=0.3, ..., loc=156</a:t>
            </a:r>
          </a:p>
        </p:txBody>
      </p:sp>
      <p:sp>
        <p:nvSpPr>
          <p:cNvPr id="20" name="Rectangle 19"/>
          <p:cNvSpPr/>
          <p:nvPr/>
        </p:nvSpPr>
        <p:spPr>
          <a:xfrm>
            <a:off x="457200" y="5989320"/>
            <a:ext cx="2148840" cy="64008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989320"/>
            <a:ext cx="2057400" cy="274320"/>
          </a:xfrm>
          <a:prstGeom prst="rect">
            <a:avLst/>
          </a:prstGeom>
          <a:noFill/>
        </p:spPr>
        <p:txBody>
          <a:bodyPr wrap="square">
            <a:spAutoFit/>
          </a:bodyPr>
          <a:lstStyle/>
          <a:p>
            <a:pPr algn="l">
              <a:defRPr sz="1200" b="1">
                <a:solidFill>
                  <a:srgbClr val="FFFFFF"/>
                </a:solidFill>
                <a:latin typeface="Calibri"/>
              </a:defRPr>
            </a:pPr>
            <a:r>
              <a:t>cbo=15</a:t>
            </a:r>
          </a:p>
        </p:txBody>
      </p:sp>
      <p:sp>
        <p:nvSpPr>
          <p:cNvPr id="22" name="TextBox 21"/>
          <p:cNvSpPr txBox="1"/>
          <p:nvPr/>
        </p:nvSpPr>
        <p:spPr>
          <a:xfrm>
            <a:off x="502920" y="6236208"/>
            <a:ext cx="2057400" cy="274320"/>
          </a:xfrm>
          <a:prstGeom prst="rect">
            <a:avLst/>
          </a:prstGeom>
          <a:noFill/>
        </p:spPr>
        <p:txBody>
          <a:bodyPr wrap="square">
            <a:spAutoFit/>
          </a:bodyPr>
          <a:lstStyle/>
          <a:p>
            <a:pPr algn="l">
              <a:defRPr sz="1100" b="0">
                <a:solidFill>
                  <a:srgbClr val="FFFFFF"/>
                </a:solidFill>
                <a:latin typeface="Calibri"/>
              </a:defRPr>
            </a:pPr>
            <a:r>
              <a:t>15 sinifa bagli</a:t>
            </a:r>
          </a:p>
        </p:txBody>
      </p:sp>
      <p:sp>
        <p:nvSpPr>
          <p:cNvPr id="23" name="Rectangle 22"/>
          <p:cNvSpPr/>
          <p:nvPr/>
        </p:nvSpPr>
        <p:spPr>
          <a:xfrm>
            <a:off x="2743200" y="5989320"/>
            <a:ext cx="2148840" cy="6400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88920" y="5989320"/>
            <a:ext cx="2057400" cy="274320"/>
          </a:xfrm>
          <a:prstGeom prst="rect">
            <a:avLst/>
          </a:prstGeom>
          <a:noFill/>
        </p:spPr>
        <p:txBody>
          <a:bodyPr wrap="square">
            <a:spAutoFit/>
          </a:bodyPr>
          <a:lstStyle/>
          <a:p>
            <a:pPr algn="l">
              <a:defRPr sz="1200" b="1">
                <a:solidFill>
                  <a:srgbClr val="FFFFFF"/>
                </a:solidFill>
                <a:latin typeface="Calibri"/>
              </a:defRPr>
            </a:pPr>
            <a:r>
              <a:t>wmc=42</a:t>
            </a:r>
          </a:p>
        </p:txBody>
      </p:sp>
      <p:sp>
        <p:nvSpPr>
          <p:cNvPr id="25" name="TextBox 24"/>
          <p:cNvSpPr txBox="1"/>
          <p:nvPr/>
        </p:nvSpPr>
        <p:spPr>
          <a:xfrm>
            <a:off x="2788920" y="6236208"/>
            <a:ext cx="2057400" cy="274320"/>
          </a:xfrm>
          <a:prstGeom prst="rect">
            <a:avLst/>
          </a:prstGeom>
          <a:noFill/>
        </p:spPr>
        <p:txBody>
          <a:bodyPr wrap="square">
            <a:spAutoFit/>
          </a:bodyPr>
          <a:lstStyle/>
          <a:p>
            <a:pPr algn="l">
              <a:defRPr sz="1100" b="0">
                <a:solidFill>
                  <a:srgbClr val="FFFFFF"/>
                </a:solidFill>
                <a:latin typeface="Calibri"/>
              </a:defRPr>
            </a:pPr>
            <a:r>
              <a:t>42 karmasiklik</a:t>
            </a:r>
          </a:p>
        </p:txBody>
      </p:sp>
      <p:sp>
        <p:nvSpPr>
          <p:cNvPr id="26" name="Rectangle 25"/>
          <p:cNvSpPr/>
          <p:nvPr/>
        </p:nvSpPr>
        <p:spPr>
          <a:xfrm>
            <a:off x="5029200" y="5989320"/>
            <a:ext cx="2148840" cy="6400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74920" y="5989320"/>
            <a:ext cx="2057400" cy="274320"/>
          </a:xfrm>
          <a:prstGeom prst="rect">
            <a:avLst/>
          </a:prstGeom>
          <a:noFill/>
        </p:spPr>
        <p:txBody>
          <a:bodyPr wrap="square">
            <a:spAutoFit/>
          </a:bodyPr>
          <a:lstStyle/>
          <a:p>
            <a:pPr algn="l">
              <a:defRPr sz="1200" b="1">
                <a:solidFill>
                  <a:srgbClr val="FFFFFF"/>
                </a:solidFill>
                <a:latin typeface="Calibri"/>
              </a:defRPr>
            </a:pPr>
            <a:r>
              <a:t>lcom=8</a:t>
            </a:r>
          </a:p>
        </p:txBody>
      </p:sp>
      <p:sp>
        <p:nvSpPr>
          <p:cNvPr id="28" name="TextBox 27"/>
          <p:cNvSpPr txBox="1"/>
          <p:nvPr/>
        </p:nvSpPr>
        <p:spPr>
          <a:xfrm>
            <a:off x="5074920" y="6236208"/>
            <a:ext cx="2057400" cy="274320"/>
          </a:xfrm>
          <a:prstGeom prst="rect">
            <a:avLst/>
          </a:prstGeom>
          <a:noFill/>
        </p:spPr>
        <p:txBody>
          <a:bodyPr wrap="square">
            <a:spAutoFit/>
          </a:bodyPr>
          <a:lstStyle/>
          <a:p>
            <a:pPr algn="l">
              <a:defRPr sz="1100" b="0">
                <a:solidFill>
                  <a:srgbClr val="FFFFFF"/>
                </a:solidFill>
                <a:latin typeface="Calibri"/>
              </a:defRPr>
            </a:pPr>
            <a:r>
              <a:t>Dusuk kohezyon</a:t>
            </a:r>
          </a:p>
        </p:txBody>
      </p:sp>
      <p:sp>
        <p:nvSpPr>
          <p:cNvPr id="29" name="Rectangle 28"/>
          <p:cNvSpPr/>
          <p:nvPr/>
        </p:nvSpPr>
        <p:spPr>
          <a:xfrm>
            <a:off x="7315200" y="5989320"/>
            <a:ext cx="2148840" cy="64008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0920" y="5989320"/>
            <a:ext cx="2057400" cy="274320"/>
          </a:xfrm>
          <a:prstGeom prst="rect">
            <a:avLst/>
          </a:prstGeom>
          <a:noFill/>
        </p:spPr>
        <p:txBody>
          <a:bodyPr wrap="square">
            <a:spAutoFit/>
          </a:bodyPr>
          <a:lstStyle/>
          <a:p>
            <a:pPr algn="l">
              <a:defRPr sz="1200" b="1">
                <a:solidFill>
                  <a:srgbClr val="FFFFFF"/>
                </a:solidFill>
                <a:latin typeface="Calibri"/>
              </a:defRPr>
            </a:pPr>
            <a:r>
              <a:t>privateFieldsQty=6</a:t>
            </a:r>
          </a:p>
        </p:txBody>
      </p:sp>
      <p:sp>
        <p:nvSpPr>
          <p:cNvPr id="31" name="TextBox 30"/>
          <p:cNvSpPr txBox="1"/>
          <p:nvPr/>
        </p:nvSpPr>
        <p:spPr>
          <a:xfrm>
            <a:off x="7360920" y="6236208"/>
            <a:ext cx="2057400" cy="274320"/>
          </a:xfrm>
          <a:prstGeom prst="rect">
            <a:avLst/>
          </a:prstGeom>
          <a:noFill/>
        </p:spPr>
        <p:txBody>
          <a:bodyPr wrap="square">
            <a:spAutoFit/>
          </a:bodyPr>
          <a:lstStyle/>
          <a:p>
            <a:pPr algn="l">
              <a:defRPr sz="1100" b="0">
                <a:solidFill>
                  <a:srgbClr val="FFFFFF"/>
                </a:solidFill>
                <a:latin typeface="Calibri"/>
              </a:defRPr>
            </a:pPr>
            <a:r>
              <a:t>6 private alan -&gt; DAM</a:t>
            </a:r>
          </a:p>
        </p:txBody>
      </p:sp>
      <p:sp>
        <p:nvSpPr>
          <p:cNvPr id="32" name="Rectangle 31"/>
          <p:cNvSpPr/>
          <p:nvPr/>
        </p:nvSpPr>
        <p:spPr>
          <a:xfrm>
            <a:off x="9601200" y="5989320"/>
            <a:ext cx="2148840"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46920" y="5989320"/>
            <a:ext cx="2057400" cy="274320"/>
          </a:xfrm>
          <a:prstGeom prst="rect">
            <a:avLst/>
          </a:prstGeom>
          <a:noFill/>
        </p:spPr>
        <p:txBody>
          <a:bodyPr wrap="square">
            <a:spAutoFit/>
          </a:bodyPr>
          <a:lstStyle/>
          <a:p>
            <a:pPr algn="l">
              <a:defRPr sz="1200" b="1">
                <a:solidFill>
                  <a:srgbClr val="FFFFFF"/>
                </a:solidFill>
                <a:latin typeface="Calibri"/>
              </a:defRPr>
            </a:pPr>
            <a:r>
              <a:t>tcc=0.3</a:t>
            </a:r>
          </a:p>
        </p:txBody>
      </p:sp>
      <p:sp>
        <p:nvSpPr>
          <p:cNvPr id="34" name="TextBox 33"/>
          <p:cNvSpPr txBox="1"/>
          <p:nvPr/>
        </p:nvSpPr>
        <p:spPr>
          <a:xfrm>
            <a:off x="9646920" y="6236208"/>
            <a:ext cx="2057400" cy="274320"/>
          </a:xfrm>
          <a:prstGeom prst="rect">
            <a:avLst/>
          </a:prstGeom>
          <a:noFill/>
        </p:spPr>
        <p:txBody>
          <a:bodyPr wrap="square">
            <a:spAutoFit/>
          </a:bodyPr>
          <a:lstStyle/>
          <a:p>
            <a:pPr algn="l">
              <a:defRPr sz="1100" b="0">
                <a:solidFill>
                  <a:srgbClr val="FFFFFF"/>
                </a:solidFill>
                <a:latin typeface="Calibri"/>
              </a:defRPr>
            </a:pPr>
            <a:r>
              <a:t>Sinif ici tutarlilik -&gt; CAM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3000" b="1">
                <a:solidFill>
                  <a:srgbClr val="FFFFFF"/>
                </a:solidFill>
                <a:latin typeface="Calibri"/>
              </a:defRPr>
            </a:pPr>
            <a:r>
              <a:t>QMOOD Kalite Nitelikleri Evrimi</a:t>
            </a:r>
          </a:p>
        </p:txBody>
      </p:sp>
      <p:pic>
        <p:nvPicPr>
          <p:cNvPr id="4" name="Picture 3" descr="quality_attributes_evolution.png"/>
          <p:cNvPicPr>
            <a:picLocks noChangeAspect="1"/>
          </p:cNvPicPr>
          <p:nvPr/>
        </p:nvPicPr>
        <p:blipFill>
          <a:blip r:embed="rId2"/>
          <a:stretch>
            <a:fillRect/>
          </a:stretch>
        </p:blipFill>
        <p:spPr>
          <a:xfrm>
            <a:off x="274320" y="1188720"/>
            <a:ext cx="7132320" cy="5303520"/>
          </a:xfrm>
          <a:prstGeom prst="rect">
            <a:avLst/>
          </a:prstGeom>
        </p:spPr>
      </p:pic>
      <p:sp>
        <p:nvSpPr>
          <p:cNvPr id="5" name="Rectangle 4"/>
          <p:cNvSpPr/>
          <p:nvPr/>
        </p:nvSpPr>
        <p:spPr>
          <a:xfrm>
            <a:off x="7589520" y="1188720"/>
            <a:ext cx="429768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280160"/>
            <a:ext cx="3931920" cy="365760"/>
          </a:xfrm>
          <a:prstGeom prst="rect">
            <a:avLst/>
          </a:prstGeom>
          <a:noFill/>
        </p:spPr>
        <p:txBody>
          <a:bodyPr wrap="square">
            <a:spAutoFit/>
          </a:bodyPr>
          <a:lstStyle/>
          <a:p>
            <a:pPr algn="l">
              <a:defRPr sz="1800" b="1">
                <a:solidFill>
                  <a:srgbClr val="00528A"/>
                </a:solidFill>
                <a:latin typeface="Calibri"/>
              </a:defRPr>
            </a:pPr>
            <a:r>
              <a:t>Temel Bulgular</a:t>
            </a:r>
          </a:p>
        </p:txBody>
      </p:sp>
      <p:sp>
        <p:nvSpPr>
          <p:cNvPr id="7" name="Rectangle 6"/>
          <p:cNvSpPr/>
          <p:nvPr/>
        </p:nvSpPr>
        <p:spPr>
          <a:xfrm>
            <a:off x="7680960" y="1737360"/>
            <a:ext cx="137160" cy="50292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1737360"/>
            <a:ext cx="3657600" cy="228600"/>
          </a:xfrm>
          <a:prstGeom prst="rect">
            <a:avLst/>
          </a:prstGeom>
          <a:noFill/>
        </p:spPr>
        <p:txBody>
          <a:bodyPr wrap="square">
            <a:spAutoFit/>
          </a:bodyPr>
          <a:lstStyle/>
          <a:p>
            <a:pPr algn="l">
              <a:defRPr sz="1300" b="1">
                <a:solidFill>
                  <a:srgbClr val="0096D6"/>
                </a:solidFill>
                <a:latin typeface="Calibri"/>
              </a:defRPr>
            </a:pPr>
            <a:r>
              <a:t>Reusability</a:t>
            </a:r>
          </a:p>
        </p:txBody>
      </p:sp>
      <p:sp>
        <p:nvSpPr>
          <p:cNvPr id="9" name="TextBox 8"/>
          <p:cNvSpPr txBox="1"/>
          <p:nvPr/>
        </p:nvSpPr>
        <p:spPr>
          <a:xfrm>
            <a:off x="7955279" y="1938528"/>
            <a:ext cx="3657600" cy="320040"/>
          </a:xfrm>
          <a:prstGeom prst="rect">
            <a:avLst/>
          </a:prstGeom>
          <a:noFill/>
        </p:spPr>
        <p:txBody>
          <a:bodyPr wrap="square">
            <a:spAutoFit/>
          </a:bodyPr>
          <a:lstStyle/>
          <a:p>
            <a:pPr algn="l">
              <a:defRPr sz="1100" b="0">
                <a:solidFill>
                  <a:srgbClr val="333333"/>
                </a:solidFill>
                <a:latin typeface="Calibri"/>
              </a:defRPr>
            </a:pPr>
            <a:r>
              <a:t>4.147 -&gt; 4.093 (%1.3 dusus)</a:t>
            </a:r>
          </a:p>
        </p:txBody>
      </p:sp>
      <p:sp>
        <p:nvSpPr>
          <p:cNvPr id="10" name="Rectangle 9"/>
          <p:cNvSpPr/>
          <p:nvPr/>
        </p:nvSpPr>
        <p:spPr>
          <a:xfrm>
            <a:off x="7680960" y="2304288"/>
            <a:ext cx="137160" cy="5029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79" y="2304288"/>
            <a:ext cx="3657600" cy="228600"/>
          </a:xfrm>
          <a:prstGeom prst="rect">
            <a:avLst/>
          </a:prstGeom>
          <a:noFill/>
        </p:spPr>
        <p:txBody>
          <a:bodyPr wrap="square">
            <a:spAutoFit/>
          </a:bodyPr>
          <a:lstStyle/>
          <a:p>
            <a:pPr algn="l">
              <a:defRPr sz="1300" b="1">
                <a:solidFill>
                  <a:srgbClr val="E74C3C"/>
                </a:solidFill>
                <a:latin typeface="Calibri"/>
              </a:defRPr>
            </a:pPr>
            <a:r>
              <a:t>Flexibility</a:t>
            </a:r>
          </a:p>
        </p:txBody>
      </p:sp>
      <p:sp>
        <p:nvSpPr>
          <p:cNvPr id="12" name="TextBox 11"/>
          <p:cNvSpPr txBox="1"/>
          <p:nvPr/>
        </p:nvSpPr>
        <p:spPr>
          <a:xfrm>
            <a:off x="7955279" y="2505456"/>
            <a:ext cx="3657600" cy="320040"/>
          </a:xfrm>
          <a:prstGeom prst="rect">
            <a:avLst/>
          </a:prstGeom>
          <a:noFill/>
        </p:spPr>
        <p:txBody>
          <a:bodyPr wrap="square">
            <a:spAutoFit/>
          </a:bodyPr>
          <a:lstStyle/>
          <a:p>
            <a:pPr algn="l">
              <a:defRPr sz="1100" b="0">
                <a:solidFill>
                  <a:srgbClr val="333333"/>
                </a:solidFill>
                <a:latin typeface="Calibri"/>
              </a:defRPr>
            </a:pPr>
            <a:r>
              <a:t>0.040 -&gt; -0.617 (Pozitiften negatife!)</a:t>
            </a:r>
          </a:p>
        </p:txBody>
      </p:sp>
      <p:sp>
        <p:nvSpPr>
          <p:cNvPr id="13" name="Rectangle 12"/>
          <p:cNvSpPr/>
          <p:nvPr/>
        </p:nvSpPr>
        <p:spPr>
          <a:xfrm>
            <a:off x="7680960" y="2871216"/>
            <a:ext cx="137160" cy="5029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2871216"/>
            <a:ext cx="3657600" cy="228600"/>
          </a:xfrm>
          <a:prstGeom prst="rect">
            <a:avLst/>
          </a:prstGeom>
          <a:noFill/>
        </p:spPr>
        <p:txBody>
          <a:bodyPr wrap="square">
            <a:spAutoFit/>
          </a:bodyPr>
          <a:lstStyle/>
          <a:p>
            <a:pPr algn="l">
              <a:defRPr sz="1300" b="1">
                <a:solidFill>
                  <a:srgbClr val="FF8C00"/>
                </a:solidFill>
                <a:latin typeface="Calibri"/>
              </a:defRPr>
            </a:pPr>
            <a:r>
              <a:t>Understandability</a:t>
            </a:r>
          </a:p>
        </p:txBody>
      </p:sp>
      <p:sp>
        <p:nvSpPr>
          <p:cNvPr id="15" name="TextBox 14"/>
          <p:cNvSpPr txBox="1"/>
          <p:nvPr/>
        </p:nvSpPr>
        <p:spPr>
          <a:xfrm>
            <a:off x="7955279" y="3072384"/>
            <a:ext cx="3657600" cy="320040"/>
          </a:xfrm>
          <a:prstGeom prst="rect">
            <a:avLst/>
          </a:prstGeom>
          <a:noFill/>
        </p:spPr>
        <p:txBody>
          <a:bodyPr wrap="square">
            <a:spAutoFit/>
          </a:bodyPr>
          <a:lstStyle/>
          <a:p>
            <a:pPr algn="l">
              <a:defRPr sz="1100" b="0">
                <a:solidFill>
                  <a:srgbClr val="333333"/>
                </a:solidFill>
                <a:latin typeface="Calibri"/>
              </a:defRPr>
            </a:pPr>
            <a:r>
              <a:t>Tum surumlerde negatif</a:t>
            </a:r>
            <a:br/>
            <a:r>
              <a:t>v2.16'da paradoksal iyilesme</a:t>
            </a:r>
          </a:p>
        </p:txBody>
      </p:sp>
      <p:sp>
        <p:nvSpPr>
          <p:cNvPr id="16" name="Rectangle 15"/>
          <p:cNvSpPr/>
          <p:nvPr/>
        </p:nvSpPr>
        <p:spPr>
          <a:xfrm>
            <a:off x="7680960" y="3438144"/>
            <a:ext cx="137160" cy="5029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79" y="3438144"/>
            <a:ext cx="3657600" cy="228600"/>
          </a:xfrm>
          <a:prstGeom prst="rect">
            <a:avLst/>
          </a:prstGeom>
          <a:noFill/>
        </p:spPr>
        <p:txBody>
          <a:bodyPr wrap="square">
            <a:spAutoFit/>
          </a:bodyPr>
          <a:lstStyle/>
          <a:p>
            <a:pPr algn="l">
              <a:defRPr sz="1300" b="1">
                <a:solidFill>
                  <a:srgbClr val="2ECC71"/>
                </a:solidFill>
                <a:latin typeface="Calibri"/>
              </a:defRPr>
            </a:pPr>
            <a:r>
              <a:t>Functionality</a:t>
            </a:r>
          </a:p>
        </p:txBody>
      </p:sp>
      <p:sp>
        <p:nvSpPr>
          <p:cNvPr id="18" name="TextBox 17"/>
          <p:cNvSpPr txBox="1"/>
          <p:nvPr/>
        </p:nvSpPr>
        <p:spPr>
          <a:xfrm>
            <a:off x="7955279" y="3639312"/>
            <a:ext cx="3657600" cy="320040"/>
          </a:xfrm>
          <a:prstGeom prst="rect">
            <a:avLst/>
          </a:prstGeom>
          <a:noFill/>
        </p:spPr>
        <p:txBody>
          <a:bodyPr wrap="square">
            <a:spAutoFit/>
          </a:bodyPr>
          <a:lstStyle/>
          <a:p>
            <a:pPr algn="l">
              <a:defRPr sz="1100" b="0">
                <a:solidFill>
                  <a:srgbClr val="333333"/>
                </a:solidFill>
                <a:latin typeface="Calibri"/>
              </a:defRPr>
            </a:pPr>
            <a:r>
              <a:t>En stabil: 2.988-3.222</a:t>
            </a:r>
          </a:p>
        </p:txBody>
      </p:sp>
      <p:sp>
        <p:nvSpPr>
          <p:cNvPr id="19" name="Rectangle 18"/>
          <p:cNvSpPr/>
          <p:nvPr/>
        </p:nvSpPr>
        <p:spPr>
          <a:xfrm>
            <a:off x="7680960" y="4005072"/>
            <a:ext cx="137160" cy="5029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79" y="4005072"/>
            <a:ext cx="3657600" cy="228600"/>
          </a:xfrm>
          <a:prstGeom prst="rect">
            <a:avLst/>
          </a:prstGeom>
          <a:noFill/>
        </p:spPr>
        <p:txBody>
          <a:bodyPr wrap="square">
            <a:spAutoFit/>
          </a:bodyPr>
          <a:lstStyle/>
          <a:p>
            <a:pPr algn="l">
              <a:defRPr sz="1300" b="1">
                <a:solidFill>
                  <a:srgbClr val="E74C3C"/>
                </a:solidFill>
                <a:latin typeface="Calibri"/>
              </a:defRPr>
            </a:pPr>
            <a:r>
              <a:t>Extendibility</a:t>
            </a:r>
          </a:p>
        </p:txBody>
      </p:sp>
      <p:sp>
        <p:nvSpPr>
          <p:cNvPr id="21" name="TextBox 20"/>
          <p:cNvSpPr txBox="1"/>
          <p:nvPr/>
        </p:nvSpPr>
        <p:spPr>
          <a:xfrm>
            <a:off x="7955279" y="4206240"/>
            <a:ext cx="3657600" cy="320040"/>
          </a:xfrm>
          <a:prstGeom prst="rect">
            <a:avLst/>
          </a:prstGeom>
          <a:noFill/>
        </p:spPr>
        <p:txBody>
          <a:bodyPr wrap="square">
            <a:spAutoFit/>
          </a:bodyPr>
          <a:lstStyle/>
          <a:p>
            <a:pPr algn="l">
              <a:defRPr sz="1100" b="0">
                <a:solidFill>
                  <a:srgbClr val="333333"/>
                </a:solidFill>
                <a:latin typeface="Calibri"/>
              </a:defRPr>
            </a:pPr>
            <a:r>
              <a:t>-3.286 -&gt; -4.159 (%26.6 dusus)</a:t>
            </a:r>
            <a:br/>
            <a:r>
              <a:t>EN KRITIK SORUN</a:t>
            </a:r>
          </a:p>
        </p:txBody>
      </p:sp>
      <p:sp>
        <p:nvSpPr>
          <p:cNvPr id="22" name="Rectangle 21"/>
          <p:cNvSpPr/>
          <p:nvPr/>
        </p:nvSpPr>
        <p:spPr>
          <a:xfrm>
            <a:off x="7680960" y="4572000"/>
            <a:ext cx="137160" cy="5029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79" y="4572000"/>
            <a:ext cx="3657600" cy="228600"/>
          </a:xfrm>
          <a:prstGeom prst="rect">
            <a:avLst/>
          </a:prstGeom>
          <a:noFill/>
        </p:spPr>
        <p:txBody>
          <a:bodyPr wrap="square">
            <a:spAutoFit/>
          </a:bodyPr>
          <a:lstStyle/>
          <a:p>
            <a:pPr algn="l">
              <a:defRPr sz="1300" b="1">
                <a:solidFill>
                  <a:srgbClr val="2ECC71"/>
                </a:solidFill>
                <a:latin typeface="Calibri"/>
              </a:defRPr>
            </a:pPr>
            <a:r>
              <a:t>Effectiveness</a:t>
            </a:r>
          </a:p>
        </p:txBody>
      </p:sp>
      <p:sp>
        <p:nvSpPr>
          <p:cNvPr id="24" name="TextBox 23"/>
          <p:cNvSpPr txBox="1"/>
          <p:nvPr/>
        </p:nvSpPr>
        <p:spPr>
          <a:xfrm>
            <a:off x="7955279" y="4773168"/>
            <a:ext cx="3657600" cy="320040"/>
          </a:xfrm>
          <a:prstGeom prst="rect">
            <a:avLst/>
          </a:prstGeom>
          <a:noFill/>
        </p:spPr>
        <p:txBody>
          <a:bodyPr wrap="square">
            <a:spAutoFit/>
          </a:bodyPr>
          <a:lstStyle/>
          <a:p>
            <a:pPr algn="l">
              <a:defRPr sz="1100" b="0">
                <a:solidFill>
                  <a:srgbClr val="333333"/>
                </a:solidFill>
                <a:latin typeface="Calibri"/>
              </a:defRPr>
            </a:pPr>
            <a:r>
              <a:t>Nispeten stabil: 1.047-1.190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3000" b="1">
                <a:solidFill>
                  <a:srgbClr val="FFFFFF"/>
                </a:solidFill>
                <a:latin typeface="Calibri"/>
              </a:defRPr>
            </a:pPr>
            <a:r>
              <a:t>Mimari Bozulma Analizi ve Teknik Borc</a:t>
            </a:r>
          </a:p>
        </p:txBody>
      </p:sp>
      <p:pic>
        <p:nvPicPr>
          <p:cNvPr id="4" name="Picture 3" descr="coupling_vs_cohesion.png"/>
          <p:cNvPicPr>
            <a:picLocks noChangeAspect="1"/>
          </p:cNvPicPr>
          <p:nvPr/>
        </p:nvPicPr>
        <p:blipFill>
          <a:blip r:embed="rId2"/>
          <a:stretch>
            <a:fillRect/>
          </a:stretch>
        </p:blipFill>
        <p:spPr>
          <a:xfrm>
            <a:off x="274320" y="1188720"/>
            <a:ext cx="5303520" cy="4114800"/>
          </a:xfrm>
          <a:prstGeom prst="rect">
            <a:avLst/>
          </a:prstGeom>
        </p:spPr>
      </p:pic>
      <p:pic>
        <p:nvPicPr>
          <p:cNvPr id="5" name="Picture 4" descr="quality_radar_comparison.png"/>
          <p:cNvPicPr>
            <a:picLocks noChangeAspect="1"/>
          </p:cNvPicPr>
          <p:nvPr/>
        </p:nvPicPr>
        <p:blipFill>
          <a:blip r:embed="rId3"/>
          <a:stretch>
            <a:fillRect/>
          </a:stretch>
        </p:blipFill>
        <p:spPr>
          <a:xfrm>
            <a:off x="5760720" y="1188720"/>
            <a:ext cx="4114800" cy="4114800"/>
          </a:xfrm>
          <a:prstGeom prst="rect">
            <a:avLst/>
          </a:prstGeom>
        </p:spPr>
      </p:pic>
      <p:sp>
        <p:nvSpPr>
          <p:cNvPr id="6" name="Rectangle 5"/>
          <p:cNvSpPr/>
          <p:nvPr/>
        </p:nvSpPr>
        <p:spPr>
          <a:xfrm>
            <a:off x="274320" y="5486400"/>
            <a:ext cx="11612880" cy="109728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5532120"/>
            <a:ext cx="2743200" cy="274320"/>
          </a:xfrm>
          <a:prstGeom prst="rect">
            <a:avLst/>
          </a:prstGeom>
          <a:noFill/>
        </p:spPr>
        <p:txBody>
          <a:bodyPr wrap="square">
            <a:spAutoFit/>
          </a:bodyPr>
          <a:lstStyle/>
          <a:p>
            <a:pPr algn="l">
              <a:defRPr sz="1500" b="1">
                <a:solidFill>
                  <a:srgbClr val="FF8C00"/>
                </a:solidFill>
                <a:latin typeface="Calibri"/>
              </a:defRPr>
            </a:pPr>
            <a:r>
              <a:t>Teknik Borc Gostergeleri:</a:t>
            </a:r>
          </a:p>
        </p:txBody>
      </p:sp>
      <p:sp>
        <p:nvSpPr>
          <p:cNvPr id="8" name="TextBox 7"/>
          <p:cNvSpPr txBox="1"/>
          <p:nvPr/>
        </p:nvSpPr>
        <p:spPr>
          <a:xfrm>
            <a:off x="457200" y="5852160"/>
            <a:ext cx="2743200" cy="457200"/>
          </a:xfrm>
          <a:prstGeom prst="rect">
            <a:avLst/>
          </a:prstGeom>
          <a:noFill/>
        </p:spPr>
        <p:txBody>
          <a:bodyPr wrap="square">
            <a:spAutoFit/>
          </a:bodyPr>
          <a:lstStyle/>
          <a:p>
            <a:pPr algn="l">
              <a:defRPr sz="1200" b="0">
                <a:solidFill>
                  <a:srgbClr val="333333"/>
                </a:solidFill>
                <a:latin typeface="Calibri"/>
              </a:defRPr>
            </a:pPr>
            <a:r>
              <a:t>  LCOM ort. 18-27: SRP ihlalleri</a:t>
            </a:r>
          </a:p>
        </p:txBody>
      </p:sp>
      <p:sp>
        <p:nvSpPr>
          <p:cNvPr id="9" name="TextBox 8"/>
          <p:cNvSpPr txBox="1"/>
          <p:nvPr/>
        </p:nvSpPr>
        <p:spPr>
          <a:xfrm>
            <a:off x="3383280" y="5852160"/>
            <a:ext cx="2743200" cy="457200"/>
          </a:xfrm>
          <a:prstGeom prst="rect">
            <a:avLst/>
          </a:prstGeom>
          <a:noFill/>
        </p:spPr>
        <p:txBody>
          <a:bodyPr wrap="square">
            <a:spAutoFit/>
          </a:bodyPr>
          <a:lstStyle/>
          <a:p>
            <a:pPr algn="l">
              <a:defRPr sz="1200" b="1">
                <a:solidFill>
                  <a:srgbClr val="E74C3C"/>
                </a:solidFill>
                <a:latin typeface="Calibri"/>
              </a:defRPr>
            </a:pPr>
            <a:r>
              <a:t>  Max CBO = 217: God Class</a:t>
            </a:r>
          </a:p>
        </p:txBody>
      </p:sp>
      <p:sp>
        <p:nvSpPr>
          <p:cNvPr id="10" name="TextBox 9"/>
          <p:cNvSpPr txBox="1"/>
          <p:nvPr/>
        </p:nvSpPr>
        <p:spPr>
          <a:xfrm>
            <a:off x="6309360" y="5852160"/>
            <a:ext cx="2743200" cy="457200"/>
          </a:xfrm>
          <a:prstGeom prst="rect">
            <a:avLst/>
          </a:prstGeom>
          <a:noFill/>
        </p:spPr>
        <p:txBody>
          <a:bodyPr wrap="square">
            <a:spAutoFit/>
          </a:bodyPr>
          <a:lstStyle/>
          <a:p>
            <a:pPr algn="l">
              <a:defRPr sz="1200" b="1">
                <a:solidFill>
                  <a:srgbClr val="E74C3C"/>
                </a:solidFill>
                <a:latin typeface="Calibri"/>
              </a:defRPr>
            </a:pPr>
            <a:r>
              <a:t>  Max WMC = 318: Asiri karmasiklik</a:t>
            </a:r>
          </a:p>
        </p:txBody>
      </p:sp>
      <p:sp>
        <p:nvSpPr>
          <p:cNvPr id="11" name="TextBox 10"/>
          <p:cNvSpPr txBox="1"/>
          <p:nvPr/>
        </p:nvSpPr>
        <p:spPr>
          <a:xfrm>
            <a:off x="9235440" y="5852160"/>
            <a:ext cx="2743200" cy="457200"/>
          </a:xfrm>
          <a:prstGeom prst="rect">
            <a:avLst/>
          </a:prstGeom>
          <a:noFill/>
        </p:spPr>
        <p:txBody>
          <a:bodyPr wrap="square">
            <a:spAutoFit/>
          </a:bodyPr>
          <a:lstStyle/>
          <a:p>
            <a:pPr algn="l">
              <a:defRPr sz="1200" b="0">
                <a:solidFill>
                  <a:srgbClr val="333333"/>
                </a:solidFill>
                <a:latin typeface="Calibri"/>
              </a:defRPr>
            </a:pPr>
            <a:r>
              <a:t>  Max DIT = 7 (sabit): Kontrol altinda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3000" b="1">
                <a:solidFill>
                  <a:srgbClr val="FFFFFF"/>
                </a:solidFill>
                <a:latin typeface="Calibri"/>
              </a:defRPr>
            </a:pPr>
            <a:r>
              <a:t>LLM Degerlendirme Karsilastirmasi</a:t>
            </a:r>
          </a:p>
        </p:txBody>
      </p:sp>
      <p:sp>
        <p:nvSpPr>
          <p:cNvPr id="4" name="Rectangle 3"/>
          <p:cNvSpPr/>
          <p:nvPr/>
        </p:nvSpPr>
        <p:spPr>
          <a:xfrm>
            <a:off x="274320" y="1188720"/>
            <a:ext cx="3749039" cy="54864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34440"/>
            <a:ext cx="3566160" cy="457200"/>
          </a:xfrm>
          <a:prstGeom prst="rect">
            <a:avLst/>
          </a:prstGeom>
          <a:noFill/>
        </p:spPr>
        <p:txBody>
          <a:bodyPr wrap="square">
            <a:spAutoFit/>
          </a:bodyPr>
          <a:lstStyle/>
          <a:p>
            <a:pPr algn="ctr">
              <a:defRPr sz="1800" b="1">
                <a:solidFill>
                  <a:srgbClr val="FFFFFF"/>
                </a:solidFill>
                <a:latin typeface="Calibri"/>
              </a:defRPr>
            </a:pPr>
            <a:r>
              <a:t>ChatGPT (GPT-4)</a:t>
            </a:r>
          </a:p>
        </p:txBody>
      </p:sp>
      <p:sp>
        <p:nvSpPr>
          <p:cNvPr id="6" name="Rectangle 5"/>
          <p:cNvSpPr/>
          <p:nvPr/>
        </p:nvSpPr>
        <p:spPr>
          <a:xfrm>
            <a:off x="274320" y="1737360"/>
            <a:ext cx="3749039" cy="320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1828800"/>
            <a:ext cx="3474720" cy="3017520"/>
          </a:xfrm>
          <a:prstGeom prst="rect">
            <a:avLst/>
          </a:prstGeom>
          <a:noFill/>
        </p:spPr>
        <p:txBody>
          <a:bodyPr wrap="square">
            <a:spAutoFit/>
          </a:bodyPr>
          <a:lstStyle/>
          <a:p>
            <a:pPr>
              <a:spcAft>
                <a:spcPts val="400"/>
              </a:spcAft>
              <a:defRPr sz="1300">
                <a:solidFill>
                  <a:srgbClr val="333333"/>
                </a:solidFill>
                <a:latin typeface="Calibri"/>
              </a:defRPr>
            </a:pPr>
            <a:r>
              <a:t>Yaklasim: Dengeli, pratik</a:t>
            </a:r>
          </a:p>
          <a:p>
            <a:pPr>
              <a:spcAft>
                <a:spcPts val="400"/>
              </a:spcAft>
              <a:defRPr sz="1300">
                <a:solidFill>
                  <a:srgbClr val="333333"/>
                </a:solidFill>
                <a:latin typeface="Calibri"/>
              </a:defRPr>
            </a:pPr>
            <a:r>
              <a:t>v2.16: 'Borcun turu degismis'</a:t>
            </a:r>
          </a:p>
          <a:p>
            <a:pPr>
              <a:spcAft>
                <a:spcPts val="400"/>
              </a:spcAft>
              <a:defRPr sz="1300">
                <a:solidFill>
                  <a:srgbClr val="333333"/>
                </a:solidFill>
                <a:latin typeface="Calibri"/>
              </a:defRPr>
            </a:pPr>
            <a:r>
              <a:t>Teknik borc: Orta</a:t>
            </a:r>
          </a:p>
          <a:p>
            <a:pPr>
              <a:spcAft>
                <a:spcPts val="400"/>
              </a:spcAft>
              <a:defRPr sz="1300">
                <a:solidFill>
                  <a:srgbClr val="333333"/>
                </a:solidFill>
                <a:latin typeface="Calibri"/>
              </a:defRPr>
            </a:pPr>
            <a:r>
              <a:t>v3.0: 'Kararli durum'</a:t>
            </a:r>
          </a:p>
          <a:p>
            <a:pPr>
              <a:spcAft>
                <a:spcPts val="400"/>
              </a:spcAft>
              <a:defRPr sz="1300">
                <a:solidFill>
                  <a:srgbClr val="333333"/>
                </a:solidFill>
                <a:latin typeface="Calibri"/>
              </a:defRPr>
            </a:pPr>
            <a:r>
              <a:t>Oneri: DDD, Facade, Event-Driven</a:t>
            </a:r>
          </a:p>
          <a:p>
            <a:pPr>
              <a:spcAft>
                <a:spcPts val="400"/>
              </a:spcAft>
              <a:defRPr sz="1300">
                <a:solidFill>
                  <a:srgbClr val="333333"/>
                </a:solidFill>
                <a:latin typeface="Calibri"/>
              </a:defRPr>
            </a:pPr>
            <a:r>
              <a:t>Mimari tani: 'Iyi ayristirmis</a:t>
            </a:r>
          </a:p>
          <a:p>
            <a:pPr>
              <a:spcAft>
                <a:spcPts val="400"/>
              </a:spcAft>
              <a:defRPr sz="1300">
                <a:solidFill>
                  <a:srgbClr val="333333"/>
                </a:solidFill>
                <a:latin typeface="Calibri"/>
              </a:defRPr>
            </a:pPr>
            <a:r>
              <a:t>ama siki entegre'</a:t>
            </a:r>
          </a:p>
        </p:txBody>
      </p:sp>
      <p:sp>
        <p:nvSpPr>
          <p:cNvPr id="8" name="Rectangle 7"/>
          <p:cNvSpPr/>
          <p:nvPr/>
        </p:nvSpPr>
        <p:spPr>
          <a:xfrm>
            <a:off x="4251959" y="1188720"/>
            <a:ext cx="3749039" cy="5486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399" y="1234440"/>
            <a:ext cx="3566160" cy="457200"/>
          </a:xfrm>
          <a:prstGeom prst="rect">
            <a:avLst/>
          </a:prstGeom>
          <a:noFill/>
        </p:spPr>
        <p:txBody>
          <a:bodyPr wrap="square">
            <a:spAutoFit/>
          </a:bodyPr>
          <a:lstStyle/>
          <a:p>
            <a:pPr algn="ctr">
              <a:defRPr sz="1800" b="1">
                <a:solidFill>
                  <a:srgbClr val="FFFFFF"/>
                </a:solidFill>
                <a:latin typeface="Calibri"/>
              </a:defRPr>
            </a:pPr>
            <a:r>
              <a:t>Google Gemini</a:t>
            </a:r>
          </a:p>
        </p:txBody>
      </p:sp>
      <p:sp>
        <p:nvSpPr>
          <p:cNvPr id="10" name="Rectangle 9"/>
          <p:cNvSpPr/>
          <p:nvPr/>
        </p:nvSpPr>
        <p:spPr>
          <a:xfrm>
            <a:off x="4251959" y="1737360"/>
            <a:ext cx="3749039" cy="320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828800"/>
            <a:ext cx="3474720" cy="3017520"/>
          </a:xfrm>
          <a:prstGeom prst="rect">
            <a:avLst/>
          </a:prstGeom>
          <a:noFill/>
        </p:spPr>
        <p:txBody>
          <a:bodyPr wrap="square">
            <a:spAutoFit/>
          </a:bodyPr>
          <a:lstStyle/>
          <a:p>
            <a:pPr>
              <a:spcAft>
                <a:spcPts val="400"/>
              </a:spcAft>
              <a:defRPr sz="1300">
                <a:solidFill>
                  <a:srgbClr val="333333"/>
                </a:solidFill>
                <a:latin typeface="Calibri"/>
              </a:defRPr>
            </a:pPr>
            <a:r>
              <a:t>Yaklasim: Elestirel, risk odakli</a:t>
            </a:r>
          </a:p>
          <a:p>
            <a:pPr>
              <a:spcAft>
                <a:spcPts val="400"/>
              </a:spcAft>
              <a:defRPr sz="1300">
                <a:solidFill>
                  <a:srgbClr val="333333"/>
                </a:solidFill>
                <a:latin typeface="Calibri"/>
              </a:defRPr>
            </a:pPr>
            <a:r>
              <a:t>v2.16: 'Katilasmis (rigid)'</a:t>
            </a:r>
          </a:p>
          <a:p>
            <a:pPr>
              <a:spcAft>
                <a:spcPts val="400"/>
              </a:spcAft>
              <a:defRPr sz="1300">
                <a:solidFill>
                  <a:srgbClr val="333333"/>
                </a:solidFill>
                <a:latin typeface="Calibri"/>
              </a:defRPr>
            </a:pPr>
            <a:r>
              <a:t>Teknik borc: Yuksek</a:t>
            </a:r>
          </a:p>
          <a:p>
            <a:pPr>
              <a:spcAft>
                <a:spcPts val="400"/>
              </a:spcAft>
              <a:defRPr sz="1300">
                <a:solidFill>
                  <a:srgbClr val="333333"/>
                </a:solidFill>
                <a:latin typeface="Calibri"/>
              </a:defRPr>
            </a:pPr>
            <a:r>
              <a:t>v3.0: 'Inovasyon kaybi'</a:t>
            </a:r>
          </a:p>
          <a:p>
            <a:pPr>
              <a:spcAft>
                <a:spcPts val="400"/>
              </a:spcAft>
              <a:defRPr sz="1300">
                <a:solidFill>
                  <a:srgbClr val="333333"/>
                </a:solidFill>
                <a:latin typeface="Calibri"/>
              </a:defRPr>
            </a:pPr>
            <a:r>
              <a:t>Oneri: Hexagonal Architecture</a:t>
            </a:r>
          </a:p>
          <a:p>
            <a:pPr>
              <a:spcAft>
                <a:spcPts val="400"/>
              </a:spcAft>
              <a:defRPr sz="1300">
                <a:solidFill>
                  <a:srgbClr val="333333"/>
                </a:solidFill>
                <a:latin typeface="Calibri"/>
              </a:defRPr>
            </a:pPr>
            <a:r>
              <a:t>Mimari tani: 'Big Ball of Mud</a:t>
            </a:r>
          </a:p>
          <a:p>
            <a:pPr>
              <a:spcAft>
                <a:spcPts val="400"/>
              </a:spcAft>
              <a:defRPr sz="1300">
                <a:solidFill>
                  <a:srgbClr val="333333"/>
                </a:solidFill>
                <a:latin typeface="Calibri"/>
              </a:defRPr>
            </a:pPr>
            <a:r>
              <a:t>-&gt; Distributed Spaghetti'</a:t>
            </a:r>
          </a:p>
        </p:txBody>
      </p:sp>
      <p:sp>
        <p:nvSpPr>
          <p:cNvPr id="12" name="Rectangle 11"/>
          <p:cNvSpPr/>
          <p:nvPr/>
        </p:nvSpPr>
        <p:spPr>
          <a:xfrm>
            <a:off x="8229600" y="1188720"/>
            <a:ext cx="3749039" cy="54864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234440"/>
            <a:ext cx="3566160" cy="457200"/>
          </a:xfrm>
          <a:prstGeom prst="rect">
            <a:avLst/>
          </a:prstGeom>
          <a:noFill/>
        </p:spPr>
        <p:txBody>
          <a:bodyPr wrap="square">
            <a:spAutoFit/>
          </a:bodyPr>
          <a:lstStyle/>
          <a:p>
            <a:pPr algn="ctr">
              <a:defRPr sz="1800" b="1">
                <a:solidFill>
                  <a:srgbClr val="FFFFFF"/>
                </a:solidFill>
                <a:latin typeface="Calibri"/>
              </a:defRPr>
            </a:pPr>
            <a:r>
              <a:t>Claude (Anthropic)</a:t>
            </a:r>
          </a:p>
        </p:txBody>
      </p:sp>
      <p:sp>
        <p:nvSpPr>
          <p:cNvPr id="14" name="Rectangle 13"/>
          <p:cNvSpPr/>
          <p:nvPr/>
        </p:nvSpPr>
        <p:spPr>
          <a:xfrm>
            <a:off x="8229600" y="1737360"/>
            <a:ext cx="3749039" cy="320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1828800"/>
            <a:ext cx="3474720" cy="3017520"/>
          </a:xfrm>
          <a:prstGeom prst="rect">
            <a:avLst/>
          </a:prstGeom>
          <a:noFill/>
        </p:spPr>
        <p:txBody>
          <a:bodyPr wrap="square">
            <a:spAutoFit/>
          </a:bodyPr>
          <a:lstStyle/>
          <a:p>
            <a:pPr>
              <a:spcAft>
                <a:spcPts val="400"/>
              </a:spcAft>
              <a:defRPr sz="1300">
                <a:solidFill>
                  <a:srgbClr val="333333"/>
                </a:solidFill>
                <a:latin typeface="Calibri"/>
              </a:defRPr>
            </a:pPr>
            <a:r>
              <a:t>Yaklasim: Sistematik, nicel</a:t>
            </a:r>
          </a:p>
          <a:p>
            <a:pPr>
              <a:spcAft>
                <a:spcPts val="400"/>
              </a:spcAft>
              <a:defRPr sz="1300">
                <a:solidFill>
                  <a:srgbClr val="333333"/>
                </a:solidFill>
                <a:latin typeface="Calibri"/>
              </a:defRPr>
            </a:pPr>
            <a:r>
              <a:t>v2.16: 'Paradoksal iyilesme'</a:t>
            </a:r>
          </a:p>
          <a:p>
            <a:pPr>
              <a:spcAft>
                <a:spcPts val="400"/>
              </a:spcAft>
              <a:defRPr sz="1300">
                <a:solidFill>
                  <a:srgbClr val="333333"/>
                </a:solidFill>
                <a:latin typeface="Calibri"/>
              </a:defRPr>
            </a:pPr>
            <a:r>
              <a:t>Teknik borc: Orta-Yuksek</a:t>
            </a:r>
          </a:p>
          <a:p>
            <a:pPr>
              <a:spcAft>
                <a:spcPts val="400"/>
              </a:spcAft>
              <a:defRPr sz="1300">
                <a:solidFill>
                  <a:srgbClr val="333333"/>
                </a:solidFill>
                <a:latin typeface="Calibri"/>
              </a:defRPr>
            </a:pPr>
            <a:r>
              <a:t>v3.0: 'Donma noktasi'</a:t>
            </a:r>
          </a:p>
          <a:p>
            <a:pPr>
              <a:spcAft>
                <a:spcPts val="400"/>
              </a:spcAft>
              <a:defRPr sz="1300">
                <a:solidFill>
                  <a:srgbClr val="333333"/>
                </a:solidFill>
                <a:latin typeface="Calibri"/>
              </a:defRPr>
            </a:pPr>
            <a:r>
              <a:t>Oneri: SRP, Composition &gt; Inheritance</a:t>
            </a:r>
          </a:p>
          <a:p>
            <a:pPr>
              <a:spcAft>
                <a:spcPts val="400"/>
              </a:spcAft>
              <a:defRPr sz="1300">
                <a:solidFill>
                  <a:srgbClr val="333333"/>
                </a:solidFill>
                <a:latin typeface="Calibri"/>
              </a:defRPr>
            </a:pPr>
            <a:r>
              <a:t>Mimari tani: 'Organik buyume</a:t>
            </a:r>
          </a:p>
          <a:p>
            <a:pPr>
              <a:spcAft>
                <a:spcPts val="400"/>
              </a:spcAft>
              <a:defRPr sz="1300">
                <a:solidFill>
                  <a:srgbClr val="333333"/>
                </a:solidFill>
                <a:latin typeface="Calibri"/>
              </a:defRPr>
            </a:pPr>
            <a:r>
              <a:t>-&gt; yapisal donusum'</a:t>
            </a:r>
          </a:p>
        </p:txBody>
      </p:sp>
      <p:sp>
        <p:nvSpPr>
          <p:cNvPr id="16" name="Rectangle 15"/>
          <p:cNvSpPr/>
          <p:nvPr/>
        </p:nvSpPr>
        <p:spPr>
          <a:xfrm>
            <a:off x="274320" y="5120640"/>
            <a:ext cx="1161288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5166360"/>
            <a:ext cx="3657600" cy="274320"/>
          </a:xfrm>
          <a:prstGeom prst="rect">
            <a:avLst/>
          </a:prstGeom>
          <a:noFill/>
        </p:spPr>
        <p:txBody>
          <a:bodyPr wrap="square">
            <a:spAutoFit/>
          </a:bodyPr>
          <a:lstStyle/>
          <a:p>
            <a:pPr algn="l">
              <a:defRPr sz="1500" b="1">
                <a:solidFill>
                  <a:srgbClr val="00528A"/>
                </a:solidFill>
                <a:latin typeface="Calibri"/>
              </a:defRPr>
            </a:pPr>
            <a:r>
              <a:t>Uc Modelin Hemfikir Oldugu Tespitler:</a:t>
            </a:r>
          </a:p>
        </p:txBody>
      </p:sp>
      <p:sp>
        <p:nvSpPr>
          <p:cNvPr id="18" name="TextBox 17"/>
          <p:cNvSpPr txBox="1"/>
          <p:nvPr/>
        </p:nvSpPr>
        <p:spPr>
          <a:xfrm>
            <a:off x="457200" y="5532120"/>
            <a:ext cx="11247120" cy="914400"/>
          </a:xfrm>
          <a:prstGeom prst="rect">
            <a:avLst/>
          </a:prstGeom>
          <a:noFill/>
        </p:spPr>
        <p:txBody>
          <a:bodyPr wrap="square">
            <a:spAutoFit/>
          </a:bodyPr>
          <a:lstStyle/>
          <a:p>
            <a:pPr>
              <a:spcAft>
                <a:spcPts val="600"/>
              </a:spcAft>
              <a:defRPr sz="1300">
                <a:solidFill>
                  <a:srgbClr val="333333"/>
                </a:solidFill>
                <a:latin typeface="Calibri"/>
              </a:defRPr>
            </a:pPr>
            <a:r>
              <a:t>1. Coupling artisi en kritik risk  |  2. v2.16 kirilma noktasi  |  3. LCOM artisi = SRP ihlali</a:t>
            </a:r>
          </a:p>
          <a:p>
            <a:pPr>
              <a:spcAft>
                <a:spcPts val="600"/>
              </a:spcAft>
              <a:defRPr sz="1300">
                <a:solidFill>
                  <a:srgbClr val="333333"/>
                </a:solidFill>
                <a:latin typeface="Calibri"/>
              </a:defRPr>
            </a:pPr>
            <a:r>
              <a:t>4. v2.16'da eklenen siniflar daha basit  |  5. God Class ayristirmasi oncelikli refactoring  |  6. v3.0 stabil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698480" cy="731520"/>
          </a:xfrm>
          <a:prstGeom prst="rect">
            <a:avLst/>
          </a:prstGeom>
          <a:noFill/>
        </p:spPr>
        <p:txBody>
          <a:bodyPr wrap="square">
            <a:spAutoFit/>
          </a:bodyPr>
          <a:lstStyle/>
          <a:p>
            <a:pPr algn="l">
              <a:defRPr sz="3200" b="1">
                <a:solidFill>
                  <a:srgbClr val="FFFFFF"/>
                </a:solidFill>
                <a:latin typeface="Calibri"/>
              </a:defRPr>
            </a:pPr>
            <a:r>
              <a:t>Sonuc ve Degerlendirme</a:t>
            </a:r>
          </a:p>
        </p:txBody>
      </p:sp>
      <p:sp>
        <p:nvSpPr>
          <p:cNvPr id="4" name="Rectangle 3"/>
          <p:cNvSpPr/>
          <p:nvPr/>
        </p:nvSpPr>
        <p:spPr>
          <a:xfrm>
            <a:off x="274320" y="1188720"/>
            <a:ext cx="2194560" cy="274320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280160"/>
            <a:ext cx="2011680" cy="457200"/>
          </a:xfrm>
          <a:prstGeom prst="rect">
            <a:avLst/>
          </a:prstGeom>
          <a:noFill/>
        </p:spPr>
        <p:txBody>
          <a:bodyPr wrap="square">
            <a:spAutoFit/>
          </a:bodyPr>
          <a:lstStyle/>
          <a:p>
            <a:pPr algn="ctr">
              <a:defRPr sz="2800" b="1">
                <a:solidFill>
                  <a:srgbClr val="FFFFFF"/>
                </a:solidFill>
                <a:latin typeface="Calibri"/>
              </a:defRPr>
            </a:pPr>
            <a:r>
              <a:t>1</a:t>
            </a:r>
          </a:p>
        </p:txBody>
      </p:sp>
      <p:sp>
        <p:nvSpPr>
          <p:cNvPr id="6" name="TextBox 5"/>
          <p:cNvSpPr txBox="1"/>
          <p:nvPr/>
        </p:nvSpPr>
        <p:spPr>
          <a:xfrm>
            <a:off x="365760" y="1737360"/>
            <a:ext cx="2011680" cy="731520"/>
          </a:xfrm>
          <a:prstGeom prst="rect">
            <a:avLst/>
          </a:prstGeom>
          <a:noFill/>
        </p:spPr>
        <p:txBody>
          <a:bodyPr wrap="square">
            <a:spAutoFit/>
          </a:bodyPr>
          <a:lstStyle/>
          <a:p>
            <a:pPr algn="ctr">
              <a:defRPr sz="1400" b="1">
                <a:solidFill>
                  <a:srgbClr val="FFFFFF"/>
                </a:solidFill>
                <a:latin typeface="Calibri"/>
              </a:defRPr>
            </a:pPr>
            <a:r>
              <a:t>Yazilim buyumesi kaliteyi etkiler</a:t>
            </a:r>
          </a:p>
        </p:txBody>
      </p:sp>
      <p:sp>
        <p:nvSpPr>
          <p:cNvPr id="7" name="TextBox 6"/>
          <p:cNvSpPr txBox="1"/>
          <p:nvPr/>
        </p:nvSpPr>
        <p:spPr>
          <a:xfrm>
            <a:off x="365760" y="2560320"/>
            <a:ext cx="2011680" cy="1097280"/>
          </a:xfrm>
          <a:prstGeom prst="rect">
            <a:avLst/>
          </a:prstGeom>
          <a:noFill/>
        </p:spPr>
        <p:txBody>
          <a:bodyPr wrap="square">
            <a:spAutoFit/>
          </a:bodyPr>
          <a:lstStyle/>
          <a:p>
            <a:pPr algn="ctr">
              <a:defRPr sz="1100" b="0">
                <a:solidFill>
                  <a:srgbClr val="E0E0E0"/>
                </a:solidFill>
                <a:latin typeface="Calibri"/>
              </a:defRPr>
            </a:pPr>
            <a:r>
              <a:t>288 -&gt; 609 sinif (%111)</a:t>
            </a:r>
            <a:br/>
            <a:r>
              <a:t>Extendibility %26.6 dusus</a:t>
            </a:r>
          </a:p>
        </p:txBody>
      </p:sp>
      <p:sp>
        <p:nvSpPr>
          <p:cNvPr id="8" name="Rectangle 7"/>
          <p:cNvSpPr/>
          <p:nvPr/>
        </p:nvSpPr>
        <p:spPr>
          <a:xfrm>
            <a:off x="2651760" y="1188720"/>
            <a:ext cx="2194560" cy="27432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0" y="1280160"/>
            <a:ext cx="2011680" cy="457200"/>
          </a:xfrm>
          <a:prstGeom prst="rect">
            <a:avLst/>
          </a:prstGeom>
          <a:noFill/>
        </p:spPr>
        <p:txBody>
          <a:bodyPr wrap="square">
            <a:spAutoFit/>
          </a:bodyPr>
          <a:lstStyle/>
          <a:p>
            <a:pPr algn="ctr">
              <a:defRPr sz="2800" b="1">
                <a:solidFill>
                  <a:srgbClr val="FFFFFF"/>
                </a:solidFill>
                <a:latin typeface="Calibri"/>
              </a:defRPr>
            </a:pPr>
            <a:r>
              <a:t>2</a:t>
            </a:r>
          </a:p>
        </p:txBody>
      </p:sp>
      <p:sp>
        <p:nvSpPr>
          <p:cNvPr id="10" name="TextBox 9"/>
          <p:cNvSpPr txBox="1"/>
          <p:nvPr/>
        </p:nvSpPr>
        <p:spPr>
          <a:xfrm>
            <a:off x="2743200" y="1737360"/>
            <a:ext cx="2011680" cy="731520"/>
          </a:xfrm>
          <a:prstGeom prst="rect">
            <a:avLst/>
          </a:prstGeom>
          <a:noFill/>
        </p:spPr>
        <p:txBody>
          <a:bodyPr wrap="square">
            <a:spAutoFit/>
          </a:bodyPr>
          <a:lstStyle/>
          <a:p>
            <a:pPr algn="ctr">
              <a:defRPr sz="1400" b="1">
                <a:solidFill>
                  <a:srgbClr val="FFFFFF"/>
                </a:solidFill>
                <a:latin typeface="Calibri"/>
              </a:defRPr>
            </a:pPr>
            <a:r>
              <a:t>Coupling en kritik sorun</a:t>
            </a:r>
          </a:p>
        </p:txBody>
      </p:sp>
      <p:sp>
        <p:nvSpPr>
          <p:cNvPr id="11" name="TextBox 10"/>
          <p:cNvSpPr txBox="1"/>
          <p:nvPr/>
        </p:nvSpPr>
        <p:spPr>
          <a:xfrm>
            <a:off x="2743200" y="2560320"/>
            <a:ext cx="2011680" cy="1097280"/>
          </a:xfrm>
          <a:prstGeom prst="rect">
            <a:avLst/>
          </a:prstGeom>
          <a:noFill/>
        </p:spPr>
        <p:txBody>
          <a:bodyPr wrap="square">
            <a:spAutoFit/>
          </a:bodyPr>
          <a:lstStyle/>
          <a:p>
            <a:pPr algn="ctr">
              <a:defRPr sz="1100" b="0">
                <a:solidFill>
                  <a:srgbClr val="E0E0E0"/>
                </a:solidFill>
                <a:latin typeface="Calibri"/>
              </a:defRPr>
            </a:pPr>
            <a:r>
              <a:t>CBO: 8.58 -&gt; 10.47 (%22.1)</a:t>
            </a:r>
            <a:br/>
            <a:r>
              <a:t>Max CBO = 217 (God Class)</a:t>
            </a:r>
          </a:p>
        </p:txBody>
      </p:sp>
      <p:sp>
        <p:nvSpPr>
          <p:cNvPr id="12" name="Rectangle 11"/>
          <p:cNvSpPr/>
          <p:nvPr/>
        </p:nvSpPr>
        <p:spPr>
          <a:xfrm>
            <a:off x="5029200" y="1188720"/>
            <a:ext cx="2194560" cy="2743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1280160"/>
            <a:ext cx="2011680" cy="457200"/>
          </a:xfrm>
          <a:prstGeom prst="rect">
            <a:avLst/>
          </a:prstGeom>
          <a:noFill/>
        </p:spPr>
        <p:txBody>
          <a:bodyPr wrap="square">
            <a:spAutoFit/>
          </a:bodyPr>
          <a:lstStyle/>
          <a:p>
            <a:pPr algn="ctr">
              <a:defRPr sz="2800" b="1">
                <a:solidFill>
                  <a:srgbClr val="FFFFFF"/>
                </a:solidFill>
                <a:latin typeface="Calibri"/>
              </a:defRPr>
            </a:pPr>
            <a:r>
              <a:t>3</a:t>
            </a:r>
          </a:p>
        </p:txBody>
      </p:sp>
      <p:sp>
        <p:nvSpPr>
          <p:cNvPr id="14" name="TextBox 13"/>
          <p:cNvSpPr txBox="1"/>
          <p:nvPr/>
        </p:nvSpPr>
        <p:spPr>
          <a:xfrm>
            <a:off x="5120640" y="1737360"/>
            <a:ext cx="2011680" cy="731520"/>
          </a:xfrm>
          <a:prstGeom prst="rect">
            <a:avLst/>
          </a:prstGeom>
          <a:noFill/>
        </p:spPr>
        <p:txBody>
          <a:bodyPr wrap="square">
            <a:spAutoFit/>
          </a:bodyPr>
          <a:lstStyle/>
          <a:p>
            <a:pPr algn="ctr">
              <a:defRPr sz="1400" b="1">
                <a:solidFill>
                  <a:srgbClr val="FFFFFF"/>
                </a:solidFill>
                <a:latin typeface="Calibri"/>
              </a:defRPr>
            </a:pPr>
            <a:r>
              <a:t>v2.16 kirilma noktasi</a:t>
            </a:r>
          </a:p>
        </p:txBody>
      </p:sp>
      <p:sp>
        <p:nvSpPr>
          <p:cNvPr id="15" name="TextBox 14"/>
          <p:cNvSpPr txBox="1"/>
          <p:nvPr/>
        </p:nvSpPr>
        <p:spPr>
          <a:xfrm>
            <a:off x="5120640" y="2560320"/>
            <a:ext cx="2011680" cy="1097280"/>
          </a:xfrm>
          <a:prstGeom prst="rect">
            <a:avLst/>
          </a:prstGeom>
          <a:noFill/>
        </p:spPr>
        <p:txBody>
          <a:bodyPr wrap="square">
            <a:spAutoFit/>
          </a:bodyPr>
          <a:lstStyle/>
          <a:p>
            <a:pPr algn="ctr">
              <a:defRPr sz="1100" b="0">
                <a:solidFill>
                  <a:srgbClr val="E0E0E0"/>
                </a:solidFill>
                <a:latin typeface="Calibri"/>
              </a:defRPr>
            </a:pPr>
            <a:r>
              <a:t>227 yeni sinif, WMC dusus</a:t>
            </a:r>
            <a:br/>
            <a:r>
              <a:t>ama DAM %22 azalma</a:t>
            </a:r>
          </a:p>
        </p:txBody>
      </p:sp>
      <p:sp>
        <p:nvSpPr>
          <p:cNvPr id="16" name="Rectangle 15"/>
          <p:cNvSpPr/>
          <p:nvPr/>
        </p:nvSpPr>
        <p:spPr>
          <a:xfrm>
            <a:off x="7406640" y="1188720"/>
            <a:ext cx="2194560" cy="27432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0" y="1280160"/>
            <a:ext cx="2011680" cy="457200"/>
          </a:xfrm>
          <a:prstGeom prst="rect">
            <a:avLst/>
          </a:prstGeom>
          <a:noFill/>
        </p:spPr>
        <p:txBody>
          <a:bodyPr wrap="square">
            <a:spAutoFit/>
          </a:bodyPr>
          <a:lstStyle/>
          <a:p>
            <a:pPr algn="ctr">
              <a:defRPr sz="2800" b="1">
                <a:solidFill>
                  <a:srgbClr val="FFFFFF"/>
                </a:solidFill>
                <a:latin typeface="Calibri"/>
              </a:defRPr>
            </a:pPr>
            <a:r>
              <a:t>4</a:t>
            </a:r>
          </a:p>
        </p:txBody>
      </p:sp>
      <p:sp>
        <p:nvSpPr>
          <p:cNvPr id="18" name="TextBox 17"/>
          <p:cNvSpPr txBox="1"/>
          <p:nvPr/>
        </p:nvSpPr>
        <p:spPr>
          <a:xfrm>
            <a:off x="7498080" y="1737360"/>
            <a:ext cx="2011680" cy="731520"/>
          </a:xfrm>
          <a:prstGeom prst="rect">
            <a:avLst/>
          </a:prstGeom>
          <a:noFill/>
        </p:spPr>
        <p:txBody>
          <a:bodyPr wrap="square">
            <a:spAutoFit/>
          </a:bodyPr>
          <a:lstStyle/>
          <a:p>
            <a:pPr algn="ctr">
              <a:defRPr sz="1400" b="1">
                <a:solidFill>
                  <a:srgbClr val="FFFFFF"/>
                </a:solidFill>
                <a:latin typeface="Calibri"/>
              </a:defRPr>
            </a:pPr>
            <a:r>
              <a:t>LLM'ler metrik analizinde kullanisli</a:t>
            </a:r>
          </a:p>
        </p:txBody>
      </p:sp>
      <p:sp>
        <p:nvSpPr>
          <p:cNvPr id="19" name="TextBox 18"/>
          <p:cNvSpPr txBox="1"/>
          <p:nvPr/>
        </p:nvSpPr>
        <p:spPr>
          <a:xfrm>
            <a:off x="7498080" y="2560320"/>
            <a:ext cx="2011680" cy="1097280"/>
          </a:xfrm>
          <a:prstGeom prst="rect">
            <a:avLst/>
          </a:prstGeom>
          <a:noFill/>
        </p:spPr>
        <p:txBody>
          <a:bodyPr wrap="square">
            <a:spAutoFit/>
          </a:bodyPr>
          <a:lstStyle/>
          <a:p>
            <a:pPr algn="ctr">
              <a:defRPr sz="1100" b="0">
                <a:solidFill>
                  <a:srgbClr val="E0E0E0"/>
                </a:solidFill>
                <a:latin typeface="Calibri"/>
              </a:defRPr>
            </a:pPr>
            <a:r>
              <a:t>3 model trendleri dogru yorumladi</a:t>
            </a:r>
            <a:br/>
            <a:r>
              <a:t>Ancak baglam eksikligi sinirli</a:t>
            </a:r>
          </a:p>
        </p:txBody>
      </p:sp>
      <p:sp>
        <p:nvSpPr>
          <p:cNvPr id="20" name="Rectangle 19"/>
          <p:cNvSpPr/>
          <p:nvPr/>
        </p:nvSpPr>
        <p:spPr>
          <a:xfrm>
            <a:off x="9784080" y="1188720"/>
            <a:ext cx="2194560" cy="27432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0" y="1280160"/>
            <a:ext cx="2011680" cy="457200"/>
          </a:xfrm>
          <a:prstGeom prst="rect">
            <a:avLst/>
          </a:prstGeom>
          <a:noFill/>
        </p:spPr>
        <p:txBody>
          <a:bodyPr wrap="square">
            <a:spAutoFit/>
          </a:bodyPr>
          <a:lstStyle/>
          <a:p>
            <a:pPr algn="ctr">
              <a:defRPr sz="2800" b="1">
                <a:solidFill>
                  <a:srgbClr val="FFFFFF"/>
                </a:solidFill>
                <a:latin typeface="Calibri"/>
              </a:defRPr>
            </a:pPr>
            <a:r>
              <a:t>5</a:t>
            </a:r>
          </a:p>
        </p:txBody>
      </p:sp>
      <p:sp>
        <p:nvSpPr>
          <p:cNvPr id="22" name="TextBox 21"/>
          <p:cNvSpPr txBox="1"/>
          <p:nvPr/>
        </p:nvSpPr>
        <p:spPr>
          <a:xfrm>
            <a:off x="9875520" y="1737360"/>
            <a:ext cx="2011680" cy="731520"/>
          </a:xfrm>
          <a:prstGeom prst="rect">
            <a:avLst/>
          </a:prstGeom>
          <a:noFill/>
        </p:spPr>
        <p:txBody>
          <a:bodyPr wrap="square">
            <a:spAutoFit/>
          </a:bodyPr>
          <a:lstStyle/>
          <a:p>
            <a:pPr algn="ctr">
              <a:defRPr sz="1400" b="1">
                <a:solidFill>
                  <a:srgbClr val="FFFFFF"/>
                </a:solidFill>
                <a:latin typeface="Calibri"/>
              </a:defRPr>
            </a:pPr>
            <a:r>
              <a:t>Prompt muhendisligi kritik</a:t>
            </a:r>
          </a:p>
        </p:txBody>
      </p:sp>
      <p:sp>
        <p:nvSpPr>
          <p:cNvPr id="23" name="TextBox 22"/>
          <p:cNvSpPr txBox="1"/>
          <p:nvPr/>
        </p:nvSpPr>
        <p:spPr>
          <a:xfrm>
            <a:off x="9875520" y="2560320"/>
            <a:ext cx="2011680" cy="1097280"/>
          </a:xfrm>
          <a:prstGeom prst="rect">
            <a:avLst/>
          </a:prstGeom>
          <a:noFill/>
        </p:spPr>
        <p:txBody>
          <a:bodyPr wrap="square">
            <a:spAutoFit/>
          </a:bodyPr>
          <a:lstStyle/>
          <a:p>
            <a:pPr algn="ctr">
              <a:defRPr sz="1100" b="0">
                <a:solidFill>
                  <a:srgbClr val="E0E0E0"/>
                </a:solidFill>
                <a:latin typeface="Calibri"/>
              </a:defRPr>
            </a:pPr>
            <a:r>
              <a:t>Ham metrik + delta + spesifik soru</a:t>
            </a:r>
            <a:br/>
            <a:r>
              <a:t>= cikti derinligi artiyor</a:t>
            </a:r>
          </a:p>
        </p:txBody>
      </p:sp>
      <p:sp>
        <p:nvSpPr>
          <p:cNvPr id="24" name="Rectangle 23"/>
          <p:cNvSpPr/>
          <p:nvPr/>
        </p:nvSpPr>
        <p:spPr>
          <a:xfrm>
            <a:off x="274320" y="4206240"/>
            <a:ext cx="11612880" cy="228600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297680"/>
            <a:ext cx="11247120" cy="365760"/>
          </a:xfrm>
          <a:prstGeom prst="rect">
            <a:avLst/>
          </a:prstGeom>
          <a:noFill/>
        </p:spPr>
        <p:txBody>
          <a:bodyPr wrap="square">
            <a:spAutoFit/>
          </a:bodyPr>
          <a:lstStyle/>
          <a:p>
            <a:pPr algn="l">
              <a:defRPr sz="1800" b="1">
                <a:solidFill>
                  <a:srgbClr val="0096D6"/>
                </a:solidFill>
                <a:latin typeface="Calibri"/>
              </a:defRPr>
            </a:pPr>
            <a:r>
              <a:t>Gelecek Calismalar</a:t>
            </a:r>
          </a:p>
        </p:txBody>
      </p:sp>
      <p:sp>
        <p:nvSpPr>
          <p:cNvPr id="26" name="TextBox 25"/>
          <p:cNvSpPr txBox="1"/>
          <p:nvPr/>
        </p:nvSpPr>
        <p:spPr>
          <a:xfrm>
            <a:off x="457200" y="4754880"/>
            <a:ext cx="11247120" cy="1371600"/>
          </a:xfrm>
          <a:prstGeom prst="rect">
            <a:avLst/>
          </a:prstGeom>
          <a:noFill/>
        </p:spPr>
        <p:txBody>
          <a:bodyPr wrap="square">
            <a:spAutoFit/>
          </a:bodyPr>
          <a:lstStyle/>
          <a:p>
            <a:pPr>
              <a:spcAft>
                <a:spcPts val="800"/>
              </a:spcAft>
              <a:defRPr sz="1400">
                <a:solidFill>
                  <a:srgbClr val="CCCCCC"/>
                </a:solidFill>
                <a:latin typeface="Calibri"/>
              </a:defRPr>
            </a:pPr>
            <a:r>
              <a:t>-&gt; v3.1-v3.7 surumlerinin dahil edilmesi  |  En yuksek CBO/LCOM siniflarinin tekil analizi</a:t>
            </a:r>
          </a:p>
          <a:p>
            <a:pPr>
              <a:spcAft>
                <a:spcPts val="800"/>
              </a:spcAft>
              <a:defRPr sz="1400">
                <a:solidFill>
                  <a:srgbClr val="CCCCCC"/>
                </a:solidFill>
                <a:latin typeface="Calibri"/>
              </a:defRPr>
            </a:pPr>
            <a:r>
              <a:t>-&gt; Designite veya SonarQube ile capraz dogrulama  |  LLM'lere kaynak kod verilerek spesifik refactoring</a:t>
            </a:r>
          </a:p>
          <a:p>
            <a:pPr>
              <a:spcAft>
                <a:spcPts val="800"/>
              </a:spcAft>
              <a:defRPr sz="1400">
                <a:solidFill>
                  <a:srgbClr val="CCCCCC"/>
                </a:solidFill>
                <a:latin typeface="Calibri"/>
              </a:defRPr>
            </a:pPr>
            <a:r>
              <a:t>-&gt; Baska bir acik kaynak proje ile karsilastirma  |  SQALE modeli ile teknik borc maliyet tahmini</a:t>
            </a:r>
          </a:p>
        </p:txBody>
      </p:sp>
      <p:sp>
        <p:nvSpPr>
          <p:cNvPr id="27" name="TextBox 26"/>
          <p:cNvSpPr txBox="1"/>
          <p:nvPr/>
        </p:nvSpPr>
        <p:spPr>
          <a:xfrm>
            <a:off x="731520" y="6217920"/>
            <a:ext cx="10698480" cy="457200"/>
          </a:xfrm>
          <a:prstGeom prst="rect">
            <a:avLst/>
          </a:prstGeom>
          <a:noFill/>
        </p:spPr>
        <p:txBody>
          <a:bodyPr wrap="square">
            <a:spAutoFit/>
          </a:bodyPr>
          <a:lstStyle/>
          <a:p>
            <a:pPr algn="ctr">
              <a:defRPr sz="2200" b="1">
                <a:solidFill>
                  <a:srgbClr val="FFFFFF"/>
                </a:solidFill>
                <a:latin typeface="Calibri"/>
              </a:defRPr>
            </a:pPr>
            <a:r>
              <a:t>Tesekkurler  —  Sorularinizi bekliyorum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